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40080"/>
            <a:ext cx="109728" cy="5349240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" y="768096"/>
            <a:ext cx="2057400" cy="310896"/>
          </a:xfrm>
          <a:prstGeom prst="roundRect">
            <a:avLst/>
          </a:prstGeom>
          <a:solidFill>
            <a:srgbClr val="163758"/>
          </a:solidFill>
          <a:ln w="12700">
            <a:solidFill>
              <a:srgbClr val="1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818388"/>
            <a:ext cx="19476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8BC9FF"/>
                </a:solidFill>
                <a:latin typeface="Noto Sans CJK KR"/>
              </a:rPr>
              <a:t>CODYSSEY · AI/SW 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481328"/>
            <a:ext cx="987552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FFFFF"/>
                </a:solidFill>
                <a:latin typeface="Noto Sans CJK KR"/>
              </a:rPr>
              <a:t>[B?-?] 미션 평가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87752"/>
            <a:ext cx="896112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7D6E6"/>
                </a:solidFill>
                <a:latin typeface="Noto Sans CJK KR"/>
              </a:rPr>
              <a:t>평가자가 짧은 시간 안에 요구사항 충족과 실제 검증 근거를 판단할 수 있는 발표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8046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9A89D"/>
                </a:solidFill>
                <a:latin typeface="Noto Sans CJK KR"/>
              </a:rPr>
              <a:t>Requirement → Design → Verification →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92040"/>
            <a:ext cx="94183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DB2C8"/>
                </a:solidFill>
                <a:latin typeface="Noto Sans CJK KR"/>
              </a:rPr>
              <a:t>발표자  [이름]   ·   Repository  [URL]   ·   Date  [YYYY-MM-DD]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236208"/>
            <a:ext cx="640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7894AE"/>
                </a:solidFill>
                <a:latin typeface="Noto Sans CJK KR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핵심 결론을 먼저 제시한다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61872"/>
            <a:ext cx="106070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57281"/>
                </a:solidFill>
                <a:latin typeface="Noto Sans CJK KR"/>
              </a:rPr>
              <a:t>평가자는 첫 60초 안에 ‘무엇을 만들었고, 어떻게 검증했는가’를 이해할 수 있어야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26334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011680"/>
            <a:ext cx="82296" cy="221284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7627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157984"/>
            <a:ext cx="179222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33472"/>
            <a:ext cx="2176272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[공식 요구 핵심 1문장]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2011680"/>
            <a:ext cx="26334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93008" y="2011680"/>
            <a:ext cx="82296" cy="221284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4" y="217627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2157984"/>
            <a:ext cx="179222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633472"/>
            <a:ext cx="2176272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[내 구현의 핵심 접근 1문장]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2011680"/>
            <a:ext cx="26334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2011680"/>
            <a:ext cx="82296" cy="221284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17627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157984"/>
            <a:ext cx="179222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33472"/>
            <a:ext cx="2176272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[자동/실환경 검증 결과 요약]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2011680"/>
            <a:ext cx="26334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62288" y="2011680"/>
            <a:ext cx="82296" cy="221284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217627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2157984"/>
            <a:ext cx="179222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633472"/>
            <a:ext cx="2176272" cy="1444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[내가 설명할 수 있게 된 핵심 개념]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645152"/>
            <a:ext cx="10881360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84632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9A89D"/>
                </a:solidFill>
                <a:latin typeface="Noto Sans CJK KR"/>
              </a:rPr>
              <a:t>한 문장 핵심 주장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7712" y="4782312"/>
            <a:ext cx="882396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222D"/>
                </a:solidFill>
                <a:latin typeface="Noto Sans CJK KR"/>
              </a:rPr>
              <a:t>“[미션의 핵심 요구를 실제 실행과 추적 가능한 증빙으로 충족했다.]”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80ED"/>
                </a:solidFill>
                <a:latin typeface="Noto Sans CJK KR"/>
              </a:rPr>
              <a:t>MISSION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공식 미션을 ‘평가 가능한 요구사항’으로 다시 정리한다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61872"/>
            <a:ext cx="106070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57281"/>
                </a:solidFill>
                <a:latin typeface="Noto Sans CJK KR"/>
              </a:rPr>
              <a:t>Source of Truth: Mission PDF → Evaluation → 실제 Repository /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33375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82296" cy="14813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2898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MISSION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88036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[학습자가 최종적으로 할 수 있어야 하는 것]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8808" y="1847088"/>
            <a:ext cx="33375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8808" y="1847088"/>
            <a:ext cx="82296" cy="14813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993392"/>
            <a:ext cx="2898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FINAL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68880"/>
            <a:ext cx="288036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[필수 결과물과 제출물]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1847088"/>
            <a:ext cx="33375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9248" y="1847088"/>
            <a:ext cx="82296" cy="148132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993392"/>
            <a:ext cx="2898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468880"/>
            <a:ext cx="288036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[제약조건·금지사항·환경 조건]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94176"/>
            <a:ext cx="10378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931920"/>
            <a:ext cx="1920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22D"/>
                </a:solidFill>
                <a:latin typeface="Noto Sans CJK KR"/>
              </a:rPr>
              <a:t>발표에서 반드시 답할 3가지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3877056"/>
            <a:ext cx="7726679" cy="11430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무엇을 구현해야 했는가?</a:t>
            </a:r>
          </a:p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내 구현은 어디에서 그 요구를 충족하는가?</a:t>
            </a:r>
          </a:p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실제로 동작했다는 근거는 무엇인가?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A66A"/>
                </a:solidFill>
                <a:latin typeface="Noto Sans CJK KR"/>
              </a:rPr>
              <a:t>REQUIREMENT → EVIDENCE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요구사항마다 구현·검증·증빙을 1:1로 연결한다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960120" cy="530352"/>
          </a:xfrm>
          <a:prstGeom prst="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56816"/>
            <a:ext cx="8321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</a:rPr>
              <a:t>ID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8488" y="1828800"/>
            <a:ext cx="2743200" cy="530352"/>
          </a:xfrm>
          <a:prstGeom prst="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82496" y="1956816"/>
            <a:ext cx="261518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</a:rPr>
              <a:t>Requirement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828800"/>
            <a:ext cx="2377440" cy="530352"/>
          </a:xfrm>
          <a:prstGeom prst="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956816"/>
            <a:ext cx="224942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</a:rPr>
              <a:t>Implementation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9128" y="1828800"/>
            <a:ext cx="2194560" cy="530352"/>
          </a:xfrm>
          <a:prstGeom prst="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03136" y="1956816"/>
            <a:ext cx="2066543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</a:rPr>
              <a:t>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33688" y="1828800"/>
            <a:ext cx="2103120" cy="530352"/>
          </a:xfrm>
          <a:prstGeom prst="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1956816"/>
            <a:ext cx="1975103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CJK KR"/>
              </a:rPr>
              <a:t>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359152"/>
            <a:ext cx="960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2505456"/>
            <a:ext cx="83210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R-01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8488" y="2359152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82496" y="2505456"/>
            <a:ext cx="26151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[필수 기능]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1688" y="2359152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2505456"/>
            <a:ext cx="224942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[파일/함수]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9128" y="2359152"/>
            <a:ext cx="2194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03136" y="2505456"/>
            <a:ext cx="20665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[테스트 명령]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33688" y="2359152"/>
            <a:ext cx="2103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2505456"/>
            <a:ext cx="197510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[로그/캡처]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962656"/>
            <a:ext cx="960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3108960"/>
            <a:ext cx="83210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R-02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18488" y="2962656"/>
            <a:ext cx="274320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82496" y="3108960"/>
            <a:ext cx="26151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[제약 조건]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61688" y="2962656"/>
            <a:ext cx="237744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3108960"/>
            <a:ext cx="224942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[설정/정책]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39128" y="2962656"/>
            <a:ext cx="219456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03136" y="3108960"/>
            <a:ext cx="20665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[정적/실행 검증]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33688" y="2962656"/>
            <a:ext cx="2103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97696" y="3108960"/>
            <a:ext cx="197510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[설정 증빙]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3566160"/>
            <a:ext cx="960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" y="3712464"/>
            <a:ext cx="83210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R-03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18488" y="3566160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82496" y="3712464"/>
            <a:ext cx="26151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[오류 처리]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61688" y="3566160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25696" y="3712464"/>
            <a:ext cx="224942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[예외/복구]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39128" y="3566160"/>
            <a:ext cx="2194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03136" y="3712464"/>
            <a:ext cx="20665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[실패 시나리오]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33688" y="3566160"/>
            <a:ext cx="2103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97696" y="3712464"/>
            <a:ext cx="197510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[Before/After]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169664"/>
            <a:ext cx="960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" y="4315968"/>
            <a:ext cx="83210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R-04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18488" y="4169664"/>
            <a:ext cx="274320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82496" y="4315968"/>
            <a:ext cx="26151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[문서/설명]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61688" y="4169664"/>
            <a:ext cx="237744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25696" y="4315968"/>
            <a:ext cx="224942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[README/Guide]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39128" y="4169664"/>
            <a:ext cx="219456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03136" y="4315968"/>
            <a:ext cx="20665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[링크 점검]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33688" y="4169664"/>
            <a:ext cx="2103120" cy="603504"/>
          </a:xfrm>
          <a:prstGeom prst="rect">
            <a:avLst/>
          </a:prstGeom>
          <a:solidFill>
            <a:srgbClr val="F2F5F8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97696" y="4315968"/>
            <a:ext cx="197510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[문서 위치]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773168"/>
            <a:ext cx="960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2376" y="4919472"/>
            <a:ext cx="83210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R-05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18488" y="4773168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82496" y="4919472"/>
            <a:ext cx="261518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[배포/협업]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61688" y="4773168"/>
            <a:ext cx="23774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25696" y="4919472"/>
            <a:ext cx="224942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[URL/PR]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39128" y="4773168"/>
            <a:ext cx="21945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03136" y="4919472"/>
            <a:ext cx="206654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[외부 접속/리뷰]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33688" y="4773168"/>
            <a:ext cx="2103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97696" y="4919472"/>
            <a:ext cx="1975103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>
                <a:solidFill>
                  <a:srgbClr val="16222D"/>
                </a:solidFill>
                <a:latin typeface="Noto Sans CJK KR"/>
              </a:rPr>
              <a:t>[URL/PR 링크]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8" y="5596128"/>
            <a:ext cx="6583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A66A"/>
                </a:solidFill>
                <a:latin typeface="Noto Sans CJK KR"/>
              </a:rPr>
              <a:t>TIP · PASS를 먼저 쓰지 말고 Evidence가 존재하는지부터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3A61D"/>
                </a:solidFill>
                <a:latin typeface="Noto Sans CJK KR"/>
              </a:rPr>
              <a:t>PROBLEM →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문제 → 원인 → 목표를 한 장에서 연결한다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154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82296" cy="2057400"/>
          </a:xfrm>
          <a:prstGeom prst="rect">
            <a:avLst/>
          </a:prstGeom>
          <a:solidFill>
            <a:srgbClr val="D95D58"/>
          </a:solidFill>
          <a:ln w="12700">
            <a:solidFill>
              <a:srgbClr val="D9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12264"/>
            <a:ext cx="27157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87752"/>
            <a:ext cx="269748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[관찰한 문제 / 공식 미션의 문제 상황]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2999232"/>
            <a:ext cx="548640" cy="0"/>
          </a:xfrm>
          <a:prstGeom prst="line">
            <a:avLst/>
          </a:prstGeom>
          <a:ln w="27940">
            <a:solidFill>
              <a:srgbClr val="F3A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98848" y="1965960"/>
            <a:ext cx="3154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1965960"/>
            <a:ext cx="82296" cy="2057400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112264"/>
            <a:ext cx="27157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ROOT CAUSE /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587752"/>
            <a:ext cx="269748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[왜 문제가 발생하는가 / 무엇이 부족한가]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99248" y="2999232"/>
            <a:ext cx="548640" cy="0"/>
          </a:xfrm>
          <a:prstGeom prst="line">
            <a:avLst/>
          </a:prstGeom>
          <a:ln w="2794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02752" y="1965960"/>
            <a:ext cx="3154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1965960"/>
            <a:ext cx="82296" cy="2057400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8784" y="2112264"/>
            <a:ext cx="27157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2587752"/>
            <a:ext cx="269748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[이번 구현에서 달성할 검증 가능한 목표]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645152"/>
            <a:ext cx="88696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22D"/>
                </a:solidFill>
                <a:latin typeface="Noto Sans CJK KR"/>
              </a:rPr>
              <a:t>목표는 ‘좋아 보이는 기능’이 아니라 평가 가능한 상태로 작성한다.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074920"/>
            <a:ext cx="9692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예: ‘안정성을 높인다’ → ‘실패 입력에서 비정상 종료 없이 명시적 오류를 반환한다’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해결책은 기능 목록이 아니라 전체 사용자·시스템 흐름으로 보여준다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395728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578608"/>
            <a:ext cx="822960" cy="310896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ED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628900"/>
            <a:ext cx="713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108960"/>
            <a:ext cx="150875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22D"/>
                </a:solidFill>
                <a:latin typeface="Noto Sans CJK KR"/>
              </a:rPr>
              <a:t>사용자/이벤트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9191" y="3090672"/>
            <a:ext cx="292608" cy="0"/>
          </a:xfrm>
          <a:prstGeom prst="line">
            <a:avLst/>
          </a:prstGeom>
          <a:ln w="2286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08375" y="2395728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91255" y="2578608"/>
            <a:ext cx="822960" cy="310896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ED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19" y="2628900"/>
            <a:ext cx="713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5" y="3108960"/>
            <a:ext cx="150875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22D"/>
                </a:solidFill>
                <a:latin typeface="Noto Sans CJK KR"/>
              </a:rPr>
              <a:t>핵심 로직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82894" y="3090672"/>
            <a:ext cx="292608" cy="0"/>
          </a:xfrm>
          <a:prstGeom prst="line">
            <a:avLst/>
          </a:prstGeom>
          <a:ln w="2286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78" y="2395728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58" y="2578608"/>
            <a:ext cx="822960" cy="310896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ED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9822" y="2628900"/>
            <a:ext cx="713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8" y="3108960"/>
            <a:ext cx="150875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22D"/>
                </a:solidFill>
                <a:latin typeface="Noto Sans CJK KR"/>
              </a:rPr>
              <a:t>저장/상태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86597" y="3090672"/>
            <a:ext cx="292608" cy="0"/>
          </a:xfrm>
          <a:prstGeom prst="line">
            <a:avLst/>
          </a:prstGeom>
          <a:ln w="2286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15781" y="2395728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98661" y="2578608"/>
            <a:ext cx="822960" cy="310896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ED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5" y="2628900"/>
            <a:ext cx="713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8661" y="3108960"/>
            <a:ext cx="150875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22D"/>
                </a:solidFill>
                <a:latin typeface="Noto Sans CJK KR"/>
              </a:rPr>
              <a:t>검증/로그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90300" y="3090672"/>
            <a:ext cx="292608" cy="0"/>
          </a:xfrm>
          <a:prstGeom prst="line">
            <a:avLst/>
          </a:prstGeom>
          <a:ln w="2286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19484" y="2395728"/>
            <a:ext cx="1874519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02364" y="2578608"/>
            <a:ext cx="822960" cy="310896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ED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57228" y="2628900"/>
            <a:ext cx="7132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12B47"/>
                </a:solidFill>
                <a:latin typeface="Noto Sans CJK KR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4" y="3108960"/>
            <a:ext cx="150875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22D"/>
                </a:solidFill>
                <a:latin typeface="Noto Sans CJK KR"/>
              </a:rPr>
              <a:t>결과/화면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" y="4315968"/>
            <a:ext cx="10424160" cy="1170432"/>
          </a:xfrm>
          <a:prstGeom prst="roundRect">
            <a:avLst/>
          </a:prstGeom>
          <a:solidFill>
            <a:srgbClr val="E9F8F6"/>
          </a:solidFill>
          <a:ln w="12700">
            <a:solidFill>
              <a:srgbClr val="E9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553712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핵심 설계 선택(Why)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489704"/>
            <a:ext cx="779068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222D"/>
                </a:solidFill>
                <a:latin typeface="Noto Sans CJK KR"/>
              </a:rPr>
              <a:t>[선택한 구조]를 사용한 이유는 [평가 요구 / 유지보수 / 검증 가능성] 때문이다.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80ED"/>
                </a:solidFill>
                <a:latin typeface="Noto Sans CJK KR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컴포넌트의 책임과 데이터 흐름을 동시에 보여준다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48840"/>
            <a:ext cx="1956816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50008"/>
            <a:ext cx="16276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12B47"/>
                </a:solidFill>
                <a:latin typeface="Noto Sans CJK KR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816352"/>
            <a:ext cx="162763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222D"/>
                </a:solidFill>
                <a:latin typeface="Noto Sans CJK KR"/>
              </a:rPr>
              <a:t>UI / CLI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0048" y="2926080"/>
            <a:ext cx="219456" cy="0"/>
          </a:xfrm>
          <a:prstGeom prst="line">
            <a:avLst/>
          </a:prstGeom>
          <a:ln w="2159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2148840"/>
            <a:ext cx="1956816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350008"/>
            <a:ext cx="16276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F80ED"/>
                </a:solidFill>
                <a:latin typeface="Noto Sans CJK KR"/>
              </a:rPr>
              <a:t>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816352"/>
            <a:ext cx="162763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222D"/>
                </a:solidFill>
                <a:latin typeface="Noto Sans CJK KR"/>
              </a:rPr>
              <a:t>Router / Command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82896" y="2926080"/>
            <a:ext cx="219456" cy="0"/>
          </a:xfrm>
          <a:prstGeom prst="line">
            <a:avLst/>
          </a:prstGeom>
          <a:ln w="2159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38928" y="2148840"/>
            <a:ext cx="1956816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350008"/>
            <a:ext cx="16276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9A89D"/>
                </a:solidFill>
                <a:latin typeface="Noto Sans CJK KR"/>
              </a:rPr>
              <a:t>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816352"/>
            <a:ext cx="162763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222D"/>
                </a:solidFill>
                <a:latin typeface="Noto Sans CJK KR"/>
              </a:rPr>
              <a:t>Service / Core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95744" y="2926080"/>
            <a:ext cx="219456" cy="0"/>
          </a:xfrm>
          <a:prstGeom prst="line">
            <a:avLst/>
          </a:prstGeom>
          <a:ln w="2159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51776" y="2148840"/>
            <a:ext cx="1956816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2350008"/>
            <a:ext cx="16276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3A61D"/>
                </a:solidFill>
                <a:latin typeface="Noto Sans CJK KR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8" y="2816352"/>
            <a:ext cx="162763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222D"/>
                </a:solidFill>
                <a:latin typeface="Noto Sans CJK KR"/>
              </a:rPr>
              <a:t>Repository / DB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08592" y="2926080"/>
            <a:ext cx="219456" cy="0"/>
          </a:xfrm>
          <a:prstGeom prst="line">
            <a:avLst/>
          </a:prstGeom>
          <a:ln w="2159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64624" y="2148840"/>
            <a:ext cx="1956816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9216" y="2350008"/>
            <a:ext cx="162763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FA66A"/>
                </a:solidFill>
                <a:latin typeface="Noto Sans CJK KR"/>
              </a:rPr>
              <a:t>EXTERNAL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6" y="2816352"/>
            <a:ext cx="162763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6222D"/>
                </a:solidFill>
                <a:latin typeface="Noto Sans CJK KR"/>
              </a:rPr>
              <a:t>API / OS /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206240"/>
            <a:ext cx="10149840" cy="12344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각 박스에는 ‘무엇을 하는가’보다 ‘어떤 책임을 갖는가’를 작성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화살표에는 Request / Response / Event / Data 등 흐름의 의미를 표기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평가 질문: ‘왜 이렇게 분리했나요?’에 바로 답할 수 있도록 구성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핵심 코드 10~18줄만 보여주고 설계 의도를 설명한다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47088"/>
            <a:ext cx="6766560" cy="3931920"/>
          </a:xfrm>
          <a:prstGeom prst="round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76272"/>
            <a:ext cx="6172200" cy="3063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D9E7F5"/>
                </a:solidFill>
                <a:latin typeface="Aptos Mono"/>
              </a:rPr>
              <a:t>01  def [core_function](input):
02      # 핵심 전제 / invariant
03      validated = validate(input)
04      result = service.execute(validated)
05      evidence.log(result)
06      return result
# [실제 코드 10~18줄 삽입]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62672" y="1847088"/>
            <a:ext cx="358444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62672" y="1847088"/>
            <a:ext cx="82296" cy="11155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18704" y="1993392"/>
            <a:ext cx="31455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8704" y="2468880"/>
            <a:ext cx="31272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[이 로직이 필요한 이유]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2" y="3145536"/>
            <a:ext cx="358444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62672" y="3145536"/>
            <a:ext cx="82296" cy="111556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4" y="3291840"/>
            <a:ext cx="31455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3767328"/>
            <a:ext cx="31272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[입력·출력·예외 계약]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62672" y="4443984"/>
            <a:ext cx="3584448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62672" y="4443984"/>
            <a:ext cx="82296" cy="1335024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4590288"/>
            <a:ext cx="31455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5065776"/>
            <a:ext cx="3127248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[어떤 테스트로 검증했는가]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CORE LOGIC /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하나의 핵심 기능을 입력부터 결과까지 추적한다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11680"/>
            <a:ext cx="8366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011680"/>
            <a:ext cx="658368" cy="69494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2194560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167128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67128"/>
            <a:ext cx="5669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7281"/>
                </a:solidFill>
                <a:latin typeface="Noto Sans CJK KR"/>
              </a:rPr>
              <a:t>[사용자 입력 / 요청]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2706624"/>
            <a:ext cx="0" cy="182880"/>
          </a:xfrm>
          <a:prstGeom prst="line">
            <a:avLst/>
          </a:prstGeom>
          <a:ln w="2032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2926080"/>
            <a:ext cx="8366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2926080"/>
            <a:ext cx="658368" cy="694944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2" y="3108960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081528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081528"/>
            <a:ext cx="5669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7281"/>
                </a:solidFill>
                <a:latin typeface="Noto Sans CJK KR"/>
              </a:rPr>
              <a:t>[검증·파싱·상태 변경]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" y="3621024"/>
            <a:ext cx="0" cy="182880"/>
          </a:xfrm>
          <a:prstGeom prst="line">
            <a:avLst/>
          </a:prstGeom>
          <a:ln w="2032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828800" y="3840480"/>
            <a:ext cx="8366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3840480"/>
            <a:ext cx="658368" cy="694944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2" y="4023360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995928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995928"/>
            <a:ext cx="5669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7281"/>
                </a:solidFill>
                <a:latin typeface="Noto Sans CJK KR"/>
              </a:rPr>
              <a:t>[핵심 알고리즘 / 비즈니스 로직]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9320" y="4535424"/>
            <a:ext cx="0" cy="182880"/>
          </a:xfrm>
          <a:prstGeom prst="line">
            <a:avLst/>
          </a:prstGeom>
          <a:ln w="2032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28800" y="4754880"/>
            <a:ext cx="83667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0" y="4754880"/>
            <a:ext cx="658368" cy="694944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93392" y="4937760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910328"/>
            <a:ext cx="12344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910328"/>
            <a:ext cx="5669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7281"/>
                </a:solidFill>
                <a:latin typeface="Noto Sans CJK KR"/>
              </a:rPr>
              <a:t>[저장·응답·로그]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80ED"/>
                </a:solidFill>
                <a:latin typeface="Noto Sans CJK KR"/>
              </a:rPr>
              <a:t>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데모는 ‘성공 장면’이 아니라 평가 시나리오 순서로 설계한다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12848"/>
            <a:ext cx="16276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2296" cy="19659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377440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359152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170432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실행/접속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3172968"/>
            <a:ext cx="182880" cy="0"/>
          </a:xfrm>
          <a:prstGeom prst="line">
            <a:avLst/>
          </a:prstGeom>
          <a:ln w="15240">
            <a:solidFill>
              <a:srgbClr val="6572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14600" y="2212848"/>
            <a:ext cx="16276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4600" y="2212848"/>
            <a:ext cx="82296" cy="19659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4056" y="2377440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2359152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834640"/>
            <a:ext cx="1170432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핵심 입력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42232" y="3172968"/>
            <a:ext cx="182880" cy="0"/>
          </a:xfrm>
          <a:prstGeom prst="line">
            <a:avLst/>
          </a:prstGeom>
          <a:ln w="15240">
            <a:solidFill>
              <a:srgbClr val="6572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70832" y="2212848"/>
            <a:ext cx="16276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212848"/>
            <a:ext cx="82296" cy="19659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2377440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359152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2834640"/>
            <a:ext cx="1170432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핵심 기능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98464" y="3172968"/>
            <a:ext cx="182880" cy="0"/>
          </a:xfrm>
          <a:prstGeom prst="line">
            <a:avLst/>
          </a:prstGeom>
          <a:ln w="15240">
            <a:solidFill>
              <a:srgbClr val="6572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27064" y="2212848"/>
            <a:ext cx="16276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7064" y="2212848"/>
            <a:ext cx="82296" cy="1965960"/>
          </a:xfrm>
          <a:prstGeom prst="rect">
            <a:avLst/>
          </a:prstGeom>
          <a:solidFill>
            <a:srgbClr val="D95D58"/>
          </a:solidFill>
          <a:ln w="12700">
            <a:solidFill>
              <a:srgbClr val="D9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377440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95D58"/>
                </a:solidFill>
                <a:latin typeface="Noto Sans CJK KR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2359152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2834640"/>
            <a:ext cx="1170432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예외 1개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54696" y="3172968"/>
            <a:ext cx="182880" cy="0"/>
          </a:xfrm>
          <a:prstGeom prst="line">
            <a:avLst/>
          </a:prstGeom>
          <a:ln w="15240">
            <a:solidFill>
              <a:srgbClr val="6572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83296" y="2212848"/>
            <a:ext cx="16276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83296" y="2212848"/>
            <a:ext cx="82296" cy="1965960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2377440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2359152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2834640"/>
            <a:ext cx="1170432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정상 결과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710928" y="3172968"/>
            <a:ext cx="182880" cy="0"/>
          </a:xfrm>
          <a:prstGeom prst="line">
            <a:avLst/>
          </a:prstGeom>
          <a:ln w="15240">
            <a:solidFill>
              <a:srgbClr val="6572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939528" y="2212848"/>
            <a:ext cx="16276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39528" y="2212848"/>
            <a:ext cx="82296" cy="1965960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58984" y="2377440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97896" y="2359152"/>
            <a:ext cx="7863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2834640"/>
            <a:ext cx="1170432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로그/DB/PR 확인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4892040"/>
            <a:ext cx="94183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데모 실패 대비: 동일 시나리오의 캡처·로그·테스트 결과를 부록에 준비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A66A"/>
                </a:solidFill>
                <a:latin typeface="Noto Sans CJK KR"/>
              </a:rPr>
              <a:t>DEMO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스크린샷마다 ‘무엇을 증명하는가’를 명시한다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6629400" cy="3840480"/>
          </a:xfrm>
          <a:prstGeom prst="roundRect">
            <a:avLst/>
          </a:prstGeom>
          <a:solidFill>
            <a:srgbClr val="E8EDF3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56692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57281"/>
                </a:solidFill>
                <a:latin typeface="Noto Sans CJK KR"/>
              </a:rPr>
              <a:t>[실제 화면 / 터미널 / 로그 / PR 캡처]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874519"/>
            <a:ext cx="3657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874519"/>
            <a:ext cx="82296" cy="1645920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2020823"/>
            <a:ext cx="32186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EVIDENCE CAPTION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2496311"/>
            <a:ext cx="320040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이 캡처는 [요구사항 R-??]가 [실제 환경]에서 [정상 결과]임을 증명한다.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703320"/>
            <a:ext cx="3657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3703320"/>
            <a:ext cx="82296" cy="12801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3849624"/>
            <a:ext cx="32186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4325112"/>
            <a:ext cx="320040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Repository / Branch / Commit / Runtime / Executed 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5230368"/>
            <a:ext cx="3291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5D58"/>
                </a:solidFill>
                <a:latin typeface="Noto Sans CJK KR"/>
              </a:rPr>
              <a:t>Secret·Token·개인정보는 캡처 전에 제거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A66A"/>
                </a:solidFill>
                <a:latin typeface="Noto Sans CJK KR"/>
              </a:rPr>
              <a:t>TEST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테스트는 ‘무엇을 실패하게 해봤는가’까지 보여준다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956816"/>
            <a:ext cx="82296" cy="2057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12140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103120"/>
            <a:ext cx="17007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STATIC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78608"/>
            <a:ext cx="2084832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Syntax / Lint
[정적 오류]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1956816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9584" y="1956816"/>
            <a:ext cx="82296" cy="2057400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12140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2103120"/>
            <a:ext cx="17007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6" y="2578608"/>
            <a:ext cx="2084832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Function / Class
[핵심 로직]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956816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956816"/>
            <a:ext cx="82296" cy="2057400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212140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103120"/>
            <a:ext cx="17007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578608"/>
            <a:ext cx="2084832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CLI / HTTP / DB
[연결 흐름]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956816"/>
            <a:ext cx="25420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1956816"/>
            <a:ext cx="82296" cy="2057400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212140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4" y="2103120"/>
            <a:ext cx="170078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RUNTIME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578608"/>
            <a:ext cx="2084832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실환경 / 외부 접속
[자동화 불가 항목]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370832"/>
            <a:ext cx="10469880" cy="1097280"/>
          </a:xfrm>
          <a:prstGeom prst="roundRect">
            <a:avLst/>
          </a:prstGeom>
          <a:solidFill>
            <a:srgbClr val="E9F7EF"/>
          </a:solidFill>
          <a:ln w="12700">
            <a:solidFill>
              <a:srgbClr val="E9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617720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FA66A"/>
                </a:solidFill>
                <a:latin typeface="Noto Sans CJK KR"/>
              </a:rPr>
              <a:t>최소 실패 시나리오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553712"/>
            <a:ext cx="8183879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22D"/>
                </a:solidFill>
                <a:latin typeface="Noto Sans CJK KR"/>
              </a:rPr>
              <a:t>[잘못된 입력] · [없는 데이터] · [권한 없음] · [외부 API 실패] 중 미션에 맞는 항목을 실제로 검증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A66A"/>
                </a:solidFill>
                <a:latin typeface="Noto Sans CJK KR"/>
              </a:rPr>
              <a:t>VERIFICATION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검증 상태를 한눈에 읽을 수 있는 대시보드로 요약한다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93392"/>
            <a:ext cx="257860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1762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7281"/>
                </a:solidFill>
                <a:latin typeface="Noto Sans CJK KR"/>
              </a:rP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1762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F80ED"/>
                </a:solidFill>
                <a:latin typeface="Noto Sans CJK KR"/>
              </a:rPr>
              <a:t>[12 / 12]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46704"/>
            <a:ext cx="21762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Mapped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93392"/>
            <a:ext cx="257860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2194560"/>
            <a:ext cx="21762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7281"/>
                </a:solidFill>
                <a:latin typeface="Noto Sans CJK KR"/>
              </a:rPr>
              <a:t>AUTOMATED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651760"/>
            <a:ext cx="21762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FA66A"/>
                </a:solidFill>
                <a:latin typeface="Noto Sans CJK KR"/>
              </a:rPr>
              <a:t>[28 / 28]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3346704"/>
            <a:ext cx="21762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993392"/>
            <a:ext cx="257860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194560"/>
            <a:ext cx="21762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7281"/>
                </a:solidFill>
                <a:latin typeface="Noto Sans CJK KR"/>
              </a:rPr>
              <a:t>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651760"/>
            <a:ext cx="21762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9A89D"/>
                </a:solidFill>
                <a:latin typeface="Noto Sans CJK KR"/>
              </a:rPr>
              <a:t>[MAC-V / WIN-V]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346704"/>
            <a:ext cx="21762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Actual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1993392"/>
            <a:ext cx="2578608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2194560"/>
            <a:ext cx="217627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57281"/>
                </a:solidFill>
                <a:latin typeface="Noto Sans CJK KR"/>
              </a:rPr>
              <a:t>BLOCKER / MAJOR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651760"/>
            <a:ext cx="21762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3A61D"/>
                </a:solidFill>
                <a:latin typeface="Noto Sans CJK KR"/>
              </a:rPr>
              <a:t>[0 / 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3346704"/>
            <a:ext cx="21762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6222D"/>
                </a:solidFill>
                <a:latin typeface="Noto Sans CJK KR"/>
              </a:rPr>
              <a:t>Open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343400"/>
            <a:ext cx="9875520" cy="11430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IMPLEMENTED ≠ TESTED ≠ PASS — 상태를 섞지 않는다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NEEDS-RUNTIME은 실제 환경 검증 전까지 별도 표시</a:t>
            </a:r>
          </a:p>
          <a:p>
            <a:pPr>
              <a:spcAft>
                <a:spcPts val="600"/>
              </a:spcAft>
              <a:defRPr sz="1150">
                <a:solidFill>
                  <a:srgbClr val="16222D"/>
                </a:solidFill>
                <a:latin typeface="Noto Sans CJK KR"/>
              </a:defRPr>
            </a:pPr>
            <a:r>
              <a:t>• 예상 출력과 실제 출력은 명확히 구분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A66A"/>
                </a:solidFill>
                <a:latin typeface="Noto Sans CJK KR"/>
              </a:rPr>
              <a:t>RESULTS / BEFORE &amp;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변경의 효과는 Before &amp; After 또는 정량 결과로 증명한다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A66A"/>
                </a:solidFill>
                <a:latin typeface="Noto Sans CJK KR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5074920" cy="3337560"/>
          </a:xfrm>
          <a:prstGeom prst="roundRect">
            <a:avLst/>
          </a:prstGeom>
          <a:solidFill>
            <a:srgbClr val="FCEDEC"/>
          </a:solidFill>
          <a:ln w="12700">
            <a:solidFill>
              <a:srgbClr val="F0C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95D58"/>
                </a:solidFill>
                <a:latin typeface="Noto Sans CJK KR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4251960" cy="13258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22D"/>
                </a:solidFill>
                <a:latin typeface="Noto Sans CJK KR"/>
              </a:defRPr>
            </a:pPr>
            <a:r>
              <a:t>• [문제 상태 / 수치]</a:t>
            </a:r>
          </a:p>
          <a:p>
            <a:pPr>
              <a:spcAft>
                <a:spcPts val="600"/>
              </a:spcAft>
              <a:defRPr sz="1300">
                <a:solidFill>
                  <a:srgbClr val="16222D"/>
                </a:solidFill>
                <a:latin typeface="Noto Sans CJK KR"/>
              </a:defRPr>
            </a:pPr>
            <a:r>
              <a:t>• [실패 로그 / 사용자 증상]</a:t>
            </a:r>
          </a:p>
          <a:p>
            <a:pPr>
              <a:spcAft>
                <a:spcPts val="600"/>
              </a:spcAft>
              <a:defRPr sz="1300">
                <a:solidFill>
                  <a:srgbClr val="16222D"/>
                </a:solidFill>
                <a:latin typeface="Noto Sans CJK KR"/>
              </a:defRPr>
            </a:pPr>
            <a:r>
              <a:t>• [원인 가설]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74519"/>
            <a:ext cx="5074920" cy="3337560"/>
          </a:xfrm>
          <a:prstGeom prst="roundRect">
            <a:avLst/>
          </a:prstGeom>
          <a:solidFill>
            <a:srgbClr val="E9F7EF"/>
          </a:solidFill>
          <a:ln w="12700">
            <a:solidFill>
              <a:srgbClr val="C4E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03120"/>
            <a:ext cx="1097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743200"/>
            <a:ext cx="4251960" cy="13258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22D"/>
                </a:solidFill>
                <a:latin typeface="Noto Sans CJK KR"/>
              </a:defRPr>
            </a:pPr>
            <a:r>
              <a:t>• [조치 후 상태 / 수치]</a:t>
            </a:r>
          </a:p>
          <a:p>
            <a:pPr>
              <a:spcAft>
                <a:spcPts val="600"/>
              </a:spcAft>
              <a:defRPr sz="1300">
                <a:solidFill>
                  <a:srgbClr val="16222D"/>
                </a:solidFill>
                <a:latin typeface="Noto Sans CJK KR"/>
              </a:defRPr>
            </a:pPr>
            <a:r>
              <a:t>• [성공 로그 / 정상 결과]</a:t>
            </a:r>
          </a:p>
          <a:p>
            <a:pPr>
              <a:spcAft>
                <a:spcPts val="600"/>
              </a:spcAft>
              <a:defRPr sz="1300">
                <a:solidFill>
                  <a:srgbClr val="16222D"/>
                </a:solidFill>
                <a:latin typeface="Noto Sans CJK KR"/>
              </a:defRPr>
            </a:pPr>
            <a:r>
              <a:t>• [남은 한계]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23560" y="3520440"/>
            <a:ext cx="502920" cy="0"/>
          </a:xfrm>
          <a:prstGeom prst="line">
            <a:avLst/>
          </a:prstGeom>
          <a:ln w="30480">
            <a:solidFill>
              <a:srgbClr val="19A8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3A61D"/>
                </a:solidFill>
                <a:latin typeface="Noto Sans CJK KR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문제 해결은 증상 → 가설 → 검증 → 조치 → 재발방지로 기록한다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2139696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" y="2139696"/>
            <a:ext cx="82296" cy="2057400"/>
          </a:xfrm>
          <a:prstGeom prst="rect">
            <a:avLst/>
          </a:prstGeom>
          <a:solidFill>
            <a:srgbClr val="D95D58"/>
          </a:solidFill>
          <a:ln w="12700">
            <a:solidFill>
              <a:srgbClr val="D9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95D58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286000"/>
            <a:ext cx="1078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SYMPTOM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61488"/>
            <a:ext cx="146304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[관측된 현상]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9504" y="2139696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9504" y="2139696"/>
            <a:ext cx="82296" cy="2057400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286000"/>
            <a:ext cx="1078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HYPOTHESIS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2761488"/>
            <a:ext cx="146304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[원인 가설]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2139696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2139696"/>
            <a:ext cx="82296" cy="2057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2286000"/>
            <a:ext cx="1078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2761488"/>
            <a:ext cx="146304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[로그/명령 검증]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8624" y="2139696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78624" y="2139696"/>
            <a:ext cx="82296" cy="2057400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2286000"/>
            <a:ext cx="1078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2761488"/>
            <a:ext cx="146304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[최소 조치]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73184" y="2139696"/>
            <a:ext cx="1920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73184" y="2139696"/>
            <a:ext cx="82296" cy="2057400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30428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31552" y="2286000"/>
            <a:ext cx="1078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PREVENT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9216" y="2761488"/>
            <a:ext cx="1463040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[재발 방지]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4800600"/>
            <a:ext cx="100584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22D"/>
                </a:solidFill>
                <a:latin typeface="Noto Sans CJK KR"/>
              </a:rPr>
              <a:t>평가 질문 대비: “처음부터 답을 알고 있었나요?” → 증거를 통해 가설을 좁힌 과정을 설명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D95D58"/>
          </a:solidFill>
          <a:ln w="12700">
            <a:solidFill>
              <a:srgbClr val="D9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95D58"/>
                </a:solidFill>
                <a:latin typeface="Noto Sans CJK KR"/>
              </a:rPr>
              <a:t>SECURITY /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보안과 신뢰성은 ‘막았다’가 아니라 경계와 실패 처리를 보여준다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D95D58"/>
                </a:solidFill>
                <a:latin typeface="Noto Sans CJK KR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82296" cy="19659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12264"/>
            <a:ext cx="20756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587752"/>
            <a:ext cx="2057400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Authentication
[누구인가]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6596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965960"/>
            <a:ext cx="82296" cy="1965960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112264"/>
            <a:ext cx="20756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587752"/>
            <a:ext cx="2057400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Authorization / ACL
[무엇을 할 수 있나]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6596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965960"/>
            <a:ext cx="82296" cy="1965960"/>
          </a:xfrm>
          <a:prstGeom prst="rect">
            <a:avLst/>
          </a:prstGeom>
          <a:solidFill>
            <a:srgbClr val="D95D58"/>
          </a:solidFill>
          <a:ln w="12700">
            <a:solidFill>
              <a:srgbClr val="D9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112264"/>
            <a:ext cx="20756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SECRET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87752"/>
            <a:ext cx="2057400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API Key / Token
[노출 방지]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965960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965960"/>
            <a:ext cx="82296" cy="1965960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2112264"/>
            <a:ext cx="20756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FAILURE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2587752"/>
            <a:ext cx="2057400" cy="11978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Timeout / Error
[비정상 종료 방지]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681728"/>
            <a:ext cx="9601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95D58"/>
                </a:solidFill>
                <a:latin typeface="Noto Sans CJK KR"/>
              </a:rPr>
              <a:t>검증 예: 비로그인 접근 · 잘못된 권한 · Key 미설정 · API timeout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F80ED"/>
                </a:solidFill>
                <a:latin typeface="Noto Sans CJK KR"/>
              </a:rPr>
              <a:t>COLLABORATION /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협업은 결과 파일보다 Issue·PR·Review의 추적 가능한 흐름으로 증명한다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2F80ED"/>
                </a:solidFill>
                <a:latin typeface="Noto Sans CJK KR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16093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82296" cy="16276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49631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478024"/>
            <a:ext cx="7680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15214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작업 정의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2331720"/>
            <a:ext cx="16093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96312" y="2331720"/>
            <a:ext cx="82296" cy="16276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5768" y="249631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478024"/>
            <a:ext cx="7680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2344" y="2953512"/>
            <a:ext cx="115214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격리 작업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2331720"/>
            <a:ext cx="16093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256" y="2331720"/>
            <a:ext cx="82296" cy="16276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2478024"/>
            <a:ext cx="7680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953512"/>
            <a:ext cx="115214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의미 있는 변경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331720"/>
            <a:ext cx="16093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2331720"/>
            <a:ext cx="82296" cy="16276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249631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2478024"/>
            <a:ext cx="7680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2953512"/>
            <a:ext cx="115214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What / Why / How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2331720"/>
            <a:ext cx="16093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2331720"/>
            <a:ext cx="82296" cy="1627632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49631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512" y="2478024"/>
            <a:ext cx="7680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2953512"/>
            <a:ext cx="115214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피드백 반영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48088" y="2331720"/>
            <a:ext cx="16093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48088" y="2331720"/>
            <a:ext cx="82296" cy="1627632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67544" y="249631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6456" y="2478024"/>
            <a:ext cx="76809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MERGE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2953512"/>
            <a:ext cx="1152144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main 통합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4663440"/>
            <a:ext cx="9509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6222D"/>
                </a:solidFill>
                <a:latin typeface="Noto Sans CJK KR"/>
              </a:rPr>
              <a:t>필수 증빙 예: PR 링크 · 리뷰 코멘트 · 충돌 해결 기록 · git log --graph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학습성과는 ‘사용했다’가 아니라 코드 근거로 설명할 수 있는가로 평가한다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965960"/>
            <a:ext cx="50749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1965960"/>
            <a:ext cx="82296" cy="135331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3055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0ED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112264"/>
            <a:ext cx="423367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87752"/>
            <a:ext cx="461772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[핵심 개념]을 내 코드로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965960"/>
            <a:ext cx="50749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6" y="1965960"/>
            <a:ext cx="82296" cy="1353312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130552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9A89D"/>
                </a:solidFill>
                <a:latin typeface="Noto Sans CJK K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1424" y="2112264"/>
            <a:ext cx="423367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WHY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87752"/>
            <a:ext cx="461772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왜 이 구조/자료구조/패턴을 선택했는지 말할 수 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575304"/>
            <a:ext cx="50749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" y="3575304"/>
            <a:ext cx="82296" cy="1353312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739896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3A61D"/>
                </a:solidFill>
                <a:latin typeface="Noto Sans CJK K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3721608"/>
            <a:ext cx="423367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197096"/>
            <a:ext cx="461772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입력 → 내부 처리 → 결과 흐름을 추적할 수 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3575304"/>
            <a:ext cx="50749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575304"/>
            <a:ext cx="82296" cy="1353312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739896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A66A"/>
                </a:solidFill>
                <a:latin typeface="Noto Sans CJK K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3721608"/>
            <a:ext cx="423367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197096"/>
            <a:ext cx="4617720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실패 상황과 복구/예외 처리를 설명할 수 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138928"/>
            <a:ext cx="10058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9A89D"/>
                </a:solidFill>
                <a:latin typeface="Noto Sans CJK KR"/>
              </a:rPr>
              <a:t>발표자는 ‘정의’보다 ‘내 구현에서 어디에 있고 어떻게 동작하는가’를 우선 설명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3A61D"/>
                </a:solidFill>
                <a:latin typeface="Noto Sans CJK KR"/>
              </a:rPr>
              <a:t>EVALUATION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평가 질문은 Why·How·Evidence의 세 축으로 준비한다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901952"/>
            <a:ext cx="5074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76" y="2066544"/>
            <a:ext cx="713232" cy="310896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16836"/>
            <a:ext cx="6035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2224" y="2084832"/>
            <a:ext cx="383133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222D"/>
                </a:solidFill>
                <a:latin typeface="Noto Sans CJK KR"/>
              </a:rPr>
              <a:t>왜 이 방법을 선택했나요?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2224" y="2615184"/>
            <a:ext cx="383133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[대안 비교 + 요구사항 연결]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901952"/>
            <a:ext cx="5074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27648" y="2066544"/>
            <a:ext cx="713232" cy="310896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116836"/>
            <a:ext cx="6035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8896" y="2084832"/>
            <a:ext cx="383133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222D"/>
                </a:solidFill>
                <a:latin typeface="Noto Sans CJK KR"/>
              </a:rPr>
              <a:t>실제로 어떻게 동작하나요?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2615184"/>
            <a:ext cx="383133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[코드/흐름 근거]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3685032"/>
            <a:ext cx="5074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0976" y="3849624"/>
            <a:ext cx="713232" cy="310896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99916"/>
            <a:ext cx="6035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2224" y="3867912"/>
            <a:ext cx="383133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222D"/>
                </a:solidFill>
                <a:latin typeface="Noto Sans CJK KR"/>
              </a:rPr>
              <a:t>동작했다는 근거는 무엇인가요?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4398264"/>
            <a:ext cx="383133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[테스트/로그/URL/PR]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685032"/>
            <a:ext cx="50749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27648" y="3849624"/>
            <a:ext cx="713232" cy="310896"/>
          </a:xfrm>
          <a:prstGeom prst="roundRect">
            <a:avLst/>
          </a:prstGeom>
          <a:solidFill>
            <a:srgbClr val="FFF5DF"/>
          </a:solidFill>
          <a:ln w="12700"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899916"/>
            <a:ext cx="6035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3867912"/>
            <a:ext cx="383133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6222D"/>
                </a:solidFill>
                <a:latin typeface="Noto Sans CJK KR"/>
              </a:rPr>
              <a:t>어떤 한계가 있나요?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4398264"/>
            <a:ext cx="383133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281"/>
                </a:solidFill>
                <a:latin typeface="Noto Sans CJK KR"/>
              </a:rPr>
              <a:t>[현재 범위와 고도화 분리]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3A61D"/>
                </a:solidFill>
                <a:latin typeface="Noto Sans CJK KR"/>
              </a:rPr>
              <a:t>LIMITATIONS /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현재 미션 통과 범위와 후속 고도화를 명확히 분리한다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F3A61D"/>
                </a:solidFill>
                <a:latin typeface="Noto Sans CJK KR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49377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12848"/>
            <a:ext cx="2148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95D58"/>
                </a:solidFill>
                <a:latin typeface="Noto Sans CJK KR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88920"/>
            <a:ext cx="4206240" cy="12344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[공식 범위 밖이라 구현하지 않은 항목]</a:t>
            </a:r>
          </a:p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[현재 데이터/환경의 제약]</a:t>
            </a:r>
          </a:p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[검증에서 남은 실제 리스크]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956816"/>
            <a:ext cx="4937760" cy="3154680"/>
          </a:xfrm>
          <a:prstGeom prst="roundRect">
            <a:avLst/>
          </a:prstGeom>
          <a:solidFill>
            <a:srgbClr val="E9F8F6"/>
          </a:solidFill>
          <a:ln w="12700">
            <a:solidFill>
              <a:srgbClr val="C7E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212848"/>
            <a:ext cx="2148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9A89D"/>
                </a:solidFill>
                <a:latin typeface="Noto Sans CJK KR"/>
              </a:rPr>
              <a:t>NEXT — ADVANCED /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2788920"/>
            <a:ext cx="4206240" cy="12344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[성능 / 보안 / 확장성 고도화]</a:t>
            </a:r>
          </a:p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[추가 테스트 / CI / 관측성]</a:t>
            </a:r>
          </a:p>
          <a:p>
            <a:pPr>
              <a:spcAft>
                <a:spcPts val="600"/>
              </a:spcAft>
              <a:defRPr sz="1200">
                <a:solidFill>
                  <a:srgbClr val="16222D"/>
                </a:solidFill>
                <a:latin typeface="Noto Sans CJK KR"/>
              </a:defRPr>
            </a:pPr>
            <a:r>
              <a:t>• [연구·포트폴리오 확장]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777240"/>
            <a:ext cx="1325880" cy="310896"/>
          </a:xfrm>
          <a:prstGeom prst="roundRect">
            <a:avLst/>
          </a:prstGeom>
          <a:solidFill>
            <a:srgbClr val="163758"/>
          </a:solidFill>
          <a:ln w="12700">
            <a:solidFill>
              <a:srgbClr val="1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3544" y="827532"/>
            <a:ext cx="121615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8BC9FF"/>
                </a:solidFill>
                <a:latin typeface="Noto Sans CJK KR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24128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Noto Sans CJK KR"/>
              </a:rPr>
              <a:t>요구사항을 구현했고, 실제 검증과 증빙으로 설명할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788920"/>
            <a:ext cx="91440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9A89D"/>
                </a:solidFill>
                <a:latin typeface="Noto Sans CJK KR"/>
              </a:rPr>
              <a:t>[미션 핵심 결론 1문장]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5669280" cy="13258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2DFEC"/>
                </a:solidFill>
                <a:latin typeface="Noto Sans CJK KR"/>
              </a:defRPr>
            </a:pPr>
            <a:r>
              <a:t>• Requirement — [핵심 요구]</a:t>
            </a:r>
          </a:p>
          <a:p>
            <a:pPr>
              <a:spcAft>
                <a:spcPts val="600"/>
              </a:spcAft>
              <a:defRPr sz="1300">
                <a:solidFill>
                  <a:srgbClr val="D2DFEC"/>
                </a:solidFill>
                <a:latin typeface="Noto Sans CJK KR"/>
              </a:defRPr>
            </a:pPr>
            <a:r>
              <a:t>• Implementation — [핵심 구현]</a:t>
            </a:r>
          </a:p>
          <a:p>
            <a:pPr>
              <a:spcAft>
                <a:spcPts val="600"/>
              </a:spcAft>
              <a:defRPr sz="1300">
                <a:solidFill>
                  <a:srgbClr val="D2DFEC"/>
                </a:solidFill>
                <a:latin typeface="Noto Sans CJK KR"/>
              </a:defRPr>
            </a:pPr>
            <a:r>
              <a:t>• Verification — [핵심 검증]</a:t>
            </a:r>
          </a:p>
          <a:p>
            <a:pPr>
              <a:spcAft>
                <a:spcPts val="600"/>
              </a:spcAft>
              <a:defRPr sz="1300">
                <a:solidFill>
                  <a:srgbClr val="D2DFEC"/>
                </a:solidFill>
                <a:latin typeface="Noto Sans CJK KR"/>
              </a:defRPr>
            </a:pPr>
            <a:r>
              <a:t>• Evidence — [핵심 증빙]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3886200"/>
            <a:ext cx="1828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Noto Sans CJK KR"/>
              </a:rPr>
              <a:t>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2636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94AE"/>
                </a:solidFill>
                <a:latin typeface="Noto Sans CJK K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286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9A89D"/>
                </a:solidFill>
                <a:latin typeface="Noto Sans CJK KR"/>
              </a:rPr>
              <a:t>STYLE GUIDE / MASTER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69848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222D"/>
                </a:solidFill>
                <a:latin typeface="Noto Sans CJK KR"/>
              </a:rPr>
              <a:t>모든 미션 발표에 동일한 시각 언어와 작성 규칙을 사용한다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56248"/>
            <a:ext cx="4389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57281"/>
                </a:solidFill>
                <a:latin typeface="Noto Sans CJK KR"/>
              </a:rPr>
              <a:t>CODYSSEY BASIC · MISSION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19A89D"/>
                </a:solidFill>
                <a:latin typeface="Noto Sans CJK KR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517904" cy="658368"/>
          </a:xfrm>
          <a:prstGeom prst="roundRect">
            <a:avLst/>
          </a:prstGeom>
          <a:solidFill>
            <a:srgbClr val="081B2F"/>
          </a:solidFill>
          <a:ln w="12700">
            <a:solidFill>
              <a:srgbClr val="08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2082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NAVY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6090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57281"/>
                </a:solidFill>
                <a:latin typeface="Noto Sans CJK KR"/>
              </a:rPr>
              <a:t>#081B2F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1874519"/>
            <a:ext cx="1517904" cy="658368"/>
          </a:xfrm>
          <a:prstGeom prst="round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202082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BLUE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66090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57281"/>
                </a:solidFill>
                <a:latin typeface="Noto Sans CJK KR"/>
              </a:rPr>
              <a:t>#2F80ED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874519"/>
            <a:ext cx="1517904" cy="658368"/>
          </a:xfrm>
          <a:prstGeom prst="round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202082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TEAL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266090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57281"/>
                </a:solidFill>
                <a:latin typeface="Noto Sans CJK KR"/>
              </a:rPr>
              <a:t>#19A89D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25896" y="1874519"/>
            <a:ext cx="1517904" cy="658368"/>
          </a:xfrm>
          <a:prstGeom prst="round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25896" y="202082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6" y="266090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57281"/>
                </a:solidFill>
                <a:latin typeface="Noto Sans CJK KR"/>
              </a:rPr>
              <a:t>#F3A61D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0688" y="1874519"/>
            <a:ext cx="1517904" cy="658368"/>
          </a:xfrm>
          <a:prstGeom prst="roundRect">
            <a:avLst/>
          </a:prstGeom>
          <a:solidFill>
            <a:srgbClr val="D95D58"/>
          </a:solidFill>
          <a:ln w="12700">
            <a:solidFill>
              <a:srgbClr val="D95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202082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266090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57281"/>
                </a:solidFill>
                <a:latin typeface="Noto Sans CJK KR"/>
              </a:rPr>
              <a:t>#D95D58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874519"/>
            <a:ext cx="1517904" cy="658368"/>
          </a:xfrm>
          <a:prstGeom prst="round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202082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GREEN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660903"/>
            <a:ext cx="151790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57281"/>
                </a:solidFill>
                <a:latin typeface="Noto Sans CJK KR"/>
              </a:rPr>
              <a:t>#2FA66A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154680"/>
            <a:ext cx="4983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8" y="3154680"/>
            <a:ext cx="82296" cy="11155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300984"/>
            <a:ext cx="45445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TITLE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776472"/>
            <a:ext cx="4526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제목만 읽어도 발표 논리가 이어지는 ‘주장형 제목’을 사용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16752" y="3154680"/>
            <a:ext cx="4983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16752" y="3154680"/>
            <a:ext cx="82296" cy="1115568"/>
          </a:xfrm>
          <a:prstGeom prst="rect">
            <a:avLst/>
          </a:prstGeom>
          <a:solidFill>
            <a:srgbClr val="2FA66A"/>
          </a:solidFill>
          <a:ln w="12700">
            <a:solidFill>
              <a:srgbClr val="2F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3300984"/>
            <a:ext cx="45445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EVIDENCE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776472"/>
            <a:ext cx="4526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PASS에는 실제 실행·테스트·로그·URL·PR 등 추적 가능한 근거를 연결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4480560"/>
            <a:ext cx="4983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" y="4480560"/>
            <a:ext cx="82296" cy="1115568"/>
          </a:xfrm>
          <a:prstGeom prst="rect">
            <a:avLst/>
          </a:prstGeom>
          <a:solidFill>
            <a:srgbClr val="19A89D"/>
          </a:solidFill>
          <a:ln w="12700">
            <a:solidFill>
              <a:srgbClr val="19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626864"/>
            <a:ext cx="45445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LANGUAGE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102352"/>
            <a:ext cx="4526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핵심 영문 용어는 한글(English, 약어)로 첫 등장에 병기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16752" y="4480560"/>
            <a:ext cx="49834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16752" y="4480560"/>
            <a:ext cx="82296" cy="1115568"/>
          </a:xfrm>
          <a:prstGeom prst="rect">
            <a:avLst/>
          </a:prstGeom>
          <a:solidFill>
            <a:srgbClr val="F3A61D"/>
          </a:solidFill>
          <a:ln w="12700">
            <a:solidFill>
              <a:srgbClr val="F3A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4" y="4626864"/>
            <a:ext cx="454456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Noto Sans CJK KR"/>
              </a:rPr>
              <a:t>PROMPT RULE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5102352"/>
            <a:ext cx="4526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57281"/>
                </a:solidFill>
                <a:latin typeface="Noto Sans CJK KR"/>
              </a:rPr>
              <a:t>Mission → Repository → Test → Evidence를 입력으로 사용하고 일반 지식이 공식 요구를 바꾸지 않게 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