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CODYSSEY · TECHNICAL DIAGRAM LIBRARY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75120" y="16459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B1-1 ~ B7-2 · Evaluation / Research / Engineering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016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65392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AB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Editable vector template · Source → Structure → Flow → Evidence</a:t>
            </a:r>
            <a:endParaRPr lang="en-US" sz="7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26680" y="320040"/>
            <a:ext cx="3931920" cy="3931920"/>
          </a:xfrm>
          <a:prstGeom prst="ellipse">
            <a:avLst/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15400" y="1920240"/>
            <a:ext cx="2377440" cy="2377440"/>
          </a:xfrm>
          <a:prstGeom prst="ellipse">
            <a:avLst/>
          </a:prstGeom>
          <a:solidFill>
            <a:srgbClr val="1BA99A">
              <a:alpha val="14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1188720"/>
            <a:ext cx="1371600" cy="-32004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0" y="868680"/>
            <a:ext cx="1234440" cy="64008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1188720"/>
            <a:ext cx="1005840" cy="91440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103120"/>
            <a:ext cx="1188720" cy="41148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5440" y="2103120"/>
            <a:ext cx="-731520" cy="96012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3920" y="3063240"/>
            <a:ext cx="1463040" cy="59436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0" y="2514600"/>
            <a:ext cx="-457200" cy="114300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35640" y="1508760"/>
            <a:ext cx="-411480" cy="100584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07899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91472" y="758952"/>
            <a:ext cx="219456" cy="219456"/>
          </a:xfrm>
          <a:prstGeom prst="ellipse">
            <a:avLst/>
          </a:prstGeom>
          <a:solidFill>
            <a:srgbClr val="1BA99A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25912" y="139903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25712" y="1993392"/>
            <a:ext cx="219456" cy="219456"/>
          </a:xfrm>
          <a:prstGeom prst="ellipse">
            <a:avLst/>
          </a:prstGeom>
          <a:solidFill>
            <a:srgbClr val="1BA99A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14432" y="240487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94192" y="2953512"/>
            <a:ext cx="219456" cy="219456"/>
          </a:xfrm>
          <a:prstGeom prst="ellipse">
            <a:avLst/>
          </a:prstGeom>
          <a:solidFill>
            <a:srgbClr val="1BA99A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57232" y="354787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58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AA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CODYSSEY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1325880"/>
            <a:ext cx="6217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고급 기술 다이어그램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마스터 라이브러리</a:t>
            </a:r>
            <a:endParaRPr lang="en-US" sz="3100" dirty="0"/>
          </a:p>
        </p:txBody>
      </p:sp>
      <p:sp>
        <p:nvSpPr>
          <p:cNvPr id="22" name="Text 20"/>
          <p:cNvSpPr/>
          <p:nvPr/>
        </p:nvSpPr>
        <p:spPr>
          <a:xfrm>
            <a:off x="658368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7F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Technical Diagram Master Library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331012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9E5F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현재 15개 미션 평가 발표 · 학부 프로젝트 · 석박사 연구 · 학회 발표를 위한 편집 가능한 벡터 템플릿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63B5B"/>
          </a:solidFill>
          <a:ln w="12700">
            <a:solidFill>
              <a:srgbClr val="163B5B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Architecture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1682496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63B5B"/>
          </a:solidFill>
          <a:ln w="12700">
            <a:solidFill>
              <a:srgbClr val="163B5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19072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2706624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63B5B"/>
          </a:solidFill>
          <a:ln w="12700">
            <a:solidFill>
              <a:srgbClr val="163B5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</a:t>
            </a:r>
            <a:endParaRPr lang="en-US" sz="690" dirty="0"/>
          </a:p>
        </p:txBody>
      </p:sp>
      <p:sp>
        <p:nvSpPr>
          <p:cNvPr id="30" name="Shape 28"/>
          <p:cNvSpPr/>
          <p:nvPr/>
        </p:nvSpPr>
        <p:spPr>
          <a:xfrm>
            <a:off x="3730752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C4D65"/>
          </a:solidFill>
          <a:ln w="12700">
            <a:solidFill>
              <a:srgbClr val="1C4D65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4754880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C4D65"/>
          </a:solidFill>
          <a:ln w="12700">
            <a:solidFill>
              <a:srgbClr val="1C4D6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91456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Research</a:t>
            </a:r>
            <a:endParaRPr lang="en-US" sz="690" dirty="0"/>
          </a:p>
        </p:txBody>
      </p:sp>
      <p:sp>
        <p:nvSpPr>
          <p:cNvPr id="34" name="Shape 32"/>
          <p:cNvSpPr/>
          <p:nvPr/>
        </p:nvSpPr>
        <p:spPr>
          <a:xfrm>
            <a:off x="5779008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C4D65"/>
          </a:solidFill>
          <a:ln w="12700">
            <a:solidFill>
              <a:srgbClr val="1C4D65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15584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36" name="Text 34"/>
          <p:cNvSpPr/>
          <p:nvPr/>
        </p:nvSpPr>
        <p:spPr>
          <a:xfrm>
            <a:off x="658368" y="59893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FB4D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v1.1 · current Mission ID map · 20 reusable layouts · editable PowerPoint vectors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다이어그램은 “예쁜 그림”이 아니라, 판단 흐름을 압축하는 시각 언어입니다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슬라이드 한 메시지 · 제목이 결론 · 색상은 역할을 갖고 · 선은 의미를 갖습니다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DESIGN LANGUAGE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01 PRINCIPLES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30352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94944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MESSAGE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694944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장에 하나의 판단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4944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슬라이드가 두 가지 질문에 답하지 않게 분리합니다.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94944" y="4526280"/>
            <a:ext cx="1325880" cy="0"/>
          </a:xfrm>
          <a:prstGeom prst="line">
            <a:avLst/>
          </a:prstGeom>
          <a:noFill/>
          <a:ln w="38100">
            <a:solidFill>
              <a:srgbClr val="2F8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44368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08960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45536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CLEAR TITLE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3108960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제목이 결론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108960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제목만 읽어도 발표 논리의 흐름이 이어지게 합니다.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108960" y="4526280"/>
            <a:ext cx="1325880" cy="0"/>
          </a:xfrm>
          <a:prstGeom prst="line">
            <a:avLst/>
          </a:prstGeom>
          <a:noFill/>
          <a:ln w="38100">
            <a:solidFill>
              <a:srgbClr val="1BA9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58384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22976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59552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ROLE COLOR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5522976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색상은 역할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522976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애플리케이션·데이터·외부·위험을 색상으로 구분합니다.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22976" y="4526280"/>
            <a:ext cx="1325880" cy="0"/>
          </a:xfrm>
          <a:prstGeom prst="line">
            <a:avLst/>
          </a:prstGeom>
          <a:noFill/>
          <a:ln w="38100">
            <a:solidFill>
              <a:srgbClr val="F3A61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0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936992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73568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FLOW LINE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7936992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선은 의미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936992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실선=주 흐름, 점선=외부/선택, 화살표=방향입니다.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936992" y="4526280"/>
            <a:ext cx="1325880" cy="0"/>
          </a:xfrm>
          <a:prstGeom prst="line">
            <a:avLst/>
          </a:prstGeom>
          <a:noFill/>
          <a:ln w="38100">
            <a:solidFill>
              <a:srgbClr val="D95D5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86416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351008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87584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10351008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근거로 닫기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51008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설계 다이어그램 뒤에는 검증·증빙이 연결되어야 합니다.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0351008" y="4526280"/>
            <a:ext cx="1325880" cy="0"/>
          </a:xfrm>
          <a:prstGeom prst="line">
            <a:avLst/>
          </a:prstGeom>
          <a:noFill/>
          <a:ln w="38100">
            <a:solidFill>
              <a:srgbClr val="2FA66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권장 규칙: 제목 24~30pt · 본문 14~18pt · 노드 4~7개 · 텍스트보다 관계/흐름을 먼저 보이기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현재 B1~B7은 기술 성격에 따라 “주력 다이어그램”이 달라집니다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Mission ID는 CURRENT-MISSION-MAP 기준 · 미션 주제의 핵심 평가 질문에 맞춰 다이어그램을 선택합니다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MISSION MAP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02 MAPPING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30352" y="1755648"/>
            <a:ext cx="1691640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" y="1865376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영역</a:t>
            </a:r>
            <a:endParaRPr lang="en-US" sz="740" dirty="0"/>
          </a:p>
        </p:txBody>
      </p:sp>
      <p:sp>
        <p:nvSpPr>
          <p:cNvPr id="10" name="Shape 8"/>
          <p:cNvSpPr/>
          <p:nvPr/>
        </p:nvSpPr>
        <p:spPr>
          <a:xfrm>
            <a:off x="2331720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대표 미션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4133088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78808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주력 1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5934456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0176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주력 2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7735824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1544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주력 3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9537192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82912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 초점</a:t>
            </a:r>
            <a:endParaRPr lang="en-US" sz="740" dirty="0"/>
          </a:p>
        </p:txBody>
      </p:sp>
      <p:sp>
        <p:nvSpPr>
          <p:cNvPr id="20" name="Shape 18"/>
          <p:cNvSpPr/>
          <p:nvPr/>
        </p:nvSpPr>
        <p:spPr>
          <a:xfrm>
            <a:off x="530352" y="2212848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359152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 / Front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368296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169664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Event Flow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71032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772400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Before/After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9573768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상호작용·UX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30352" y="2706624"/>
            <a:ext cx="106801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2852928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 / Git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368296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169664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Layered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971032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Flow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772400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Swimlane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573768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구조·예외·협업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30352" y="3200400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3346704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 / AI API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368296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B3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169664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Network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971032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Boundary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772400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Pipeline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573768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배포·권한·실패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0352" y="3694176"/>
            <a:ext cx="106801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3840480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Linux / OS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2368296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B4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169664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971032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772400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9573768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운영·보안·관제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0352" y="4187952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6928" y="4334256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DS / Algo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368296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B5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169664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Structure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971032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Algorithm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772400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Complexity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9573768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연산·불변조건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30352" y="4681728"/>
            <a:ext cx="106801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6928" y="4828032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 / Backend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368296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B6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4169664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971032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772400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9573768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관계·API·인가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530352" y="5175504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66928" y="5321808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Term Project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2368296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B7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4169664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E2E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5971032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Research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7772400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9573768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서비스 완성도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실전 팁: 미션당 2~4개 주력 다이어그램만 사용하고, 나머지는 백업/질의응답(Q&amp;A) 슬라이드로 둡니다.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 아키텍처는 “컴포넌트 + 책임 + 경계”를 한 화면에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B3·B6·B7의 기본형 · 단순 나열보다 계층과 책임을 먼저 드러냅니다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SYSTEM ARCHITECTURE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03 ARCHITECTURE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10917936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928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CLIENT / USER</a:t>
            </a:r>
            <a:endParaRPr lang="en-US" sz="670" dirty="0"/>
          </a:p>
        </p:txBody>
      </p:sp>
      <p:sp>
        <p:nvSpPr>
          <p:cNvPr id="10" name="Shape 8"/>
          <p:cNvSpPr/>
          <p:nvPr/>
        </p:nvSpPr>
        <p:spPr>
          <a:xfrm>
            <a:off x="640080" y="2587752"/>
            <a:ext cx="10917936" cy="1170432"/>
          </a:xfrm>
          <a:prstGeom prst="roundRect">
            <a:avLst>
              <a:gd name="adj" fmla="val 6250"/>
            </a:avLst>
          </a:prstGeom>
          <a:solidFill>
            <a:srgbClr val="F1F6FB"/>
          </a:solidFill>
          <a:ln w="12700">
            <a:solidFill>
              <a:srgbClr val="F1F6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69748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</a:t>
            </a:r>
            <a:endParaRPr lang="en-US" sz="67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10917936" cy="1051560"/>
          </a:xfrm>
          <a:prstGeom prst="roundRect">
            <a:avLst>
              <a:gd name="adj" fmla="val 6957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169664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/ PLATFORM</a:t>
            </a:r>
            <a:endParaRPr lang="en-US" sz="67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17936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53035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</a:t>
            </a:r>
            <a:endParaRPr lang="en-US" sz="670" dirty="0"/>
          </a:p>
        </p:txBody>
      </p:sp>
      <p:sp>
        <p:nvSpPr>
          <p:cNvPr id="16" name="Shape 14"/>
          <p:cNvSpPr/>
          <p:nvPr/>
        </p:nvSpPr>
        <p:spPr>
          <a:xfrm>
            <a:off x="1828800" y="1856232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56816" y="1993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56816" y="2039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197510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14600" y="2203704"/>
            <a:ext cx="7680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Browser / Mobile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749040" y="1856232"/>
            <a:ext cx="175564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77056" y="1993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77056" y="2039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34840" y="1975104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434840" y="2203704"/>
            <a:ext cx="9509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UI / State / Event</a:t>
            </a:r>
            <a:endParaRPr lang="en-US" sz="740" dirty="0"/>
          </a:p>
        </p:txBody>
      </p:sp>
      <p:sp>
        <p:nvSpPr>
          <p:cNvPr id="26" name="Shape 24"/>
          <p:cNvSpPr/>
          <p:nvPr/>
        </p:nvSpPr>
        <p:spPr>
          <a:xfrm>
            <a:off x="2148840" y="2852928"/>
            <a:ext cx="18288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76856" y="299008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76856" y="30358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283464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 Layer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834640" y="3200400"/>
            <a:ext cx="10241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/ Validation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4572000" y="2852928"/>
            <a:ext cx="18288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00016" y="299008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0016" y="30358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SVC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525780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Service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257800" y="3200400"/>
            <a:ext cx="10241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Business Logic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6995160" y="2852928"/>
            <a:ext cx="18288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23176" y="299008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23176" y="30358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768096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680960" y="3200400"/>
            <a:ext cx="10241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Identity / Policy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926080" y="4334256"/>
            <a:ext cx="1874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54096" y="44714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54096" y="45171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11880" y="4453128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Database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611880" y="4681728"/>
            <a:ext cx="1069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Persistent State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5623560" y="4334256"/>
            <a:ext cx="1874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51576" y="44714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1576" y="45171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LOG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6309360" y="4453128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Object / Log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309360" y="4681728"/>
            <a:ext cx="1069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Files / Evidence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8156448" y="4334256"/>
            <a:ext cx="1874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84464" y="44714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284464" y="45171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842248" y="4453128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Cache / Queue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842248" y="4681728"/>
            <a:ext cx="1069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Optional Scale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4251960" y="5285232"/>
            <a:ext cx="192024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79976" y="5422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79976" y="5468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AI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37760" y="540410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 AI API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937760" y="563270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LLM / Model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6675120" y="5285232"/>
            <a:ext cx="192024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03136" y="5422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03136" y="5468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☁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360920" y="540410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 / IAM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360920" y="563270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Infra / Permission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3401568" y="2185416"/>
            <a:ext cx="347472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4626864" y="2514600"/>
            <a:ext cx="-1700784" cy="338328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3977640" y="3227832"/>
            <a:ext cx="594360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400800" y="3227832"/>
            <a:ext cx="594360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486400" y="3602736"/>
            <a:ext cx="-1627632" cy="73152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486400" y="3602736"/>
            <a:ext cx="1078992" cy="73152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5577840" y="3611880"/>
            <a:ext cx="-411480" cy="1673352"/>
          </a:xfrm>
          <a:prstGeom prst="line">
            <a:avLst/>
          </a:prstGeom>
          <a:noFill/>
          <a:ln w="1905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7955280" y="3611880"/>
            <a:ext cx="-320040" cy="1673352"/>
          </a:xfrm>
          <a:prstGeom prst="line">
            <a:avLst/>
          </a:prstGeom>
          <a:noFill/>
          <a:ln w="1905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0012680" y="2651760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49256" y="2706624"/>
            <a:ext cx="1069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 Boundary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편집 포인트: 컴포넌트 이름보다 “책임”을 1줄로 명시하고, 외부 시스템과 보안 경계를 반드시 구분합니다.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데이터 흐름도는 “입력 → 검증 → 처리 → 저장 → 응답”을 분리해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B2·B4·B6에서 구현 설명과 예외 처리 설명에 특히 유용합니다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FLOW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 DATA FLOW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713232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07592" y="2441448"/>
            <a:ext cx="530352" cy="53035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7592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7824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INPUT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사용자 / 파일 / API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2450592" y="3090672"/>
            <a:ext cx="429768" cy="0"/>
          </a:xfrm>
          <a:prstGeom prst="line">
            <a:avLst/>
          </a:prstGeom>
          <a:noFill/>
          <a:ln w="2794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80360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0" y="2441448"/>
            <a:ext cx="530352" cy="530352"/>
          </a:xfrm>
          <a:prstGeom prst="ellipse">
            <a:avLst/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044952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26664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형식 · 범위 · 권한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4617720" y="3090672"/>
            <a:ext cx="429768" cy="0"/>
          </a:xfrm>
          <a:prstGeom prst="line">
            <a:avLst/>
          </a:prstGeom>
          <a:noFill/>
          <a:ln w="2794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47488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41848" y="2441448"/>
            <a:ext cx="530352" cy="530352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41848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12080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TRANSFORM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93792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정규화 · 계산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6784848" y="3090672"/>
            <a:ext cx="429768" cy="0"/>
          </a:xfrm>
          <a:prstGeom prst="line">
            <a:avLst/>
          </a:prstGeom>
          <a:noFill/>
          <a:ln w="2794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214616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808976" y="2441448"/>
            <a:ext cx="530352" cy="530352"/>
          </a:xfrm>
          <a:prstGeom prst="ellipse">
            <a:avLst/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08976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79208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STORE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60920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 · File · Cache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8951976" y="3090672"/>
            <a:ext cx="429768" cy="0"/>
          </a:xfrm>
          <a:prstGeom prst="line">
            <a:avLst/>
          </a:prstGeom>
          <a:noFill/>
          <a:ln w="2794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381744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76104" y="2441448"/>
            <a:ext cx="530352" cy="530352"/>
          </a:xfrm>
          <a:prstGeom prst="ellipse">
            <a:avLst/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76104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546336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RESPOND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28048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UI · JSON · Log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1920240" y="4645152"/>
            <a:ext cx="8366760" cy="841248"/>
          </a:xfrm>
          <a:prstGeom prst="roundRect">
            <a:avLst>
              <a:gd name="adj" fmla="val 10870"/>
            </a:avLst>
          </a:prstGeom>
          <a:solidFill>
            <a:srgbClr val="FBFCFE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48840" y="4901184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4956048"/>
            <a:ext cx="1069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ERROR PATH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3566160" y="4919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검증 실패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407408" y="5001768"/>
            <a:ext cx="1078992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623560" y="4919472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메시지 / 재입력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269480" y="5001768"/>
            <a:ext cx="960120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8357616" y="491947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로그 / Evidence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실선 = 정상 데이터 경로 · 빨강 = 실패/예외 경로 · 각 단계의 “입력과 출력”을 1줄로 고정하면 설명력이 올라갑니다.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 Diagram은 “누가 언제 누구에게 무엇을 요청하는가”를 시간 순서로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인증·API·DB 연동처럼 컴포넌트가 여러 개인 동작 설명에 최적입니다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05 SEQUENCE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14300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8892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Frontend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3756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53212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2668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7260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92124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3000" y="2542032"/>
            <a:ext cx="2194560" cy="0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252728" y="2359152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 로그인 요청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3337560" y="2971800"/>
            <a:ext cx="2194560" cy="0"/>
          </a:xfrm>
          <a:prstGeom prst="line">
            <a:avLst/>
          </a:prstGeom>
          <a:noFill/>
          <a:ln w="2032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447288" y="2788920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  POST /login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5532120" y="3401568"/>
            <a:ext cx="2194560" cy="0"/>
          </a:xfrm>
          <a:prstGeom prst="line">
            <a:avLst/>
          </a:prstGeom>
          <a:noFill/>
          <a:ln w="2032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641848" y="3218688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  자격 검증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7726680" y="3831336"/>
            <a:ext cx="2194560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836408" y="3648456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  사용자 조회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9921240" y="4261104"/>
            <a:ext cx="-2194560" cy="0"/>
          </a:xfrm>
          <a:prstGeom prst="line">
            <a:avLst/>
          </a:prstGeom>
          <a:noFill/>
          <a:ln w="2032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7836408" y="407822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  User row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7726680" y="4690872"/>
            <a:ext cx="-2194560" cy="0"/>
          </a:xfrm>
          <a:prstGeom prst="line">
            <a:avLst/>
          </a:prstGeom>
          <a:noFill/>
          <a:ln w="2032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641848" y="4507992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  인증 결과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5532120" y="5120640"/>
            <a:ext cx="-2194560" cy="0"/>
          </a:xfrm>
          <a:prstGeom prst="line">
            <a:avLst/>
          </a:prstGeom>
          <a:noFill/>
          <a:ln w="2032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3447288" y="4937760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  Token / Session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3337560" y="5550408"/>
            <a:ext cx="-2194560" cy="0"/>
          </a:xfrm>
          <a:prstGeom prst="line">
            <a:avLst/>
          </a:prstGeom>
          <a:noFill/>
          <a:ln w="2032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252728" y="5367528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  UI 상태 변경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템플릿 규칙: 참여자 4~6개 · 메시지 6~10개 · 성공 흐름을 먼저, 실패 흐름은 별도 슬라이드 또는 빨강 보조선으로 분리합니다.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 Diagram은 “상태가 왜 바뀌는지”를 조건과 함께 설명합니다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프로세스·인증·배포·비즈니스 상태 변경을 단순 CRUD와 구분해 보여줍니다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 MACHINE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06 STATE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1005840" y="297180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31821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READY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297180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31821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RUNNING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715000" y="210312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06440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15000" y="384048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06440" y="4050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FAIL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458200" y="384048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9640" y="4050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RETRY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58200" y="210312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49640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06040" y="3300984"/>
            <a:ext cx="594360" cy="0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633472" y="2816352"/>
            <a:ext cx="841248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70048" y="2871216"/>
            <a:ext cx="7680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start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800600" y="3300984"/>
            <a:ext cx="914400" cy="-868680"/>
          </a:xfrm>
          <a:prstGeom prst="line">
            <a:avLst/>
          </a:prstGeom>
          <a:noFill/>
          <a:ln w="2540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074920" y="2542032"/>
            <a:ext cx="896112" cy="256032"/>
          </a:xfrm>
          <a:prstGeom prst="roundRect">
            <a:avLst>
              <a:gd name="adj" fmla="val 21429"/>
            </a:avLst>
          </a:prstGeom>
          <a:solidFill>
            <a:srgbClr val="EAF7E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11496" y="2596896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검증 성공</a:t>
            </a:r>
            <a:endParaRPr lang="en-US" sz="680" dirty="0"/>
          </a:p>
        </p:txBody>
      </p:sp>
      <p:sp>
        <p:nvSpPr>
          <p:cNvPr id="26" name="Shape 24"/>
          <p:cNvSpPr/>
          <p:nvPr/>
        </p:nvSpPr>
        <p:spPr>
          <a:xfrm>
            <a:off x="4800600" y="3300984"/>
            <a:ext cx="914400" cy="868680"/>
          </a:xfrm>
          <a:prstGeom prst="line">
            <a:avLst/>
          </a:prstGeom>
          <a:noFill/>
          <a:ln w="2540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074920" y="3730752"/>
            <a:ext cx="896112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11496" y="3785616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검증 실패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7315200" y="4169664"/>
            <a:ext cx="1143000" cy="0"/>
          </a:xfrm>
          <a:prstGeom prst="line">
            <a:avLst/>
          </a:prstGeom>
          <a:noFill/>
          <a:ln w="2540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88352" y="3730752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FF5DD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24928" y="3785616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복구 가능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9253728" y="3840480"/>
            <a:ext cx="-2761488" cy="-1051560"/>
          </a:xfrm>
          <a:prstGeom prst="line">
            <a:avLst/>
          </a:prstGeom>
          <a:noFill/>
          <a:ln w="2032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955280" y="2834640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FF5DD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91856" y="2889504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retry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7315200" y="2432304"/>
            <a:ext cx="1143000" cy="0"/>
          </a:xfrm>
          <a:prstGeom prst="line">
            <a:avLst/>
          </a:prstGeom>
          <a:noFill/>
          <a:ln w="2540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479792" y="1993392"/>
            <a:ext cx="804672" cy="256032"/>
          </a:xfrm>
          <a:prstGeom prst="roundRect">
            <a:avLst>
              <a:gd name="adj" fmla="val 21429"/>
            </a:avLst>
          </a:prstGeom>
          <a:solidFill>
            <a:srgbClr val="E8F8F5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16368" y="2048256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완료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전이(Transition) 화살표에는 “행동”이 아니라 상태를 바꾸는 조건/이벤트를 적습니다. 예: timeout, valid token, review approved.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ERD는 테이블 목록이 아니라 “관계와 무결성”을 설명해야 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PK/FK, 카디널리티(1:N), 소유권, 삭제 정책을 평가자가 한눈에 볼 수 있게 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07 DATA MODEL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11680"/>
            <a:ext cx="2423160" cy="43891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2148840"/>
            <a:ext cx="2167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13816" y="257860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263347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</a:t>
            </a:r>
            <a:endParaRPr lang="en-US" sz="690" dirty="0"/>
          </a:p>
        </p:txBody>
      </p:sp>
      <p:sp>
        <p:nvSpPr>
          <p:cNvPr id="13" name="Text 11"/>
          <p:cNvSpPr/>
          <p:nvPr/>
        </p:nvSpPr>
        <p:spPr>
          <a:xfrm>
            <a:off x="1216152" y="262432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2258568" y="262432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UUID</a:t>
            </a:r>
            <a:endParaRPr lang="en-US" sz="660" dirty="0"/>
          </a:p>
        </p:txBody>
      </p:sp>
      <p:sp>
        <p:nvSpPr>
          <p:cNvPr id="15" name="Shape 13"/>
          <p:cNvSpPr/>
          <p:nvPr/>
        </p:nvSpPr>
        <p:spPr>
          <a:xfrm>
            <a:off x="795528" y="291693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" y="299008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04495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1216152" y="30358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email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2258568" y="303580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VARCHAR</a:t>
            </a:r>
            <a:endParaRPr lang="en-US" sz="660" dirty="0"/>
          </a:p>
        </p:txBody>
      </p:sp>
      <p:sp>
        <p:nvSpPr>
          <p:cNvPr id="20" name="Shape 18"/>
          <p:cNvSpPr/>
          <p:nvPr/>
        </p:nvSpPr>
        <p:spPr>
          <a:xfrm>
            <a:off x="795528" y="332841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340156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345643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1216152" y="344728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password_hash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258568" y="344728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VARCHAR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795528" y="373989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381304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6791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28" name="Text 26"/>
          <p:cNvSpPr/>
          <p:nvPr/>
        </p:nvSpPr>
        <p:spPr>
          <a:xfrm>
            <a:off x="1216152" y="385876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created_at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2258568" y="385876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DATETIME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4892040" y="1783080"/>
            <a:ext cx="2423160" cy="292608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1783080"/>
            <a:ext cx="2423160" cy="43891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0056" y="1920240"/>
            <a:ext cx="2167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CHAT_SESSION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0056" y="235000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56632" y="240487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5422392" y="239572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464808" y="239572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UUID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5001768" y="268833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0056" y="276148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56632" y="281635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FK</a:t>
            </a:r>
            <a:endParaRPr lang="en-US" sz="690" dirty="0"/>
          </a:p>
        </p:txBody>
      </p:sp>
      <p:sp>
        <p:nvSpPr>
          <p:cNvPr id="40" name="Text 38"/>
          <p:cNvSpPr/>
          <p:nvPr/>
        </p:nvSpPr>
        <p:spPr>
          <a:xfrm>
            <a:off x="5422392" y="28072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user_id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6464808" y="280720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USER.id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5001768" y="309981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056" y="317296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56632" y="322783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45" name="Text 43"/>
          <p:cNvSpPr/>
          <p:nvPr/>
        </p:nvSpPr>
        <p:spPr>
          <a:xfrm>
            <a:off x="5422392" y="321868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title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6464808" y="321868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VARCHAR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5001768" y="351129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0056" y="358444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56632" y="363931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50" name="Text 48"/>
          <p:cNvSpPr/>
          <p:nvPr/>
        </p:nvSpPr>
        <p:spPr>
          <a:xfrm>
            <a:off x="5422392" y="363016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created_at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6464808" y="363016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DATETIME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5001768" y="392277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056" y="399592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56632" y="405079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55" name="Text 53"/>
          <p:cNvSpPr/>
          <p:nvPr/>
        </p:nvSpPr>
        <p:spPr>
          <a:xfrm>
            <a:off x="5422392" y="404164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updated_at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6464808" y="404164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DATETIME</a:t>
            </a:r>
            <a:endParaRPr lang="en-US" sz="660" dirty="0"/>
          </a:p>
        </p:txBody>
      </p:sp>
      <p:sp>
        <p:nvSpPr>
          <p:cNvPr id="57" name="Shape 55"/>
          <p:cNvSpPr/>
          <p:nvPr/>
        </p:nvSpPr>
        <p:spPr>
          <a:xfrm>
            <a:off x="9098280" y="201168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98280" y="2011680"/>
            <a:ext cx="2423160" cy="438912"/>
          </a:xfrm>
          <a:prstGeom prst="rect">
            <a:avLst/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26296" y="2148840"/>
            <a:ext cx="2167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MESSAGE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226296" y="257860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262872" y="263347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9628632" y="262432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10671048" y="262432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UUID</a:t>
            </a:r>
            <a:endParaRPr lang="en-US" sz="660" dirty="0"/>
          </a:p>
        </p:txBody>
      </p:sp>
      <p:sp>
        <p:nvSpPr>
          <p:cNvPr id="64" name="Shape 62"/>
          <p:cNvSpPr/>
          <p:nvPr/>
        </p:nvSpPr>
        <p:spPr>
          <a:xfrm>
            <a:off x="9208008" y="291693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26296" y="299008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262872" y="304495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FK</a:t>
            </a:r>
            <a:endParaRPr lang="en-US" sz="690" dirty="0"/>
          </a:p>
        </p:txBody>
      </p:sp>
      <p:sp>
        <p:nvSpPr>
          <p:cNvPr id="67" name="Text 65"/>
          <p:cNvSpPr/>
          <p:nvPr/>
        </p:nvSpPr>
        <p:spPr>
          <a:xfrm>
            <a:off x="9628632" y="30358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session_id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10671048" y="303580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CHAT_SESSION.id</a:t>
            </a:r>
            <a:endParaRPr lang="en-US" sz="660" dirty="0"/>
          </a:p>
        </p:txBody>
      </p:sp>
      <p:sp>
        <p:nvSpPr>
          <p:cNvPr id="69" name="Shape 67"/>
          <p:cNvSpPr/>
          <p:nvPr/>
        </p:nvSpPr>
        <p:spPr>
          <a:xfrm>
            <a:off x="9208008" y="332841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26296" y="340156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62872" y="345643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72" name="Text 70"/>
          <p:cNvSpPr/>
          <p:nvPr/>
        </p:nvSpPr>
        <p:spPr>
          <a:xfrm>
            <a:off x="9628632" y="344728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role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10671048" y="344728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ENUM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9208008" y="373989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26296" y="381304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262872" y="386791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77" name="Text 75"/>
          <p:cNvSpPr/>
          <p:nvPr/>
        </p:nvSpPr>
        <p:spPr>
          <a:xfrm>
            <a:off x="9628632" y="385876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content</a:t>
            </a:r>
            <a:endParaRPr lang="en-US" sz="720" dirty="0"/>
          </a:p>
        </p:txBody>
      </p:sp>
      <p:sp>
        <p:nvSpPr>
          <p:cNvPr id="78" name="Text 76"/>
          <p:cNvSpPr/>
          <p:nvPr/>
        </p:nvSpPr>
        <p:spPr>
          <a:xfrm>
            <a:off x="10671048" y="385876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TEXT</a:t>
            </a:r>
            <a:endParaRPr lang="en-US" sz="660" dirty="0"/>
          </a:p>
        </p:txBody>
      </p:sp>
      <p:sp>
        <p:nvSpPr>
          <p:cNvPr id="79" name="Shape 77"/>
          <p:cNvSpPr/>
          <p:nvPr/>
        </p:nvSpPr>
        <p:spPr>
          <a:xfrm>
            <a:off x="3108960" y="2971800"/>
            <a:ext cx="1783080" cy="0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547872" y="2606040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584448" y="2660904"/>
            <a:ext cx="676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: N</a:t>
            </a:r>
            <a:endParaRPr lang="en-US" sz="680" dirty="0"/>
          </a:p>
        </p:txBody>
      </p:sp>
      <p:sp>
        <p:nvSpPr>
          <p:cNvPr id="82" name="Shape 80"/>
          <p:cNvSpPr/>
          <p:nvPr/>
        </p:nvSpPr>
        <p:spPr>
          <a:xfrm>
            <a:off x="7315200" y="2971800"/>
            <a:ext cx="1783080" cy="0"/>
          </a:xfrm>
          <a:prstGeom prst="line">
            <a:avLst/>
          </a:prstGeom>
          <a:noFill/>
          <a:ln w="25400">
            <a:solidFill>
              <a:srgbClr val="1BA99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44968" y="2606040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E8F8F5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781544" y="2660904"/>
            <a:ext cx="676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: N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3383280" y="5010912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FBFCFE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593592" y="5175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삭제 정책 예시</a:t>
            </a:r>
            <a:endParaRPr lang="en-US" sz="730" dirty="0"/>
          </a:p>
        </p:txBody>
      </p:sp>
      <p:sp>
        <p:nvSpPr>
          <p:cNvPr id="87" name="Text 85"/>
          <p:cNvSpPr/>
          <p:nvPr/>
        </p:nvSpPr>
        <p:spPr>
          <a:xfrm>
            <a:off x="4709160" y="517550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 삭제 → SESSION / MESSAGE cascade 또는 soft delete 정책을 명시</a:t>
            </a:r>
            <a:endParaRPr lang="en-US" sz="730" dirty="0"/>
          </a:p>
        </p:txBody>
      </p:sp>
      <p:sp>
        <p:nvSpPr>
          <p:cNvPr id="88" name="Shape 86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 발표에서는 “왜 이 관계인가 / 어떤 무결성을 보장하는가 / 누가 데이터를 소유하는가”를 설명해야 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클라우드 아키텍처는 “네트워크 경계 + 허용 흐름 + 최소권한”을 보이게 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B6에서 VPC·Subnet·Security Group·IAM을 한 장에 설명하는 기본형입니다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 / NETWORK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08 CLOUD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283464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3816" y="297180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301752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WWW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1371600" y="295351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Internet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71600" y="3182112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 Client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2560320" y="1719072"/>
            <a:ext cx="8915400" cy="3611880"/>
          </a:xfrm>
          <a:prstGeom prst="roundRect">
            <a:avLst>
              <a:gd name="adj" fmla="val 3544"/>
            </a:avLst>
          </a:prstGeom>
          <a:solidFill>
            <a:srgbClr val="F9FBFD"/>
          </a:solidFill>
          <a:ln w="22860">
            <a:solidFill>
              <a:srgbClr val="2F8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1874520"/>
            <a:ext cx="658368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9776" y="1929384"/>
            <a:ext cx="58521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VPC</a:t>
            </a:r>
            <a:endParaRPr lang="en-US" sz="690" dirty="0"/>
          </a:p>
        </p:txBody>
      </p:sp>
      <p:sp>
        <p:nvSpPr>
          <p:cNvPr id="16" name="Shape 14"/>
          <p:cNvSpPr/>
          <p:nvPr/>
        </p:nvSpPr>
        <p:spPr>
          <a:xfrm>
            <a:off x="2971800" y="2267712"/>
            <a:ext cx="4754880" cy="2542032"/>
          </a:xfrm>
          <a:prstGeom prst="roundRect">
            <a:avLst>
              <a:gd name="adj" fmla="val 3597"/>
            </a:avLst>
          </a:prstGeom>
          <a:solidFill>
            <a:srgbClr val="EAF3FF"/>
          </a:solidFill>
          <a:ln w="12700">
            <a:solidFill>
              <a:srgbClr val="A8CC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4680" y="2432304"/>
            <a:ext cx="105156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91256" y="2487168"/>
            <a:ext cx="9784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SUBNET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3337560" y="2907792"/>
            <a:ext cx="1508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65576" y="304495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65576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IGW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4023360" y="3026664"/>
            <a:ext cx="704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IGW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023360" y="3255264"/>
            <a:ext cx="7040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Internet Gateway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5486400" y="2907792"/>
            <a:ext cx="16002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14416" y="304495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4416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EC2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172200" y="3026664"/>
            <a:ext cx="79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EC2 / App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72200" y="3255264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 Service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5486400" y="388620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14416" y="4023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14416" y="4069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72200" y="4005072"/>
            <a:ext cx="79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Security Group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72200" y="4233672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80 public · 22 restricted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8229600" y="2267712"/>
            <a:ext cx="2697480" cy="2542032"/>
          </a:xfrm>
          <a:prstGeom prst="roundRect">
            <a:avLst>
              <a:gd name="adj" fmla="val 3597"/>
            </a:avLst>
          </a:prstGeom>
          <a:solidFill>
            <a:srgbClr val="FFF5DD"/>
          </a:solidFill>
          <a:ln w="12700">
            <a:solidFill>
              <a:srgbClr val="F6CC7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12480" y="2432304"/>
            <a:ext cx="987552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49056" y="248716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IAM / ROLE</a:t>
            </a:r>
            <a:endParaRPr lang="en-US" sz="690" dirty="0"/>
          </a:p>
        </p:txBody>
      </p:sp>
      <p:sp>
        <p:nvSpPr>
          <p:cNvPr id="37" name="Shape 35"/>
          <p:cNvSpPr/>
          <p:nvPr/>
        </p:nvSpPr>
        <p:spPr>
          <a:xfrm>
            <a:off x="8577072" y="3063240"/>
            <a:ext cx="197510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05088" y="320040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05088" y="324612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IAM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9262872" y="3182112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Least Privilege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262872" y="3410712"/>
            <a:ext cx="11704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EC2/VPC only</a:t>
            </a:r>
            <a:endParaRPr lang="en-US" sz="740" dirty="0"/>
          </a:p>
        </p:txBody>
      </p:sp>
      <p:sp>
        <p:nvSpPr>
          <p:cNvPr id="42" name="Shape 40"/>
          <p:cNvSpPr/>
          <p:nvPr/>
        </p:nvSpPr>
        <p:spPr>
          <a:xfrm>
            <a:off x="2103120" y="3191256"/>
            <a:ext cx="1234440" cy="0"/>
          </a:xfrm>
          <a:prstGeom prst="line">
            <a:avLst/>
          </a:prstGeom>
          <a:noFill/>
          <a:ln w="2794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846320" y="3282696"/>
            <a:ext cx="640080" cy="0"/>
          </a:xfrm>
          <a:prstGeom prst="line">
            <a:avLst/>
          </a:prstGeom>
          <a:noFill/>
          <a:ln w="2794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291072" y="3657600"/>
            <a:ext cx="0" cy="228600"/>
          </a:xfrm>
          <a:prstGeom prst="line">
            <a:avLst/>
          </a:prstGeom>
          <a:noFill/>
          <a:ln w="2286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86600" y="3273552"/>
            <a:ext cx="1490472" cy="182880"/>
          </a:xfrm>
          <a:prstGeom prst="line">
            <a:avLst/>
          </a:prstGeom>
          <a:noFill/>
          <a:ln w="1905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243584" y="2450592"/>
            <a:ext cx="822960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280160" y="2505456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0.0.0.0/0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5358384" y="498348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94960" y="5038344"/>
            <a:ext cx="17556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 BOUNDARY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네트워크 다이어그램은 “어디서 들어와서 어디까지 허용되는지”와 “누가 어떤 권한으로 리소스를 조작하는지”를 분리해 표시합니다.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알고리즘 시각화는 “자료구조 → 연산 단계 → 복잡도”를 같은 프레임에서 설명합니다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B3에서 단순 코드 화면보다 내부 상태 변화와 불변조건(Invariant)을 보여주는 것이 중요합니다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ALGORITHM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09 ALGORITHM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484632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029968"/>
            <a:ext cx="100584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2084832"/>
            <a:ext cx="9326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STRUCTURE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868680" y="24871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Hash Table + Chaining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306324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6382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B0</a:t>
            </a:r>
            <a:endParaRPr lang="en-US" sz="720" dirty="0"/>
          </a:p>
        </p:txBody>
      </p:sp>
      <p:sp>
        <p:nvSpPr>
          <p:cNvPr id="14" name="Shape 12"/>
          <p:cNvSpPr/>
          <p:nvPr/>
        </p:nvSpPr>
        <p:spPr>
          <a:xfrm>
            <a:off x="1938528" y="299923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66544" y="3136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66544" y="3182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24328" y="31181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24328" y="334670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1618488" y="3236976"/>
            <a:ext cx="320040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01568" y="299923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9584" y="3136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9584" y="3182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087368" y="31181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87368" y="334670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3108960" y="3236976"/>
            <a:ext cx="292608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60120" y="356616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366674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938528" y="350215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66544" y="363931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66544" y="368503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624328" y="362102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24328" y="384962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1618488" y="3739896"/>
            <a:ext cx="320040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0120" y="406908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" y="416966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1993392" y="4096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∅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60120" y="457200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5840" y="467258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B3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1938528" y="450799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66544" y="464515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66544" y="46908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624328" y="462686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624328" y="485546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1618488" y="4745736"/>
            <a:ext cx="320040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806440" y="1828800"/>
            <a:ext cx="566928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16752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PROCESS</a:t>
            </a:r>
            <a:endParaRPr lang="en-US" sz="690" dirty="0"/>
          </a:p>
        </p:txBody>
      </p:sp>
      <p:sp>
        <p:nvSpPr>
          <p:cNvPr id="48" name="Text 46"/>
          <p:cNvSpPr/>
          <p:nvPr/>
        </p:nvSpPr>
        <p:spPr>
          <a:xfrm>
            <a:off x="6016752" y="24871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SEARCH("key D")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08076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0877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0877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76656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HASH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76656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index = h(key)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7141464" y="3547872"/>
            <a:ext cx="246888" cy="0"/>
          </a:xfrm>
          <a:prstGeom prst="line">
            <a:avLst/>
          </a:prstGeom>
          <a:noFill/>
          <a:ln w="1905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740664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3465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3465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09244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LOOKUP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244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bucket[0]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467344" y="3547872"/>
            <a:ext cx="246888" cy="0"/>
          </a:xfrm>
          <a:prstGeom prst="line">
            <a:avLst/>
          </a:prstGeom>
          <a:noFill/>
          <a:ln w="1905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873252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6053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86053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941832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SCAN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941832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node → node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9793224" y="3547872"/>
            <a:ext cx="246888" cy="0"/>
          </a:xfrm>
          <a:prstGeom prst="line">
            <a:avLst/>
          </a:prstGeom>
          <a:noFill/>
          <a:ln w="1905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05840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18641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8641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74420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FOUND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1074420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return value</a:t>
            </a:r>
            <a:endParaRPr lang="en-US" sz="740" dirty="0"/>
          </a:p>
        </p:txBody>
      </p:sp>
      <p:sp>
        <p:nvSpPr>
          <p:cNvPr id="72" name="Shape 70"/>
          <p:cNvSpPr/>
          <p:nvPr/>
        </p:nvSpPr>
        <p:spPr>
          <a:xfrm>
            <a:off x="6080760" y="4370832"/>
            <a:ext cx="4800600" cy="566928"/>
          </a:xfrm>
          <a:prstGeom prst="roundRect">
            <a:avLst>
              <a:gd name="adj" fmla="val 16129"/>
            </a:avLst>
          </a:prstGeom>
          <a:solidFill>
            <a:srgbClr val="EAF7E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281928" y="4562856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복잡도: 평균 O(1) · 최악 O(n)    |    불변조건: 같은 key는 하나의 bucket 경로에서 탐색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코드 설명 슬라이드 다음에 이 템플릿을 붙이면 “왜 이 자료구조를 선택했는지”를 시간복잡도와 함께 설명할 수 있습니다.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 협업은 Swimlane으로 “사람의 역할 + 저장소 상태 변화”를 함께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B2-2에서 Issue·Branch·PR·Review·Merge를 실제 협업 흐름으로 설명하는 기본형입니다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 SWIMLANE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 COLLABORATION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81360" cy="841248"/>
          </a:xfrm>
          <a:prstGeom prst="roundRect">
            <a:avLst>
              <a:gd name="adj" fmla="val 5435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11226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Developer 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2907792"/>
            <a:ext cx="10881360" cy="841248"/>
          </a:xfrm>
          <a:prstGeom prst="roundRect">
            <a:avLst>
              <a:gd name="adj" fmla="val 5435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19125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Developer B / Reviewer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58368" y="3986784"/>
            <a:ext cx="10881360" cy="841248"/>
          </a:xfrm>
          <a:prstGeom prst="roundRect">
            <a:avLst>
              <a:gd name="adj" fmla="val 5435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27024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/ main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331720" y="4133088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59736" y="427024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59736" y="431596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425196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Issue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75888" y="1947672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03904" y="20848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03904" y="2130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1688" y="2066544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Branch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1947672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0056" y="20848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0056" y="2130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77840" y="2066544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Commit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08192" y="4133088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36208" y="427024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431596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93992" y="425196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0" y="3026664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31638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43216" y="320954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3145536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Review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540496" y="1947672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68512" y="20848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68512" y="2130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226296" y="2066544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Fix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765792" y="4133088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93808" y="427024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93808" y="431596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451592" y="425196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Merge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291840" y="4370832"/>
            <a:ext cx="530352" cy="-1947672"/>
          </a:xfrm>
          <a:prstGeom prst="line">
            <a:avLst/>
          </a:prstGeom>
          <a:noFill/>
          <a:ln w="2032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636008" y="2194560"/>
            <a:ext cx="256032" cy="0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852160" y="2194560"/>
            <a:ext cx="384048" cy="1938528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68312" y="4370832"/>
            <a:ext cx="356616" cy="-1097280"/>
          </a:xfrm>
          <a:prstGeom prst="line">
            <a:avLst/>
          </a:prstGeom>
          <a:noFill/>
          <a:ln w="2032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275320" y="3273552"/>
            <a:ext cx="265176" cy="-1078992"/>
          </a:xfrm>
          <a:prstGeom prst="line">
            <a:avLst/>
          </a:prstGeom>
          <a:noFill/>
          <a:ln w="2032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500616" y="2194560"/>
            <a:ext cx="356616" cy="1938528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040880" y="5120640"/>
            <a:ext cx="1417320" cy="256032"/>
          </a:xfrm>
          <a:prstGeom prst="roundRect">
            <a:avLst>
              <a:gd name="adj" fmla="val 21429"/>
            </a:avLst>
          </a:prstGeom>
          <a:solidFill>
            <a:srgbClr val="E8F8F5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77456" y="5175504"/>
            <a:ext cx="1344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Feedback ≥ 1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8732520" y="512064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69096" y="5175504"/>
            <a:ext cx="1527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Conflict / Rebase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발표에서는 각 노드 아래에 Issue/PR 번호와 Commit SHA를 작게 붙이면 “증빙 가능한 협업”으로 바뀝니다.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문제 해결은 “증상 → 가설 → 검증 → 원인 → 조치 → 재발방지”로 닫습니다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B1·B6뿐 아니라 모든 미션의 평가 Q&amp;A에 사용할 수 있는 RCA(Root Cause Analysis) 템플릿입니다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TROUBLESHOOTING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 RCA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21792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SYMPTOM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786384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접속 실패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86384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2194560" y="3255264"/>
            <a:ext cx="310896" cy="0"/>
          </a:xfrm>
          <a:prstGeom prst="line">
            <a:avLst/>
          </a:prstGeom>
          <a:noFill/>
          <a:ln w="2286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05456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60904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HYPOTHESIS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2670048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SG / Route / Service?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70048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4078224" y="3255264"/>
            <a:ext cx="310896" cy="0"/>
          </a:xfrm>
          <a:prstGeom prst="line">
            <a:avLst/>
          </a:prstGeom>
          <a:noFill/>
          <a:ln w="2286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89120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VERIFY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4553712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curl · ss · logs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53712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관찰 가능한 명령/로그로</a:t>
            </a:r>
            <a:endParaRPr lang="en-US" sz="690" dirty="0"/>
          </a:p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가설을 좁힙니다.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5961888" y="3255264"/>
            <a:ext cx="310896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72784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28232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64808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ROOT CAUSE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6437376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80/tcp rule 누락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37376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845552" y="3255264"/>
            <a:ext cx="310896" cy="0"/>
          </a:xfrm>
          <a:prstGeom prst="line">
            <a:avLst/>
          </a:prstGeom>
          <a:noFill/>
          <a:ln w="2286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56448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11896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48472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ACTION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8321040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SG rule 수정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321040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37" name="Shape 35"/>
          <p:cNvSpPr/>
          <p:nvPr/>
        </p:nvSpPr>
        <p:spPr>
          <a:xfrm>
            <a:off x="9729216" y="3255264"/>
            <a:ext cx="310896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40112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195560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32136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PREVENT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10204704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checklist / test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204704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자동화/문서화로</a:t>
            </a:r>
            <a:endParaRPr lang="en-US" sz="690" dirty="0"/>
          </a:p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같은 오류를 막습니다.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1188720" y="4800600"/>
            <a:ext cx="9738360" cy="658368"/>
          </a:xfrm>
          <a:prstGeom prst="roundRect">
            <a:avLst>
              <a:gd name="adj" fmla="val 13889"/>
            </a:avLst>
          </a:prstGeom>
          <a:solidFill>
            <a:srgbClr val="0B2035"/>
          </a:solidFill>
          <a:ln w="10160">
            <a:solidFill>
              <a:srgbClr val="0B203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17320" y="5020056"/>
            <a:ext cx="9281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 = 명령 + 실제 출력 + 시각 + Repository / Branch / Commit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가장 흔한 감점 포인트: “고쳤다”만 말하고, 어떤 근거로 원인을 확정했는지 보여주지 않는 것.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보안 다이어그램은 “신뢰 경계(Trust Boundary)”를 먼저 그린 뒤 통신을 배치합니다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인증(Authentication)과 인가(Authorization), Secret, IAM, 네트워크 정책을 한 프레임에 정리합니다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SECURITY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 SECURITY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2743200" cy="33375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 w="13970">
            <a:solidFill>
              <a:srgbClr val="A9CC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993392"/>
            <a:ext cx="114300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6696" y="2048256"/>
            <a:ext cx="10698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UNTRUSTED</a:t>
            </a:r>
            <a:endParaRPr lang="en-US" sz="690" dirty="0"/>
          </a:p>
        </p:txBody>
      </p:sp>
      <p:sp>
        <p:nvSpPr>
          <p:cNvPr id="11" name="Shape 9"/>
          <p:cNvSpPr/>
          <p:nvPr/>
        </p:nvSpPr>
        <p:spPr>
          <a:xfrm>
            <a:off x="1143000" y="2743200"/>
            <a:ext cx="192024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71016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71016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28800" y="286207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Browser / User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28800" y="3090672"/>
            <a:ext cx="11155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No server secret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3886200" y="1828800"/>
            <a:ext cx="4663440" cy="3337560"/>
          </a:xfrm>
          <a:prstGeom prst="roundRect">
            <a:avLst>
              <a:gd name="adj" fmla="val 3288"/>
            </a:avLst>
          </a:prstGeom>
          <a:solidFill>
            <a:srgbClr val="F6F9FC"/>
          </a:solidFill>
          <a:ln w="20320">
            <a:solidFill>
              <a:srgbClr val="1231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0" y="1993392"/>
            <a:ext cx="1024128" cy="256032"/>
          </a:xfrm>
          <a:prstGeom prst="roundRect">
            <a:avLst>
              <a:gd name="adj" fmla="val 28571"/>
            </a:avLst>
          </a:prstGeom>
          <a:solidFill>
            <a:srgbClr val="12314E">
              <a:alpha val="12000"/>
            </a:srgbClr>
          </a:solidFill>
          <a:ln w="12700">
            <a:solidFill>
              <a:srgbClr val="12314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51376" y="2048256"/>
            <a:ext cx="9509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TRUSTED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4297680" y="2743200"/>
            <a:ext cx="1600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25696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4983480" y="2862072"/>
            <a:ext cx="79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83480" y="3090672"/>
            <a:ext cx="79552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 check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6355080" y="2743200"/>
            <a:ext cx="17190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83096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83096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SVC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040880" y="2862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Service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040880" y="309067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Policy / owner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5285232" y="3977640"/>
            <a:ext cx="1755648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411480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13248" y="416052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5971032" y="409651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Secret Store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971032" y="4325112"/>
            <a:ext cx="9509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/ Token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8915400" y="1828800"/>
            <a:ext cx="2423160" cy="3337560"/>
          </a:xfrm>
          <a:prstGeom prst="roundRect">
            <a:avLst>
              <a:gd name="adj" fmla="val 4528"/>
            </a:avLst>
          </a:prstGeom>
          <a:solidFill>
            <a:srgbClr val="E8F8F5"/>
          </a:solidFill>
          <a:ln w="13970">
            <a:solidFill>
              <a:srgbClr val="1BA99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199339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80576" y="2048256"/>
            <a:ext cx="8869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ZONE</a:t>
            </a:r>
            <a:endParaRPr lang="en-US" sz="690" dirty="0"/>
          </a:p>
        </p:txBody>
      </p:sp>
      <p:sp>
        <p:nvSpPr>
          <p:cNvPr id="37" name="Shape 35"/>
          <p:cNvSpPr/>
          <p:nvPr/>
        </p:nvSpPr>
        <p:spPr>
          <a:xfrm>
            <a:off x="9217152" y="2743200"/>
            <a:ext cx="18288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45168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45168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902952" y="286207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Database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902952" y="3090672"/>
            <a:ext cx="102412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Owner / FK</a:t>
            </a:r>
            <a:endParaRPr lang="en-US" sz="740" dirty="0"/>
          </a:p>
        </p:txBody>
      </p:sp>
      <p:sp>
        <p:nvSpPr>
          <p:cNvPr id="42" name="Shape 40"/>
          <p:cNvSpPr/>
          <p:nvPr/>
        </p:nvSpPr>
        <p:spPr>
          <a:xfrm>
            <a:off x="3063240" y="3136392"/>
            <a:ext cx="1234440" cy="0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401568" y="267004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38144" y="2724912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HTTPS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5897880" y="3136392"/>
            <a:ext cx="457200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907024" y="267004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0ED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2724912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AuthZ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8074152" y="3136392"/>
            <a:ext cx="1143000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080760" y="3977640"/>
            <a:ext cx="0" cy="-448056"/>
          </a:xfrm>
          <a:prstGeom prst="line">
            <a:avLst/>
          </a:prstGeom>
          <a:noFill/>
          <a:ln w="1905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5458968" y="5029200"/>
            <a:ext cx="1536192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95544" y="5084064"/>
            <a:ext cx="1463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Secret never to client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색상만으로 보안을 표현하지 말고, 경계 박스 + 라벨 + 허용 방향을 함께 표시해 접근 제어 논리를 명확히 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 → After는 “무엇이 좋아졌는지”를 구조적 차이와 근거로 설명합니다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리팩터링·성능 개선·UX 개선을 “예뻐졌다”가 아니라 측정 가능한 변화로 표현합니다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 / AFTER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 IMPROVEMENT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1874520"/>
            <a:ext cx="5074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084832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139696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896112" y="2606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파일에 모든 책임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246120"/>
            <a:ext cx="1444752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2529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3364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83080" y="359359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입력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788920" y="3246120"/>
            <a:ext cx="1444752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693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1693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364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Logic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74720" y="359359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처리</a:t>
            </a:r>
            <a:endParaRPr lang="en-US" sz="740" dirty="0"/>
          </a:p>
        </p:txBody>
      </p:sp>
      <p:sp>
        <p:nvSpPr>
          <p:cNvPr id="22" name="Shape 20"/>
          <p:cNvSpPr/>
          <p:nvPr/>
        </p:nvSpPr>
        <p:spPr>
          <a:xfrm>
            <a:off x="4480560" y="3246120"/>
            <a:ext cx="9601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0857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0857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66360" y="3364992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66360" y="3593592"/>
            <a:ext cx="1554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저장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2542032" y="3557016"/>
            <a:ext cx="246888" cy="0"/>
          </a:xfrm>
          <a:prstGeom prst="line">
            <a:avLst/>
          </a:prstGeom>
          <a:noFill/>
          <a:ln w="1778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233672" y="3557016"/>
            <a:ext cx="246888" cy="0"/>
          </a:xfrm>
          <a:prstGeom prst="line">
            <a:avLst/>
          </a:prstGeom>
          <a:noFill/>
          <a:ln w="1778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078992" y="431596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오류 처리 중복 · 테스트 어려움 · 변경 영향 큼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00800" y="1874520"/>
            <a:ext cx="5074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11112" y="2084832"/>
            <a:ext cx="841248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47688" y="2139696"/>
            <a:ext cx="7680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AFTER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6611112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책임 분리 + 검증 가능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720840" y="3246120"/>
            <a:ext cx="1051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4885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4885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406640" y="3364992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406640" y="3593592"/>
            <a:ext cx="2468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입력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8019288" y="3246120"/>
            <a:ext cx="1051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47304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47304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05088" y="3364992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Service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705088" y="3593592"/>
            <a:ext cx="2468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규칙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9317736" y="3246120"/>
            <a:ext cx="1051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445752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45752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0003536" y="3364992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Repo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003536" y="3593592"/>
            <a:ext cx="2468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저장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10616184" y="3246120"/>
            <a:ext cx="594360" cy="62179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44200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44200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1301984" y="3364992"/>
            <a:ext cx="-210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772400" y="3557016"/>
            <a:ext cx="246888" cy="0"/>
          </a:xfrm>
          <a:prstGeom prst="line">
            <a:avLst/>
          </a:prstGeom>
          <a:noFill/>
          <a:ln w="1778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9070848" y="3557016"/>
            <a:ext cx="246888" cy="0"/>
          </a:xfrm>
          <a:prstGeom prst="line">
            <a:avLst/>
          </a:prstGeom>
          <a:noFill/>
          <a:ln w="1778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369296" y="3557016"/>
            <a:ext cx="246888" cy="0"/>
          </a:xfrm>
          <a:prstGeom prst="line">
            <a:avLst/>
          </a:prstGeom>
          <a:noFill/>
          <a:ln w="1778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6748272" y="4315968"/>
            <a:ext cx="4370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단위 테스트 가능 · 예외 처리 일관 · 변경 범위 축소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440680" y="3291840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77256" y="334670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IMPROVE →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가능하면 Before/After 아래에 실제 수치(테스트 수, 응답시간, 오류율, 파일 수 등)를 1~2개만 추가합니다.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 발표의 핵심은 “요구사항이 어떤 증빙으로 닫혔는지”를 추적 가능하게 만드는 것입니다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Requirement → Implementation → Verification → Evidence → Evaluation을 한 줄로 연결합니다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TRACEABILITY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 EVIDENCE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12314E">
              <a:alpha val="12000"/>
            </a:srgbClr>
          </a:solidFill>
          <a:ln w="12700">
            <a:solidFill>
              <a:srgbClr val="12314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MISSION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713232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원본 요구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121408" y="3383280"/>
            <a:ext cx="329184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450592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87752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24328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REQ-ID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2615184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필수 항목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15184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REQ-B1-1-03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023360" y="3383280"/>
            <a:ext cx="329184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52544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89704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IMPLEMENT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4517136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코드 / 설정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17136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monitor.sh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925312" y="3383280"/>
            <a:ext cx="329184" cy="0"/>
          </a:xfrm>
          <a:prstGeom prst="line">
            <a:avLst/>
          </a:prstGeom>
          <a:noFill/>
          <a:ln w="2286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54496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91656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28232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VERIFY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6419088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/ 실행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19088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ss / log / cron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827264" y="3383280"/>
            <a:ext cx="329184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56448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293608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30184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8321040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로그 / 캡처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321040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evidence/...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729216" y="3383280"/>
            <a:ext cx="329184" cy="0"/>
          </a:xfrm>
          <a:prstGeom prst="line">
            <a:avLst/>
          </a:prstGeom>
          <a:noFill/>
          <a:ln w="2286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58400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195560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32136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EVALUATE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10222992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설명 / Q&amp;A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222992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이렇게 설계?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828800" y="4919472"/>
            <a:ext cx="8503920" cy="566928"/>
          </a:xfrm>
          <a:prstGeom prst="roundRect">
            <a:avLst>
              <a:gd name="adj" fmla="val 16129"/>
            </a:avLst>
          </a:prstGeom>
          <a:solidFill>
            <a:srgbClr val="0B2035"/>
          </a:solidFill>
          <a:ln w="10160">
            <a:solidFill>
              <a:srgbClr val="0B203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57400" y="5111496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평가자 관점: “이 기능이 있다는 주장”보다 “요구사항 → 실제 결과 → 증빙”이 연결되어 있는지가 중요합니다.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 템플릿은 각 미션의 최종 Verification Dashboard 바로 앞 또는 뒤에 배치하는 것을 권장합니다.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연구 파이프라인은 “질문 → 방법 → 실험 → 평가 → 결론”의 논리를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석·박사·연구원·학회 발표에서 미션 결과를 연구형 스토리로 확장할 때 사용합니다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RESEARCH PIPELINE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 RESEARCH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03504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06424" y="2487168"/>
            <a:ext cx="566928" cy="5669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58952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QUESTION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58952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무엇을 알고 싶은가?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2176272" y="3383280"/>
            <a:ext cx="310896" cy="0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487168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90088" y="2487168"/>
            <a:ext cx="566928" cy="566928"/>
          </a:xfrm>
          <a:prstGeom prst="ellipse">
            <a:avLst/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0088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642616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2642616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무엇을 관찰하는가?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4059936" y="3383280"/>
            <a:ext cx="310896" cy="0"/>
          </a:xfrm>
          <a:prstGeom prst="line">
            <a:avLst/>
          </a:prstGeom>
          <a:noFill/>
          <a:ln w="2032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70832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73752" y="2487168"/>
            <a:ext cx="566928" cy="566928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26280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METHOD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4526280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어떻게 해결하는가?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5943600" y="3383280"/>
            <a:ext cx="310896" cy="0"/>
          </a:xfrm>
          <a:prstGeom prst="line">
            <a:avLst/>
          </a:prstGeom>
          <a:noFill/>
          <a:ln w="2032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54496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757416" y="2487168"/>
            <a:ext cx="566928" cy="566928"/>
          </a:xfrm>
          <a:prstGeom prst="ellipse">
            <a:avLst/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57416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409944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EXPERIMENT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409944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어떻게 검증하는가?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827264" y="3383280"/>
            <a:ext cx="310896" cy="0"/>
          </a:xfrm>
          <a:prstGeom prst="line">
            <a:avLst/>
          </a:prstGeom>
          <a:noFill/>
          <a:ln w="2032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38160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641080" y="2487168"/>
            <a:ext cx="566928" cy="566928"/>
          </a:xfrm>
          <a:prstGeom prst="ellipse">
            <a:avLst/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41080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293608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METRIC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8293608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무엇으로 비교하는가?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9710928" y="3383280"/>
            <a:ext cx="310896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21824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524744" y="2487168"/>
            <a:ext cx="566928" cy="566928"/>
          </a:xfrm>
          <a:prstGeom prst="ellipse">
            <a:avLst/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524744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0177272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CONCLUSION</a:t>
            </a:r>
            <a:endParaRPr lang="en-US" sz="930" dirty="0"/>
          </a:p>
        </p:txBody>
      </p:sp>
      <p:sp>
        <p:nvSpPr>
          <p:cNvPr id="42" name="Text 40"/>
          <p:cNvSpPr/>
          <p:nvPr/>
        </p:nvSpPr>
        <p:spPr>
          <a:xfrm>
            <a:off x="10177272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무엇을 주장할 수 있는가?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1920240" y="4846320"/>
            <a:ext cx="8321040" cy="621792"/>
          </a:xfrm>
          <a:prstGeom prst="roundRect">
            <a:avLst>
              <a:gd name="adj" fmla="val 14706"/>
            </a:avLst>
          </a:prstGeom>
          <a:solidFill>
            <a:srgbClr val="FBFCFE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48840" y="5047488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연구형 제목 예시: “ACL 기반 권한 분리가 운영 오류와 접근 위반을 어떻게 줄이는가?”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미션 발표를 학술 발표로 확장할 때는 “무엇을 만들었나”에서 “무엇을 검증했나”로 중심 질문을 바꿉니다.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실험 설계는 비교 대상·측정 지표·통제 조건을 분리해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성능·정확도·사용성·복구시간 등 “좋아졌다”는 주장을 검증 가능한 형태로 바꿉니다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EXPERIMENT DESIGN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 EXPERIMENT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187452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08483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139696"/>
            <a:ext cx="8869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BASELINE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896112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 방식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31546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수동 점검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단일 파일 구조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무제한 검색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608576" y="187452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18888" y="2084832"/>
            <a:ext cx="114300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55464" y="2139696"/>
            <a:ext cx="10698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PROPOSED</a:t>
            </a:r>
            <a:endParaRPr lang="en-US" sz="690" dirty="0"/>
          </a:p>
        </p:txBody>
      </p:sp>
      <p:sp>
        <p:nvSpPr>
          <p:cNvPr id="16" name="Text 14"/>
          <p:cNvSpPr/>
          <p:nvPr/>
        </p:nvSpPr>
        <p:spPr>
          <a:xfrm>
            <a:off x="4818888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개선 방식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18888" y="31546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자동화 모니터링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계층 분리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인덱스 탐색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31352" y="187452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741664" y="208483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213969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METRICS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8741664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 지표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759952" y="3182112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96528" y="3236976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9921240" y="3246120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8759952" y="3621024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96528" y="3675888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Error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9921240" y="3685032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count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8759952" y="4059936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96528" y="411480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Coverage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9921240" y="4123944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%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8759952" y="4498848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96528" y="4553712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Memory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9921240" y="4562856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MB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3657600" y="3657600"/>
            <a:ext cx="950976" cy="0"/>
          </a:xfrm>
          <a:prstGeom prst="line">
            <a:avLst/>
          </a:prstGeom>
          <a:noFill/>
          <a:ln w="2159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580376" y="3657600"/>
            <a:ext cx="950976" cy="0"/>
          </a:xfrm>
          <a:prstGeom prst="line">
            <a:avLst/>
          </a:prstGeom>
          <a:noFill/>
          <a:ln w="2159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실험 슬라이드에는 데이터 수·반복 횟수·통제 조건을 작은 캡션으로 적어 재현 가능성(Reproducibility)을 높입니다.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End-to-End 서비스 다이어그램은 사용자 행동과 내부 시스템 흐름을 한 번에 연결합니다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B7 Term Project에서 “서비스가 실제로 어떻게 완성되는가”를 설명하는 대표 슬라이드입니다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END-TO-END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 SERVICE FLOW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4416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4416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요청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2139696" y="3218688"/>
            <a:ext cx="393192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3288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090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6090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1868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1868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UI / Auth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4014216" y="3218688"/>
            <a:ext cx="393192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0740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3542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9320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9320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Validate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888736" y="3218688"/>
            <a:ext cx="393192" cy="0"/>
          </a:xfrm>
          <a:prstGeom prst="line">
            <a:avLst/>
          </a:prstGeom>
          <a:noFill/>
          <a:ln w="2286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8192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994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994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6772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96772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4. Inference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7763256" y="3218688"/>
            <a:ext cx="393192" cy="0"/>
          </a:xfrm>
          <a:prstGeom prst="line">
            <a:avLst/>
          </a:prstGeom>
          <a:noFill/>
          <a:ln w="2286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5644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8446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446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84224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84224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5. Persist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9637776" y="3218688"/>
            <a:ext cx="393192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3096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5898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5898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71676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RESULT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071676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6. Response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1005840" y="4434840"/>
            <a:ext cx="10058400" cy="749808"/>
          </a:xfrm>
          <a:prstGeom prst="roundRect">
            <a:avLst>
              <a:gd name="adj" fmla="val 9756"/>
            </a:avLst>
          </a:prstGeom>
          <a:solidFill>
            <a:srgbClr val="F4F7FA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88720" y="466344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225296" y="4718304"/>
            <a:ext cx="7498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2240280" y="4709160"/>
            <a:ext cx="1234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URL / HTTP 200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388620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 owner check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553212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AI response log</a:t>
            </a:r>
            <a:endParaRPr lang="en-US" sz="760" dirty="0"/>
          </a:p>
        </p:txBody>
      </p:sp>
      <p:sp>
        <p:nvSpPr>
          <p:cNvPr id="49" name="Text 47"/>
          <p:cNvSpPr/>
          <p:nvPr/>
        </p:nvSpPr>
        <p:spPr>
          <a:xfrm>
            <a:off x="717804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 row / ERD</a:t>
            </a:r>
            <a:endParaRPr lang="en-US" sz="760" dirty="0"/>
          </a:p>
        </p:txBody>
      </p:sp>
      <p:sp>
        <p:nvSpPr>
          <p:cNvPr id="50" name="Text 48"/>
          <p:cNvSpPr/>
          <p:nvPr/>
        </p:nvSpPr>
        <p:spPr>
          <a:xfrm>
            <a:off x="882396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Deployed URL</a:t>
            </a:r>
            <a:endParaRPr lang="en-US" sz="760" dirty="0"/>
          </a:p>
        </p:txBody>
      </p:sp>
      <p:sp>
        <p:nvSpPr>
          <p:cNvPr id="51" name="Shape 49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서비스 흐름 아래에 실제 증빙 포인트를 나란히 두면 “기능 설명”과 “검증 결과”가 한 장에서 연결됩니다.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다이어그램 스타일 가이드는 모든 미션 발표의 시각 문법을 고정합니다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색·선·경계·노드·라벨의 의미를 바꾸지 않아야 발표 전체가 하나의 시스템처럼 보입니다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STYLE GUIDE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 STYLE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76656" y="18288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AF3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19751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2456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288536" y="18288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DF3F8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53128" y="19751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4336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Platform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900416" y="18288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8F8F5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5008" y="19751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6216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76656" y="27432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FFF5DD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28895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62456" y="29626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288536" y="27432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FDEDEC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53128" y="28895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74336" y="29626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Failure / Security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900416" y="27432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AF7E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65008" y="28895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86216" y="29626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Success / Evidence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" y="3822192"/>
            <a:ext cx="31546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77824" y="4023360"/>
            <a:ext cx="73152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078224"/>
            <a:ext cx="6583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LINES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914400" y="4754880"/>
            <a:ext cx="1097280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157984" y="466344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실선 = 주 흐름</a:t>
            </a:r>
            <a:endParaRPr lang="en-US" sz="730" dirty="0"/>
          </a:p>
        </p:txBody>
      </p:sp>
      <p:sp>
        <p:nvSpPr>
          <p:cNvPr id="31" name="Shape 29"/>
          <p:cNvSpPr/>
          <p:nvPr/>
        </p:nvSpPr>
        <p:spPr>
          <a:xfrm>
            <a:off x="914400" y="5029200"/>
            <a:ext cx="109728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2157984" y="493776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점선 = 외부 / 선택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4151376" y="3822192"/>
            <a:ext cx="31546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52544" y="4023360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0" y="4078224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BOUNDARY</a:t>
            </a:r>
            <a:endParaRPr lang="en-US" sz="690" dirty="0"/>
          </a:p>
        </p:txBody>
      </p:sp>
      <p:sp>
        <p:nvSpPr>
          <p:cNvPr id="36" name="Shape 34"/>
          <p:cNvSpPr/>
          <p:nvPr/>
        </p:nvSpPr>
        <p:spPr>
          <a:xfrm>
            <a:off x="4498848" y="4480560"/>
            <a:ext cx="9601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240">
            <a:solidFill>
              <a:srgbClr val="D95D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32704" y="455371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경계는 점선 박스 + 라벨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7626096" y="3822192"/>
            <a:ext cx="31546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27264" y="4023360"/>
            <a:ext cx="73152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4078224"/>
            <a:ext cx="6583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LABEL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7882128" y="4526280"/>
            <a:ext cx="1024128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18704" y="4581144"/>
            <a:ext cx="9509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HTTPS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9034272" y="4526280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F0ED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70848" y="458114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AuthZ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7909560" y="493776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조건·프로토콜은 화살표 옆 라벨</a:t>
            </a:r>
            <a:endParaRPr lang="en-US" sz="730" dirty="0"/>
          </a:p>
        </p:txBody>
      </p:sp>
      <p:sp>
        <p:nvSpPr>
          <p:cNvPr id="46" name="Shape 44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접근성: 색상만으로 의미를 구분하지 말고 텍스트 라벨·경계·선 형태를 함께 사용합니다.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다이어그램 생성 프롬프트는 “목적 + 독자 + 구조 + 증빙 + 디자인 규칙”으로 작성합니다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미션 발표를 만들 때 아래 프롬프트를 복사해 다이어그램 초안을 설계합니다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PROMPT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 PROMPT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1783080"/>
            <a:ext cx="7543800" cy="4160520"/>
          </a:xfrm>
          <a:prstGeom prst="roundRect">
            <a:avLst>
              <a:gd name="adj" fmla="val 2198"/>
            </a:avLst>
          </a:prstGeom>
          <a:solidFill>
            <a:srgbClr val="071827"/>
          </a:solidFill>
          <a:ln w="10160">
            <a:solidFill>
              <a:srgbClr val="0718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48256"/>
            <a:ext cx="7059168" cy="3611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[역할] 기술 발표 시각화 설계자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[대상] 코디세이 {MISSION_ID} 평가 / 학부 / 대학원 / 학회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[목표] 평가자가 10초 안에 구조와 핵심 판단을 이해하도록 한다.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[입력]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공식 요구사항: {REQ}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구현 구조: {ARCH}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실제 검증: {VERIFY}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증빙: {EVIDENCE}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[출력]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가장 적합한 다이어그램 유형 1개 선택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노드 4~7개, 한 노드 한 책임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실선=주 흐름, 점선=외부/선택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4. 보안/외부 경계 분리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5. 제목은 결론형 문장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6. 하단에 검증·Evidence 1줄 연결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7. 16:9 PowerPoint 편집 가능한 벡터 구성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503920" y="1783080"/>
            <a:ext cx="2999232" cy="4160520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732520" y="2011680"/>
            <a:ext cx="105156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69096" y="2066544"/>
            <a:ext cx="9784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CHECKLIST</a:t>
            </a:r>
            <a:endParaRPr lang="en-US" sz="690" dirty="0"/>
          </a:p>
        </p:txBody>
      </p:sp>
      <p:sp>
        <p:nvSpPr>
          <p:cNvPr id="13" name="Text 11"/>
          <p:cNvSpPr/>
          <p:nvPr/>
        </p:nvSpPr>
        <p:spPr>
          <a:xfrm>
            <a:off x="8759952" y="259689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한 장 한 메시지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8759952" y="295351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제목이 결론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8759952" y="3310128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노드 4~7개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8759952" y="3666744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책임 1줄</a:t>
            </a:r>
            <a:endParaRPr lang="en-US" sz="810" dirty="0"/>
          </a:p>
        </p:txBody>
      </p:sp>
      <p:sp>
        <p:nvSpPr>
          <p:cNvPr id="17" name="Text 15"/>
          <p:cNvSpPr/>
          <p:nvPr/>
        </p:nvSpPr>
        <p:spPr>
          <a:xfrm>
            <a:off x="8759952" y="402336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흐름 방향 명확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8759952" y="437997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경계/외부 구분</a:t>
            </a:r>
            <a:endParaRPr lang="en-US" sz="810" dirty="0"/>
          </a:p>
        </p:txBody>
      </p:sp>
      <p:sp>
        <p:nvSpPr>
          <p:cNvPr id="19" name="Text 17"/>
          <p:cNvSpPr/>
          <p:nvPr/>
        </p:nvSpPr>
        <p:spPr>
          <a:xfrm>
            <a:off x="8759952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Evidence 연결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8759952" y="5093208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색 외 라벨 제공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운영 원칙: 다이어그램은 실제 구현과 Evidence를 과장하지 않으며, 공식 Mission / Evaluation을 항상 우선합니다.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Codyssey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Codyssey Technical Diagram Library</dc:title>
  <dc:subject>Codyssey Technical Diagram Library</dc:subject>
  <dc:creator>OpenAI</dc:creator>
  <cp:lastModifiedBy>OpenAI</cp:lastModifiedBy>
  <cp:revision>1</cp:revision>
  <dcterms:created xsi:type="dcterms:W3CDTF">2026-09-03T15:47:29Z</dcterms:created>
  <dcterms:modified xsi:type="dcterms:W3CDTF">2026-09-03T15:47:29Z</dcterms:modified>
</cp:coreProperties>
</file>