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SE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5212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70" kern="0" dirty="0">
                <a:solidFill>
                  <a:srgbClr val="2F80E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CODYSSEY · TECHNICAL DIAGRAM LIBRARY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675120" y="164592"/>
            <a:ext cx="4983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B879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B1-1 ~ B7-2 · Evaluation / Research / Engineering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6510528"/>
            <a:ext cx="11155680" cy="0"/>
          </a:xfrm>
          <a:prstGeom prst="line">
            <a:avLst/>
          </a:prstGeom>
          <a:noFill/>
          <a:ln w="10160">
            <a:solidFill>
              <a:srgbClr val="D7DE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65392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A0AAB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Editable vector template · Source → Structure → Flow → Evidence</a:t>
            </a:r>
            <a:endParaRPr lang="en-US" sz="7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28816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A0AAB6"/>
                </a:solidFill>
                <a:latin typeface="Noto Sans CJK KR"/>
                <a:ea typeface="Noto Sans CJK KR"/>
                <a:cs typeface="Noto Sans CJK KR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28816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A0AAB6"/>
                </a:solidFill>
                <a:latin typeface="Noto Sans CJK KR"/>
                <a:ea typeface="Noto Sans CJK KR"/>
                <a:cs typeface="Noto Sans CJK KR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827"/>
          </a:solidFill>
          <a:ln w="12700">
            <a:solidFill>
              <a:srgbClr val="0718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26680" y="320040"/>
            <a:ext cx="3931920" cy="3931920"/>
          </a:xfrm>
          <a:prstGeom prst="ellipse">
            <a:avLst/>
          </a:prstGeom>
          <a:solidFill>
            <a:srgbClr val="2F80ED">
              <a:alpha val="12000"/>
            </a:srgbClr>
          </a:solidFill>
          <a:ln w="12700">
            <a:solidFill>
              <a:srgbClr val="2F80ED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915400" y="1920240"/>
            <a:ext cx="2377440" cy="2377440"/>
          </a:xfrm>
          <a:prstGeom prst="ellipse">
            <a:avLst/>
          </a:prstGeom>
          <a:solidFill>
            <a:srgbClr val="1BA99A">
              <a:alpha val="14000"/>
            </a:srgbClr>
          </a:solidFill>
          <a:ln w="12700">
            <a:solidFill>
              <a:srgbClr val="1BA99A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0" y="1188720"/>
            <a:ext cx="1371600" cy="-320040"/>
          </a:xfrm>
          <a:prstGeom prst="line">
            <a:avLst/>
          </a:prstGeom>
          <a:noFill/>
          <a:ln w="15240">
            <a:solidFill>
              <a:srgbClr val="4B9DFF">
                <a:alpha val="8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01200" y="868680"/>
            <a:ext cx="1234440" cy="640080"/>
          </a:xfrm>
          <a:prstGeom prst="line">
            <a:avLst/>
          </a:prstGeom>
          <a:noFill/>
          <a:ln w="15240">
            <a:solidFill>
              <a:srgbClr val="4B9DFF">
                <a:alpha val="8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0" y="1188720"/>
            <a:ext cx="1005840" cy="914400"/>
          </a:xfrm>
          <a:prstGeom prst="line">
            <a:avLst/>
          </a:prstGeom>
          <a:noFill/>
          <a:ln w="15240">
            <a:solidFill>
              <a:srgbClr val="4B9DFF">
                <a:alpha val="8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235440" y="2103120"/>
            <a:ext cx="1188720" cy="411480"/>
          </a:xfrm>
          <a:prstGeom prst="line">
            <a:avLst/>
          </a:prstGeom>
          <a:noFill/>
          <a:ln w="15240">
            <a:solidFill>
              <a:srgbClr val="4B9DFF">
                <a:alpha val="8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235440" y="2103120"/>
            <a:ext cx="-731520" cy="960120"/>
          </a:xfrm>
          <a:prstGeom prst="line">
            <a:avLst/>
          </a:prstGeom>
          <a:noFill/>
          <a:ln w="15240">
            <a:solidFill>
              <a:srgbClr val="4B9DFF">
                <a:alpha val="8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503920" y="3063240"/>
            <a:ext cx="1463040" cy="594360"/>
          </a:xfrm>
          <a:prstGeom prst="line">
            <a:avLst/>
          </a:prstGeom>
          <a:noFill/>
          <a:ln w="15240">
            <a:solidFill>
              <a:srgbClr val="4B9DFF">
                <a:alpha val="8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424160" y="2514600"/>
            <a:ext cx="-457200" cy="1143000"/>
          </a:xfrm>
          <a:prstGeom prst="line">
            <a:avLst/>
          </a:prstGeom>
          <a:noFill/>
          <a:ln w="15240">
            <a:solidFill>
              <a:srgbClr val="4B9DFF">
                <a:alpha val="8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835640" y="1508760"/>
            <a:ext cx="-411480" cy="1005840"/>
          </a:xfrm>
          <a:prstGeom prst="line">
            <a:avLst/>
          </a:prstGeom>
          <a:noFill/>
          <a:ln w="15240">
            <a:solidFill>
              <a:srgbClr val="4B9DFF">
                <a:alpha val="8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119872" y="1078992"/>
            <a:ext cx="219456" cy="219456"/>
          </a:xfrm>
          <a:prstGeom prst="ellipse">
            <a:avLst/>
          </a:prstGeom>
          <a:solidFill>
            <a:srgbClr val="2F80ED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491472" y="758952"/>
            <a:ext cx="219456" cy="219456"/>
          </a:xfrm>
          <a:prstGeom prst="ellipse">
            <a:avLst/>
          </a:prstGeom>
          <a:solidFill>
            <a:srgbClr val="1BA99A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725912" y="1399032"/>
            <a:ext cx="219456" cy="219456"/>
          </a:xfrm>
          <a:prstGeom prst="ellipse">
            <a:avLst/>
          </a:prstGeom>
          <a:solidFill>
            <a:srgbClr val="2F80ED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125712" y="1993392"/>
            <a:ext cx="219456" cy="219456"/>
          </a:xfrm>
          <a:prstGeom prst="ellipse">
            <a:avLst/>
          </a:prstGeom>
          <a:solidFill>
            <a:srgbClr val="1BA99A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314432" y="2404872"/>
            <a:ext cx="219456" cy="219456"/>
          </a:xfrm>
          <a:prstGeom prst="ellipse">
            <a:avLst/>
          </a:prstGeom>
          <a:solidFill>
            <a:srgbClr val="2F80ED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394192" y="2953512"/>
            <a:ext cx="219456" cy="219456"/>
          </a:xfrm>
          <a:prstGeom prst="ellipse">
            <a:avLst/>
          </a:prstGeom>
          <a:solidFill>
            <a:srgbClr val="1BA99A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857232" y="3547872"/>
            <a:ext cx="219456" cy="219456"/>
          </a:xfrm>
          <a:prstGeom prst="ellipse">
            <a:avLst/>
          </a:prstGeom>
          <a:solidFill>
            <a:srgbClr val="2F80ED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6583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5AA7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CODYSSEY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40080" y="1325880"/>
            <a:ext cx="6217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고급 기술 다이어그램</a:t>
            </a:r>
            <a:endParaRPr lang="en-US" sz="3100" dirty="0"/>
          </a:p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마스터 라이브러리</a:t>
            </a:r>
            <a:endParaRPr lang="en-US" sz="3100" dirty="0"/>
          </a:p>
        </p:txBody>
      </p:sp>
      <p:sp>
        <p:nvSpPr>
          <p:cNvPr id="22" name="Text 20"/>
          <p:cNvSpPr/>
          <p:nvPr/>
        </p:nvSpPr>
        <p:spPr>
          <a:xfrm>
            <a:off x="658368" y="26974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FD7F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Technical Diagram Master Library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58368" y="3310128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D9E5F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현재 15개 미션 평가 발표 · 학부 프로젝트 · 석박사 연구 · 학회 발표를 위한 편집 가능한 벡터 템플릿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58368" y="4178808"/>
            <a:ext cx="914400" cy="256032"/>
          </a:xfrm>
          <a:prstGeom prst="roundRect">
            <a:avLst>
              <a:gd name="adj" fmla="val 28571"/>
            </a:avLst>
          </a:prstGeom>
          <a:solidFill>
            <a:srgbClr val="163B5B"/>
          </a:solidFill>
          <a:ln w="12700">
            <a:solidFill>
              <a:srgbClr val="163B5B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4944" y="4233672"/>
            <a:ext cx="84124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9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Architecture</a:t>
            </a:r>
            <a:endParaRPr lang="en-US" sz="690" dirty="0"/>
          </a:p>
        </p:txBody>
      </p:sp>
      <p:sp>
        <p:nvSpPr>
          <p:cNvPr id="26" name="Shape 24"/>
          <p:cNvSpPr/>
          <p:nvPr/>
        </p:nvSpPr>
        <p:spPr>
          <a:xfrm>
            <a:off x="1682496" y="4178808"/>
            <a:ext cx="914400" cy="256032"/>
          </a:xfrm>
          <a:prstGeom prst="roundRect">
            <a:avLst>
              <a:gd name="adj" fmla="val 28571"/>
            </a:avLst>
          </a:prstGeom>
          <a:solidFill>
            <a:srgbClr val="163B5B"/>
          </a:solidFill>
          <a:ln w="12700">
            <a:solidFill>
              <a:srgbClr val="163B5B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719072" y="4233672"/>
            <a:ext cx="84124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9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Sequence</a:t>
            </a:r>
            <a:endParaRPr lang="en-US" sz="690" dirty="0"/>
          </a:p>
        </p:txBody>
      </p:sp>
      <p:sp>
        <p:nvSpPr>
          <p:cNvPr id="28" name="Shape 26"/>
          <p:cNvSpPr/>
          <p:nvPr/>
        </p:nvSpPr>
        <p:spPr>
          <a:xfrm>
            <a:off x="2706624" y="4178808"/>
            <a:ext cx="914400" cy="256032"/>
          </a:xfrm>
          <a:prstGeom prst="roundRect">
            <a:avLst>
              <a:gd name="adj" fmla="val 28571"/>
            </a:avLst>
          </a:prstGeom>
          <a:solidFill>
            <a:srgbClr val="163B5B"/>
          </a:solidFill>
          <a:ln w="12700">
            <a:solidFill>
              <a:srgbClr val="163B5B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743200" y="4233672"/>
            <a:ext cx="84124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9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ERD</a:t>
            </a:r>
            <a:endParaRPr lang="en-US" sz="690" dirty="0"/>
          </a:p>
        </p:txBody>
      </p:sp>
      <p:sp>
        <p:nvSpPr>
          <p:cNvPr id="30" name="Shape 28"/>
          <p:cNvSpPr/>
          <p:nvPr/>
        </p:nvSpPr>
        <p:spPr>
          <a:xfrm>
            <a:off x="3730752" y="4178808"/>
            <a:ext cx="914400" cy="256032"/>
          </a:xfrm>
          <a:prstGeom prst="roundRect">
            <a:avLst>
              <a:gd name="adj" fmla="val 28571"/>
            </a:avLst>
          </a:prstGeom>
          <a:solidFill>
            <a:srgbClr val="1C4D65"/>
          </a:solidFill>
          <a:ln w="12700">
            <a:solidFill>
              <a:srgbClr val="1C4D65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767328" y="4233672"/>
            <a:ext cx="84124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9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Cloud</a:t>
            </a:r>
            <a:endParaRPr lang="en-US" sz="690" dirty="0"/>
          </a:p>
        </p:txBody>
      </p:sp>
      <p:sp>
        <p:nvSpPr>
          <p:cNvPr id="32" name="Shape 30"/>
          <p:cNvSpPr/>
          <p:nvPr/>
        </p:nvSpPr>
        <p:spPr>
          <a:xfrm>
            <a:off x="4754880" y="4178808"/>
            <a:ext cx="914400" cy="256032"/>
          </a:xfrm>
          <a:prstGeom prst="roundRect">
            <a:avLst>
              <a:gd name="adj" fmla="val 28571"/>
            </a:avLst>
          </a:prstGeom>
          <a:solidFill>
            <a:srgbClr val="1C4D65"/>
          </a:solidFill>
          <a:ln w="12700">
            <a:solidFill>
              <a:srgbClr val="1C4D65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91456" y="4233672"/>
            <a:ext cx="84124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9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Research</a:t>
            </a:r>
            <a:endParaRPr lang="en-US" sz="690" dirty="0"/>
          </a:p>
        </p:txBody>
      </p:sp>
      <p:sp>
        <p:nvSpPr>
          <p:cNvPr id="34" name="Shape 32"/>
          <p:cNvSpPr/>
          <p:nvPr/>
        </p:nvSpPr>
        <p:spPr>
          <a:xfrm>
            <a:off x="5779008" y="4178808"/>
            <a:ext cx="914400" cy="256032"/>
          </a:xfrm>
          <a:prstGeom prst="roundRect">
            <a:avLst>
              <a:gd name="adj" fmla="val 28571"/>
            </a:avLst>
          </a:prstGeom>
          <a:solidFill>
            <a:srgbClr val="1C4D65"/>
          </a:solidFill>
          <a:ln w="12700">
            <a:solidFill>
              <a:srgbClr val="1C4D65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815584" y="4233672"/>
            <a:ext cx="84124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9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Evidence</a:t>
            </a:r>
            <a:endParaRPr lang="en-US" sz="690" dirty="0"/>
          </a:p>
        </p:txBody>
      </p:sp>
      <p:sp>
        <p:nvSpPr>
          <p:cNvPr id="36" name="Text 34"/>
          <p:cNvSpPr/>
          <p:nvPr/>
        </p:nvSpPr>
        <p:spPr>
          <a:xfrm>
            <a:off x="658368" y="5989320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8FB4D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v1.1 · current Mission ID map · 20 reusable layouts · editable PowerPoint vectors</a:t>
            </a:r>
            <a:endParaRPr lang="en-US" sz="86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21208"/>
            <a:ext cx="8595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720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다이어그램은 “예쁜 그림”이 아니라, 판단 흐름을 압축하는 시각 언어입니다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12064" y="1005840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B778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한 슬라이드 한 메시지 · 제목이 결론 · 색상은 역할을 갖고 · 선은 의미를 갖습니다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10168128" y="557784"/>
            <a:ext cx="1481328" cy="329184"/>
          </a:xfrm>
          <a:prstGeom prst="roundRect">
            <a:avLst>
              <a:gd name="adj" fmla="val 22222"/>
            </a:avLst>
          </a:prstGeom>
          <a:solidFill>
            <a:srgbClr val="0B2035"/>
          </a:solidFill>
          <a:ln w="12700">
            <a:solidFill>
              <a:srgbClr val="0B203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232136" y="630936"/>
            <a:ext cx="13533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DESIGN LANGUAGE</a:t>
            </a:r>
            <a:endParaRPr lang="en-US" sz="780" dirty="0"/>
          </a:p>
        </p:txBody>
      </p:sp>
      <p:sp>
        <p:nvSpPr>
          <p:cNvPr id="6" name="Shape 4"/>
          <p:cNvSpPr/>
          <p:nvPr/>
        </p:nvSpPr>
        <p:spPr>
          <a:xfrm>
            <a:off x="521208" y="1389888"/>
            <a:ext cx="1325880" cy="256032"/>
          </a:xfrm>
          <a:prstGeom prst="roundRect">
            <a:avLst>
              <a:gd name="adj" fmla="val 28571"/>
            </a:avLst>
          </a:prstGeom>
          <a:solidFill>
            <a:srgbClr val="2F80ED">
              <a:alpha val="12000"/>
            </a:srgbClr>
          </a:solidFill>
          <a:ln w="12700">
            <a:solidFill>
              <a:srgbClr val="2F80ED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57784" y="1444752"/>
            <a:ext cx="125272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9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01 PRINCIPLES</a:t>
            </a:r>
            <a:endParaRPr lang="en-US" sz="690" dirty="0"/>
          </a:p>
        </p:txBody>
      </p:sp>
      <p:sp>
        <p:nvSpPr>
          <p:cNvPr id="8" name="Shape 6"/>
          <p:cNvSpPr/>
          <p:nvPr/>
        </p:nvSpPr>
        <p:spPr>
          <a:xfrm>
            <a:off x="530352" y="1828800"/>
            <a:ext cx="1828800" cy="3063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0160">
            <a:solidFill>
              <a:srgbClr val="2F80ED"/>
            </a:solidFill>
            <a:prstDash val="solid"/>
          </a:ln>
          <a:effectLst>
            <a:outerShdw sx="100000" sy="100000" kx="0" ky="0" algn="bl" rotWithShape="0" blurRad="15240" dist="8890" dir="27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94944" y="2029968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2F80ED">
              <a:alpha val="12000"/>
            </a:srgbClr>
          </a:solidFill>
          <a:ln w="12700">
            <a:solidFill>
              <a:srgbClr val="2F80ED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2084832"/>
            <a:ext cx="79552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9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 MESSAGE</a:t>
            </a:r>
            <a:endParaRPr lang="en-US" sz="690" dirty="0"/>
          </a:p>
        </p:txBody>
      </p:sp>
      <p:sp>
        <p:nvSpPr>
          <p:cNvPr id="11" name="Text 9"/>
          <p:cNvSpPr/>
          <p:nvPr/>
        </p:nvSpPr>
        <p:spPr>
          <a:xfrm>
            <a:off x="694944" y="2542032"/>
            <a:ext cx="14813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20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한 장에 하나의 판단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94944" y="3246120"/>
            <a:ext cx="148132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B778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한 슬라이드가 두 가지 질문에 답하지 않게 분리합니다.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94944" y="4526280"/>
            <a:ext cx="1325880" cy="0"/>
          </a:xfrm>
          <a:prstGeom prst="line">
            <a:avLst/>
          </a:prstGeom>
          <a:noFill/>
          <a:ln w="38100">
            <a:solidFill>
              <a:srgbClr val="2F80E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944368" y="1828800"/>
            <a:ext cx="1828800" cy="3063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0160">
            <a:solidFill>
              <a:srgbClr val="1BA99A"/>
            </a:solidFill>
            <a:prstDash val="solid"/>
          </a:ln>
          <a:effectLst>
            <a:outerShdw sx="100000" sy="100000" kx="0" ky="0" algn="bl" rotWithShape="0" blurRad="15240" dist="8890" dir="27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108960" y="2029968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1BA99A">
              <a:alpha val="12000"/>
            </a:srgbClr>
          </a:solidFill>
          <a:ln w="12700">
            <a:solidFill>
              <a:srgbClr val="1BA99A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145536" y="2084832"/>
            <a:ext cx="79552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9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CLEAR TITLE</a:t>
            </a:r>
            <a:endParaRPr lang="en-US" sz="690" dirty="0"/>
          </a:p>
        </p:txBody>
      </p:sp>
      <p:sp>
        <p:nvSpPr>
          <p:cNvPr id="17" name="Text 15"/>
          <p:cNvSpPr/>
          <p:nvPr/>
        </p:nvSpPr>
        <p:spPr>
          <a:xfrm>
            <a:off x="3108960" y="2542032"/>
            <a:ext cx="14813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20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제목이 결론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3108960" y="3246120"/>
            <a:ext cx="148132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B778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제목만 읽어도 발표 논리의 흐름이 이어지게 합니다.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108960" y="4526280"/>
            <a:ext cx="1325880" cy="0"/>
          </a:xfrm>
          <a:prstGeom prst="line">
            <a:avLst/>
          </a:prstGeom>
          <a:noFill/>
          <a:ln w="38100">
            <a:solidFill>
              <a:srgbClr val="1BA99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358384" y="1828800"/>
            <a:ext cx="1828800" cy="3063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0160">
            <a:solidFill>
              <a:srgbClr val="F3A61D"/>
            </a:solidFill>
            <a:prstDash val="solid"/>
          </a:ln>
          <a:effectLst>
            <a:outerShdw sx="100000" sy="100000" kx="0" ky="0" algn="bl" rotWithShape="0" blurRad="15240" dist="8890" dir="27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522976" y="2029968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3A61D">
              <a:alpha val="12000"/>
            </a:srgbClr>
          </a:solidFill>
          <a:ln w="12700">
            <a:solidFill>
              <a:srgbClr val="F3A61D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559552" y="2084832"/>
            <a:ext cx="79552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9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ROLE COLOR</a:t>
            </a:r>
            <a:endParaRPr lang="en-US" sz="690" dirty="0"/>
          </a:p>
        </p:txBody>
      </p:sp>
      <p:sp>
        <p:nvSpPr>
          <p:cNvPr id="23" name="Text 21"/>
          <p:cNvSpPr/>
          <p:nvPr/>
        </p:nvSpPr>
        <p:spPr>
          <a:xfrm>
            <a:off x="5522976" y="2542032"/>
            <a:ext cx="14813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20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색상은 역할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5522976" y="3246120"/>
            <a:ext cx="148132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B778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애플리케이션·데이터·외부·위험을 색상으로 구분합니다.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5522976" y="4526280"/>
            <a:ext cx="1325880" cy="0"/>
          </a:xfrm>
          <a:prstGeom prst="line">
            <a:avLst/>
          </a:prstGeom>
          <a:noFill/>
          <a:ln w="38100">
            <a:solidFill>
              <a:srgbClr val="F3A61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772400" y="1828800"/>
            <a:ext cx="1828800" cy="3063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0160">
            <a:solidFill>
              <a:srgbClr val="D95D58"/>
            </a:solidFill>
            <a:prstDash val="solid"/>
          </a:ln>
          <a:effectLst>
            <a:outerShdw sx="100000" sy="100000" kx="0" ky="0" algn="bl" rotWithShape="0" blurRad="15240" dist="8890" dir="27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7936992" y="2029968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95D58">
              <a:alpha val="12000"/>
            </a:srgbClr>
          </a:solidFill>
          <a:ln w="12700">
            <a:solidFill>
              <a:srgbClr val="D95D58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973568" y="2084832"/>
            <a:ext cx="79552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9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FLOW LINE</a:t>
            </a:r>
            <a:endParaRPr lang="en-US" sz="690" dirty="0"/>
          </a:p>
        </p:txBody>
      </p:sp>
      <p:sp>
        <p:nvSpPr>
          <p:cNvPr id="29" name="Text 27"/>
          <p:cNvSpPr/>
          <p:nvPr/>
        </p:nvSpPr>
        <p:spPr>
          <a:xfrm>
            <a:off x="7936992" y="2542032"/>
            <a:ext cx="14813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20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선은 의미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7936992" y="3246120"/>
            <a:ext cx="148132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B778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실선=주 흐름, 점선=외부/선택, 화살표=방향입니다.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7936992" y="4526280"/>
            <a:ext cx="1325880" cy="0"/>
          </a:xfrm>
          <a:prstGeom prst="line">
            <a:avLst/>
          </a:prstGeom>
          <a:noFill/>
          <a:ln w="38100">
            <a:solidFill>
              <a:srgbClr val="D95D5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0186416" y="1828800"/>
            <a:ext cx="1828800" cy="3063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0160">
            <a:solidFill>
              <a:srgbClr val="2FA66A"/>
            </a:solidFill>
            <a:prstDash val="solid"/>
          </a:ln>
          <a:effectLst>
            <a:outerShdw sx="100000" sy="100000" kx="0" ky="0" algn="bl" rotWithShape="0" blurRad="15240" dist="8890" dir="270000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10351008" y="2029968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2FA66A">
              <a:alpha val="12000"/>
            </a:srgbClr>
          </a:solidFill>
          <a:ln w="12700">
            <a:solidFill>
              <a:srgbClr val="2FA66A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387584" y="2084832"/>
            <a:ext cx="79552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9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EVIDENCE</a:t>
            </a:r>
            <a:endParaRPr lang="en-US" sz="690" dirty="0"/>
          </a:p>
        </p:txBody>
      </p:sp>
      <p:sp>
        <p:nvSpPr>
          <p:cNvPr id="35" name="Text 33"/>
          <p:cNvSpPr/>
          <p:nvPr/>
        </p:nvSpPr>
        <p:spPr>
          <a:xfrm>
            <a:off x="10351008" y="2542032"/>
            <a:ext cx="14813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20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근거로 닫기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10351008" y="3246120"/>
            <a:ext cx="148132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B778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설계 다이어그램 뒤에는 검증·증빙이 연결되어야 합니다.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10351008" y="4526280"/>
            <a:ext cx="1325880" cy="0"/>
          </a:xfrm>
          <a:prstGeom prst="line">
            <a:avLst/>
          </a:prstGeom>
          <a:noFill/>
          <a:ln w="38100">
            <a:solidFill>
              <a:srgbClr val="2FA66A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30352" y="6007608"/>
            <a:ext cx="11119104" cy="347472"/>
          </a:xfrm>
          <a:prstGeom prst="roundRect">
            <a:avLst>
              <a:gd name="adj" fmla="val 15789"/>
            </a:avLst>
          </a:prstGeom>
          <a:solidFill>
            <a:srgbClr val="EAF3FF"/>
          </a:solidFill>
          <a:ln w="12700">
            <a:solidFill>
              <a:srgbClr val="EAF3F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76656" y="6108192"/>
            <a:ext cx="10835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2F80E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권장 규칙: 제목 24~30pt · 본문 14~18pt · 노드 4~7개 · 텍스트보다 관계/흐름을 먼저 보이기</a:t>
            </a:r>
            <a:endParaRPr lang="en-US" sz="76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28816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A0AAB6"/>
                </a:solidFill>
                <a:latin typeface="Noto Sans CJK KR"/>
                <a:ea typeface="Noto Sans CJK KR"/>
                <a:cs typeface="Noto Sans CJK KR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21208"/>
            <a:ext cx="8595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720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현재 B1~B7은 기술 성격에 따라 “주력 다이어그램”이 달라집니다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12064" y="1005840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B778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Mission ID는 CURRENT-MISSION-MAP 기준 · 미션 주제의 핵심 평가 질문에 맞춰 다이어그램을 선택합니다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10168128" y="557784"/>
            <a:ext cx="1481328" cy="329184"/>
          </a:xfrm>
          <a:prstGeom prst="roundRect">
            <a:avLst>
              <a:gd name="adj" fmla="val 22222"/>
            </a:avLst>
          </a:prstGeom>
          <a:solidFill>
            <a:srgbClr val="0B2035"/>
          </a:solidFill>
          <a:ln w="12700">
            <a:solidFill>
              <a:srgbClr val="0B203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232136" y="630936"/>
            <a:ext cx="13533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MISSION MAP</a:t>
            </a:r>
            <a:endParaRPr lang="en-US" sz="780" dirty="0"/>
          </a:p>
        </p:txBody>
      </p:sp>
      <p:sp>
        <p:nvSpPr>
          <p:cNvPr id="6" name="Shape 4"/>
          <p:cNvSpPr/>
          <p:nvPr/>
        </p:nvSpPr>
        <p:spPr>
          <a:xfrm>
            <a:off x="521208" y="1389888"/>
            <a:ext cx="1325880" cy="256032"/>
          </a:xfrm>
          <a:prstGeom prst="roundRect">
            <a:avLst>
              <a:gd name="adj" fmla="val 28571"/>
            </a:avLst>
          </a:prstGeom>
          <a:solidFill>
            <a:srgbClr val="2F80ED">
              <a:alpha val="12000"/>
            </a:srgbClr>
          </a:solidFill>
          <a:ln w="12700">
            <a:solidFill>
              <a:srgbClr val="2F80ED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57784" y="1444752"/>
            <a:ext cx="125272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9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02 MAPPING</a:t>
            </a:r>
            <a:endParaRPr lang="en-US" sz="690" dirty="0"/>
          </a:p>
        </p:txBody>
      </p:sp>
      <p:sp>
        <p:nvSpPr>
          <p:cNvPr id="8" name="Shape 6"/>
          <p:cNvSpPr/>
          <p:nvPr/>
        </p:nvSpPr>
        <p:spPr>
          <a:xfrm>
            <a:off x="530352" y="1755648"/>
            <a:ext cx="1691640" cy="384048"/>
          </a:xfrm>
          <a:prstGeom prst="roundRect">
            <a:avLst>
              <a:gd name="adj" fmla="val 11905"/>
            </a:avLst>
          </a:prstGeom>
          <a:solidFill>
            <a:srgbClr val="0B2035"/>
          </a:solidFill>
          <a:ln w="12700">
            <a:solidFill>
              <a:srgbClr val="0B203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76072" y="1865376"/>
            <a:ext cx="1600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영역</a:t>
            </a:r>
            <a:endParaRPr lang="en-US" sz="740" dirty="0"/>
          </a:p>
        </p:txBody>
      </p:sp>
      <p:sp>
        <p:nvSpPr>
          <p:cNvPr id="10" name="Shape 8"/>
          <p:cNvSpPr/>
          <p:nvPr/>
        </p:nvSpPr>
        <p:spPr>
          <a:xfrm>
            <a:off x="2331720" y="1755648"/>
            <a:ext cx="1673352" cy="384048"/>
          </a:xfrm>
          <a:prstGeom prst="roundRect">
            <a:avLst>
              <a:gd name="adj" fmla="val 11905"/>
            </a:avLst>
          </a:prstGeom>
          <a:solidFill>
            <a:srgbClr val="0B2035"/>
          </a:solidFill>
          <a:ln w="12700">
            <a:solidFill>
              <a:srgbClr val="0B203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377440" y="1865376"/>
            <a:ext cx="15819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대표 미션</a:t>
            </a:r>
            <a:endParaRPr lang="en-US" sz="740" dirty="0"/>
          </a:p>
        </p:txBody>
      </p:sp>
      <p:sp>
        <p:nvSpPr>
          <p:cNvPr id="12" name="Shape 10"/>
          <p:cNvSpPr/>
          <p:nvPr/>
        </p:nvSpPr>
        <p:spPr>
          <a:xfrm>
            <a:off x="4133088" y="1755648"/>
            <a:ext cx="1673352" cy="384048"/>
          </a:xfrm>
          <a:prstGeom prst="roundRect">
            <a:avLst>
              <a:gd name="adj" fmla="val 11905"/>
            </a:avLst>
          </a:prstGeom>
          <a:solidFill>
            <a:srgbClr val="0B2035"/>
          </a:solidFill>
          <a:ln w="12700">
            <a:solidFill>
              <a:srgbClr val="0B203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78808" y="1865376"/>
            <a:ext cx="15819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주력 1</a:t>
            </a:r>
            <a:endParaRPr lang="en-US" sz="740" dirty="0"/>
          </a:p>
        </p:txBody>
      </p:sp>
      <p:sp>
        <p:nvSpPr>
          <p:cNvPr id="14" name="Shape 12"/>
          <p:cNvSpPr/>
          <p:nvPr/>
        </p:nvSpPr>
        <p:spPr>
          <a:xfrm>
            <a:off x="5934456" y="1755648"/>
            <a:ext cx="1673352" cy="384048"/>
          </a:xfrm>
          <a:prstGeom prst="roundRect">
            <a:avLst>
              <a:gd name="adj" fmla="val 11905"/>
            </a:avLst>
          </a:prstGeom>
          <a:solidFill>
            <a:srgbClr val="0B2035"/>
          </a:solidFill>
          <a:ln w="12700">
            <a:solidFill>
              <a:srgbClr val="0B203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80176" y="1865376"/>
            <a:ext cx="15819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주력 2</a:t>
            </a:r>
            <a:endParaRPr lang="en-US" sz="740" dirty="0"/>
          </a:p>
        </p:txBody>
      </p:sp>
      <p:sp>
        <p:nvSpPr>
          <p:cNvPr id="16" name="Shape 14"/>
          <p:cNvSpPr/>
          <p:nvPr/>
        </p:nvSpPr>
        <p:spPr>
          <a:xfrm>
            <a:off x="7735824" y="1755648"/>
            <a:ext cx="1673352" cy="384048"/>
          </a:xfrm>
          <a:prstGeom prst="roundRect">
            <a:avLst>
              <a:gd name="adj" fmla="val 11905"/>
            </a:avLst>
          </a:prstGeom>
          <a:solidFill>
            <a:srgbClr val="0B2035"/>
          </a:solidFill>
          <a:ln w="12700">
            <a:solidFill>
              <a:srgbClr val="0B203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81544" y="1865376"/>
            <a:ext cx="15819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주력 3</a:t>
            </a:r>
            <a:endParaRPr lang="en-US" sz="740" dirty="0"/>
          </a:p>
        </p:txBody>
      </p:sp>
      <p:sp>
        <p:nvSpPr>
          <p:cNvPr id="18" name="Shape 16"/>
          <p:cNvSpPr/>
          <p:nvPr/>
        </p:nvSpPr>
        <p:spPr>
          <a:xfrm>
            <a:off x="9537192" y="1755648"/>
            <a:ext cx="1673352" cy="384048"/>
          </a:xfrm>
          <a:prstGeom prst="roundRect">
            <a:avLst>
              <a:gd name="adj" fmla="val 11905"/>
            </a:avLst>
          </a:prstGeom>
          <a:solidFill>
            <a:srgbClr val="0B2035"/>
          </a:solidFill>
          <a:ln w="12700">
            <a:solidFill>
              <a:srgbClr val="0B203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582912" y="1865376"/>
            <a:ext cx="15819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평가 초점</a:t>
            </a:r>
            <a:endParaRPr lang="en-US" sz="740" dirty="0"/>
          </a:p>
        </p:txBody>
      </p:sp>
      <p:sp>
        <p:nvSpPr>
          <p:cNvPr id="20" name="Shape 18"/>
          <p:cNvSpPr/>
          <p:nvPr/>
        </p:nvSpPr>
        <p:spPr>
          <a:xfrm>
            <a:off x="530352" y="2212848"/>
            <a:ext cx="10680192" cy="457200"/>
          </a:xfrm>
          <a:prstGeom prst="rect">
            <a:avLst/>
          </a:prstGeom>
          <a:solidFill>
            <a:srgbClr val="F3F6FA"/>
          </a:solidFill>
          <a:ln w="5080">
            <a:solidFill>
              <a:srgbClr val="D7DE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6928" y="2359152"/>
            <a:ext cx="161848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1720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Web / Front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2368296" y="2359152"/>
            <a:ext cx="1600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341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B1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4169664" y="2359152"/>
            <a:ext cx="1600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Event Flow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5971032" y="2359152"/>
            <a:ext cx="1600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State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7772400" y="2359152"/>
            <a:ext cx="1600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Before/After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9573768" y="2359152"/>
            <a:ext cx="1600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상호작용·UX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530352" y="2706624"/>
            <a:ext cx="10680192" cy="457200"/>
          </a:xfrm>
          <a:prstGeom prst="rect">
            <a:avLst/>
          </a:prstGeom>
          <a:solidFill>
            <a:srgbClr val="FFFFFF"/>
          </a:solidFill>
          <a:ln w="5080">
            <a:solidFill>
              <a:srgbClr val="D7DEE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66928" y="2852928"/>
            <a:ext cx="161848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1720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Python / Git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2368296" y="2852928"/>
            <a:ext cx="1600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341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B2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4169664" y="2852928"/>
            <a:ext cx="1600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Layered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5971032" y="2852928"/>
            <a:ext cx="1600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Data Flow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7772400" y="2852928"/>
            <a:ext cx="1600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Swimlane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9573768" y="2852928"/>
            <a:ext cx="1600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구조·예외·협업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530352" y="3200400"/>
            <a:ext cx="10680192" cy="457200"/>
          </a:xfrm>
          <a:prstGeom prst="rect">
            <a:avLst/>
          </a:prstGeom>
          <a:solidFill>
            <a:srgbClr val="F3F6FA"/>
          </a:solidFill>
          <a:ln w="5080">
            <a:solidFill>
              <a:srgbClr val="D7DEE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3346704"/>
            <a:ext cx="161848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1720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Cloud / AI API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2368296" y="3346704"/>
            <a:ext cx="1600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341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B3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4169664" y="3346704"/>
            <a:ext cx="1600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Network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5971032" y="3346704"/>
            <a:ext cx="1600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Boundary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7772400" y="3346704"/>
            <a:ext cx="1600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Pipeline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9573768" y="3346704"/>
            <a:ext cx="1600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배포·권한·실패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530352" y="3694176"/>
            <a:ext cx="10680192" cy="457200"/>
          </a:xfrm>
          <a:prstGeom prst="rect">
            <a:avLst/>
          </a:prstGeom>
          <a:solidFill>
            <a:srgbClr val="FFFFFF"/>
          </a:solidFill>
          <a:ln w="5080">
            <a:solidFill>
              <a:srgbClr val="D7DEE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66928" y="3840480"/>
            <a:ext cx="161848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1720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Linux / OS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2368296" y="3840480"/>
            <a:ext cx="1600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341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B4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4169664" y="3840480"/>
            <a:ext cx="1600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Architecture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5971032" y="3840480"/>
            <a:ext cx="1600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State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7772400" y="3840480"/>
            <a:ext cx="1600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Troubleshoot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9573768" y="3840480"/>
            <a:ext cx="1600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운영·보안·관제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530352" y="4187952"/>
            <a:ext cx="10680192" cy="457200"/>
          </a:xfrm>
          <a:prstGeom prst="rect">
            <a:avLst/>
          </a:prstGeom>
          <a:solidFill>
            <a:srgbClr val="F3F6FA"/>
          </a:solidFill>
          <a:ln w="5080">
            <a:solidFill>
              <a:srgbClr val="D7DEE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66928" y="4334256"/>
            <a:ext cx="161848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1720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DS / Algo</a:t>
            </a:r>
            <a:endParaRPr lang="en-US" sz="750" dirty="0"/>
          </a:p>
        </p:txBody>
      </p:sp>
      <p:sp>
        <p:nvSpPr>
          <p:cNvPr id="50" name="Text 48"/>
          <p:cNvSpPr/>
          <p:nvPr/>
        </p:nvSpPr>
        <p:spPr>
          <a:xfrm>
            <a:off x="2368296" y="4334256"/>
            <a:ext cx="1600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341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B5</a:t>
            </a:r>
            <a:endParaRPr lang="en-US" sz="750" dirty="0"/>
          </a:p>
        </p:txBody>
      </p:sp>
      <p:sp>
        <p:nvSpPr>
          <p:cNvPr id="51" name="Text 49"/>
          <p:cNvSpPr/>
          <p:nvPr/>
        </p:nvSpPr>
        <p:spPr>
          <a:xfrm>
            <a:off x="4169664" y="4334256"/>
            <a:ext cx="1600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Structure</a:t>
            </a:r>
            <a:endParaRPr lang="en-US" sz="750" dirty="0"/>
          </a:p>
        </p:txBody>
      </p:sp>
      <p:sp>
        <p:nvSpPr>
          <p:cNvPr id="52" name="Text 50"/>
          <p:cNvSpPr/>
          <p:nvPr/>
        </p:nvSpPr>
        <p:spPr>
          <a:xfrm>
            <a:off x="5971032" y="4334256"/>
            <a:ext cx="1600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Algorithm</a:t>
            </a:r>
            <a:endParaRPr lang="en-US" sz="750" dirty="0"/>
          </a:p>
        </p:txBody>
      </p:sp>
      <p:sp>
        <p:nvSpPr>
          <p:cNvPr id="53" name="Text 51"/>
          <p:cNvSpPr/>
          <p:nvPr/>
        </p:nvSpPr>
        <p:spPr>
          <a:xfrm>
            <a:off x="7772400" y="4334256"/>
            <a:ext cx="1600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Complexity</a:t>
            </a:r>
            <a:endParaRPr lang="en-US" sz="750" dirty="0"/>
          </a:p>
        </p:txBody>
      </p:sp>
      <p:sp>
        <p:nvSpPr>
          <p:cNvPr id="54" name="Text 52"/>
          <p:cNvSpPr/>
          <p:nvPr/>
        </p:nvSpPr>
        <p:spPr>
          <a:xfrm>
            <a:off x="9573768" y="4334256"/>
            <a:ext cx="1600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연산·불변조건</a:t>
            </a:r>
            <a:endParaRPr lang="en-US" sz="750" dirty="0"/>
          </a:p>
        </p:txBody>
      </p:sp>
      <p:sp>
        <p:nvSpPr>
          <p:cNvPr id="55" name="Shape 53"/>
          <p:cNvSpPr/>
          <p:nvPr/>
        </p:nvSpPr>
        <p:spPr>
          <a:xfrm>
            <a:off x="530352" y="4681728"/>
            <a:ext cx="10680192" cy="457200"/>
          </a:xfrm>
          <a:prstGeom prst="rect">
            <a:avLst/>
          </a:prstGeom>
          <a:solidFill>
            <a:srgbClr val="FFFFFF"/>
          </a:solidFill>
          <a:ln w="5080">
            <a:solidFill>
              <a:srgbClr val="D7DEE8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66928" y="4828032"/>
            <a:ext cx="161848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1720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DB / Backend</a:t>
            </a:r>
            <a:endParaRPr lang="en-US" sz="750" dirty="0"/>
          </a:p>
        </p:txBody>
      </p:sp>
      <p:sp>
        <p:nvSpPr>
          <p:cNvPr id="57" name="Text 55"/>
          <p:cNvSpPr/>
          <p:nvPr/>
        </p:nvSpPr>
        <p:spPr>
          <a:xfrm>
            <a:off x="2368296" y="4828032"/>
            <a:ext cx="1600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341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B6</a:t>
            </a:r>
            <a:endParaRPr lang="en-US" sz="750" dirty="0"/>
          </a:p>
        </p:txBody>
      </p:sp>
      <p:sp>
        <p:nvSpPr>
          <p:cNvPr id="58" name="Text 56"/>
          <p:cNvSpPr/>
          <p:nvPr/>
        </p:nvSpPr>
        <p:spPr>
          <a:xfrm>
            <a:off x="4169664" y="4828032"/>
            <a:ext cx="1600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ERD</a:t>
            </a:r>
            <a:endParaRPr lang="en-US" sz="750" dirty="0"/>
          </a:p>
        </p:txBody>
      </p:sp>
      <p:sp>
        <p:nvSpPr>
          <p:cNvPr id="59" name="Text 57"/>
          <p:cNvSpPr/>
          <p:nvPr/>
        </p:nvSpPr>
        <p:spPr>
          <a:xfrm>
            <a:off x="5971032" y="4828032"/>
            <a:ext cx="1600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Sequence</a:t>
            </a:r>
            <a:endParaRPr lang="en-US" sz="750" dirty="0"/>
          </a:p>
        </p:txBody>
      </p:sp>
      <p:sp>
        <p:nvSpPr>
          <p:cNvPr id="60" name="Text 58"/>
          <p:cNvSpPr/>
          <p:nvPr/>
        </p:nvSpPr>
        <p:spPr>
          <a:xfrm>
            <a:off x="7772400" y="4828032"/>
            <a:ext cx="1600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Trust</a:t>
            </a:r>
            <a:endParaRPr lang="en-US" sz="750" dirty="0"/>
          </a:p>
        </p:txBody>
      </p:sp>
      <p:sp>
        <p:nvSpPr>
          <p:cNvPr id="61" name="Text 59"/>
          <p:cNvSpPr/>
          <p:nvPr/>
        </p:nvSpPr>
        <p:spPr>
          <a:xfrm>
            <a:off x="9573768" y="4828032"/>
            <a:ext cx="1600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관계·API·인가</a:t>
            </a:r>
            <a:endParaRPr lang="en-US" sz="750" dirty="0"/>
          </a:p>
        </p:txBody>
      </p:sp>
      <p:sp>
        <p:nvSpPr>
          <p:cNvPr id="62" name="Shape 60"/>
          <p:cNvSpPr/>
          <p:nvPr/>
        </p:nvSpPr>
        <p:spPr>
          <a:xfrm>
            <a:off x="530352" y="5175504"/>
            <a:ext cx="10680192" cy="457200"/>
          </a:xfrm>
          <a:prstGeom prst="rect">
            <a:avLst/>
          </a:prstGeom>
          <a:solidFill>
            <a:srgbClr val="F3F6FA"/>
          </a:solidFill>
          <a:ln w="5080">
            <a:solidFill>
              <a:srgbClr val="D7DEE8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66928" y="5321808"/>
            <a:ext cx="161848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1720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Term Project</a:t>
            </a:r>
            <a:endParaRPr lang="en-US" sz="750" dirty="0"/>
          </a:p>
        </p:txBody>
      </p:sp>
      <p:sp>
        <p:nvSpPr>
          <p:cNvPr id="64" name="Text 62"/>
          <p:cNvSpPr/>
          <p:nvPr/>
        </p:nvSpPr>
        <p:spPr>
          <a:xfrm>
            <a:off x="2368296" y="5321808"/>
            <a:ext cx="1600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341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B7</a:t>
            </a:r>
            <a:endParaRPr lang="en-US" sz="750" dirty="0"/>
          </a:p>
        </p:txBody>
      </p:sp>
      <p:sp>
        <p:nvSpPr>
          <p:cNvPr id="65" name="Text 63"/>
          <p:cNvSpPr/>
          <p:nvPr/>
        </p:nvSpPr>
        <p:spPr>
          <a:xfrm>
            <a:off x="4169664" y="5321808"/>
            <a:ext cx="1600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E2E</a:t>
            </a:r>
            <a:endParaRPr lang="en-US" sz="750" dirty="0"/>
          </a:p>
        </p:txBody>
      </p:sp>
      <p:sp>
        <p:nvSpPr>
          <p:cNvPr id="66" name="Text 64"/>
          <p:cNvSpPr/>
          <p:nvPr/>
        </p:nvSpPr>
        <p:spPr>
          <a:xfrm>
            <a:off x="5971032" y="5321808"/>
            <a:ext cx="1600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Research</a:t>
            </a:r>
            <a:endParaRPr lang="en-US" sz="750" dirty="0"/>
          </a:p>
        </p:txBody>
      </p:sp>
      <p:sp>
        <p:nvSpPr>
          <p:cNvPr id="67" name="Text 65"/>
          <p:cNvSpPr/>
          <p:nvPr/>
        </p:nvSpPr>
        <p:spPr>
          <a:xfrm>
            <a:off x="7772400" y="5321808"/>
            <a:ext cx="1600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Evidence</a:t>
            </a:r>
            <a:endParaRPr lang="en-US" sz="750" dirty="0"/>
          </a:p>
        </p:txBody>
      </p:sp>
      <p:sp>
        <p:nvSpPr>
          <p:cNvPr id="68" name="Text 66"/>
          <p:cNvSpPr/>
          <p:nvPr/>
        </p:nvSpPr>
        <p:spPr>
          <a:xfrm>
            <a:off x="9573768" y="5321808"/>
            <a:ext cx="1600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서비스 완성도</a:t>
            </a:r>
            <a:endParaRPr lang="en-US" sz="750" dirty="0"/>
          </a:p>
        </p:txBody>
      </p:sp>
      <p:sp>
        <p:nvSpPr>
          <p:cNvPr id="69" name="Shape 67"/>
          <p:cNvSpPr/>
          <p:nvPr/>
        </p:nvSpPr>
        <p:spPr>
          <a:xfrm>
            <a:off x="530352" y="6007608"/>
            <a:ext cx="11119104" cy="347472"/>
          </a:xfrm>
          <a:prstGeom prst="roundRect">
            <a:avLst>
              <a:gd name="adj" fmla="val 15789"/>
            </a:avLst>
          </a:prstGeom>
          <a:solidFill>
            <a:srgbClr val="E8F8F5"/>
          </a:solidFill>
          <a:ln w="12700">
            <a:solidFill>
              <a:srgbClr val="E8F8F5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676656" y="6108192"/>
            <a:ext cx="10835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1BA99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실전 팁: 미션당 2~4개 주력 다이어그램만 사용하고, 나머지는 백업/질의응답(Q&amp;A) 슬라이드로 둡니다.</a:t>
            </a:r>
            <a:endParaRPr lang="en-US" sz="76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28816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A0AAB6"/>
                </a:solidFill>
                <a:latin typeface="Noto Sans CJK KR"/>
                <a:ea typeface="Noto Sans CJK KR"/>
                <a:cs typeface="Noto Sans CJK KR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21208"/>
            <a:ext cx="8595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720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시스템 아키텍처는 “컴포넌트 + 책임 + 경계”를 한 화면에 보여줍니다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12064" y="1005840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B778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B3·B6·B7의 기본형 · 단순 나열보다 계층과 책임을 먼저 드러냅니다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10168128" y="557784"/>
            <a:ext cx="1481328" cy="329184"/>
          </a:xfrm>
          <a:prstGeom prst="roundRect">
            <a:avLst>
              <a:gd name="adj" fmla="val 22222"/>
            </a:avLst>
          </a:prstGeom>
          <a:solidFill>
            <a:srgbClr val="0B2035"/>
          </a:solidFill>
          <a:ln w="12700">
            <a:solidFill>
              <a:srgbClr val="0B203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232136" y="630936"/>
            <a:ext cx="13533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SYSTEM ARCHITECTURE</a:t>
            </a:r>
            <a:endParaRPr lang="en-US" sz="780" dirty="0"/>
          </a:p>
        </p:txBody>
      </p:sp>
      <p:sp>
        <p:nvSpPr>
          <p:cNvPr id="6" name="Shape 4"/>
          <p:cNvSpPr/>
          <p:nvPr/>
        </p:nvSpPr>
        <p:spPr>
          <a:xfrm>
            <a:off x="521208" y="1389888"/>
            <a:ext cx="1325880" cy="256032"/>
          </a:xfrm>
          <a:prstGeom prst="roundRect">
            <a:avLst>
              <a:gd name="adj" fmla="val 28571"/>
            </a:avLst>
          </a:prstGeom>
          <a:solidFill>
            <a:srgbClr val="2F80ED">
              <a:alpha val="12000"/>
            </a:srgbClr>
          </a:solidFill>
          <a:ln w="12700">
            <a:solidFill>
              <a:srgbClr val="2F80ED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57784" y="1444752"/>
            <a:ext cx="125272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9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03 ARCHITECTURE</a:t>
            </a:r>
            <a:endParaRPr lang="en-US" sz="690" dirty="0"/>
          </a:p>
        </p:txBody>
      </p:sp>
      <p:sp>
        <p:nvSpPr>
          <p:cNvPr id="8" name="Shape 6"/>
          <p:cNvSpPr/>
          <p:nvPr/>
        </p:nvSpPr>
        <p:spPr>
          <a:xfrm>
            <a:off x="640080" y="1783080"/>
            <a:ext cx="10917936" cy="566928"/>
          </a:xfrm>
          <a:prstGeom prst="roundRect">
            <a:avLst>
              <a:gd name="adj" fmla="val 12903"/>
            </a:avLst>
          </a:prstGeom>
          <a:solidFill>
            <a:srgbClr val="EAF3FF"/>
          </a:solidFill>
          <a:ln w="12700">
            <a:solidFill>
              <a:srgbClr val="EAF3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41248" y="1892808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70" b="1" dirty="0">
                <a:solidFill>
                  <a:srgbClr val="2F80E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CLIENT / USER</a:t>
            </a:r>
            <a:endParaRPr lang="en-US" sz="670" dirty="0"/>
          </a:p>
        </p:txBody>
      </p:sp>
      <p:sp>
        <p:nvSpPr>
          <p:cNvPr id="10" name="Shape 8"/>
          <p:cNvSpPr/>
          <p:nvPr/>
        </p:nvSpPr>
        <p:spPr>
          <a:xfrm>
            <a:off x="640080" y="2587752"/>
            <a:ext cx="10917936" cy="1170432"/>
          </a:xfrm>
          <a:prstGeom prst="roundRect">
            <a:avLst>
              <a:gd name="adj" fmla="val 6250"/>
            </a:avLst>
          </a:prstGeom>
          <a:solidFill>
            <a:srgbClr val="F1F6FB"/>
          </a:solidFill>
          <a:ln w="12700">
            <a:solidFill>
              <a:srgbClr val="F1F6F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1248" y="2697480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70" b="1" dirty="0">
                <a:solidFill>
                  <a:srgbClr val="12314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APPLICATION</a:t>
            </a:r>
            <a:endParaRPr lang="en-US" sz="670" dirty="0"/>
          </a:p>
        </p:txBody>
      </p:sp>
      <p:sp>
        <p:nvSpPr>
          <p:cNvPr id="12" name="Shape 10"/>
          <p:cNvSpPr/>
          <p:nvPr/>
        </p:nvSpPr>
        <p:spPr>
          <a:xfrm>
            <a:off x="640080" y="4059936"/>
            <a:ext cx="10917936" cy="1051560"/>
          </a:xfrm>
          <a:prstGeom prst="roundRect">
            <a:avLst>
              <a:gd name="adj" fmla="val 6957"/>
            </a:avLst>
          </a:prstGeom>
          <a:solidFill>
            <a:srgbClr val="E8F8F5"/>
          </a:solidFill>
          <a:ln w="12700">
            <a:solidFill>
              <a:srgbClr val="E8F8F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1248" y="4169664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70" b="1" dirty="0">
                <a:solidFill>
                  <a:srgbClr val="1BA99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DATA / PLATFORM</a:t>
            </a:r>
            <a:endParaRPr lang="en-US" sz="670" dirty="0"/>
          </a:p>
        </p:txBody>
      </p:sp>
      <p:sp>
        <p:nvSpPr>
          <p:cNvPr id="14" name="Shape 12"/>
          <p:cNvSpPr/>
          <p:nvPr/>
        </p:nvSpPr>
        <p:spPr>
          <a:xfrm>
            <a:off x="640080" y="5193792"/>
            <a:ext cx="10917936" cy="658368"/>
          </a:xfrm>
          <a:prstGeom prst="roundRect">
            <a:avLst>
              <a:gd name="adj" fmla="val 11111"/>
            </a:avLst>
          </a:prstGeom>
          <a:solidFill>
            <a:srgbClr val="FFF5DD"/>
          </a:solidFill>
          <a:ln w="12700">
            <a:solidFill>
              <a:srgbClr val="FFF5D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1248" y="5303520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70" b="1" dirty="0">
                <a:solidFill>
                  <a:srgbClr val="F3A61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EXTERNAL</a:t>
            </a:r>
            <a:endParaRPr lang="en-US" sz="670" dirty="0"/>
          </a:p>
        </p:txBody>
      </p:sp>
      <p:sp>
        <p:nvSpPr>
          <p:cNvPr id="16" name="Shape 14"/>
          <p:cNvSpPr/>
          <p:nvPr/>
        </p:nvSpPr>
        <p:spPr>
          <a:xfrm>
            <a:off x="1828800" y="1856232"/>
            <a:ext cx="1572768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0160">
            <a:solidFill>
              <a:srgbClr val="2F80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956816" y="1993392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956816" y="2039112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U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514600" y="1975104"/>
            <a:ext cx="7680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720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User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2514600" y="2203704"/>
            <a:ext cx="76809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6B778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Browser / Mobile</a:t>
            </a:r>
            <a:endParaRPr lang="en-US" sz="740" dirty="0"/>
          </a:p>
        </p:txBody>
      </p:sp>
      <p:sp>
        <p:nvSpPr>
          <p:cNvPr id="21" name="Shape 19"/>
          <p:cNvSpPr/>
          <p:nvPr/>
        </p:nvSpPr>
        <p:spPr>
          <a:xfrm>
            <a:off x="3749040" y="1856232"/>
            <a:ext cx="1755648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0160">
            <a:solidFill>
              <a:srgbClr val="2F80E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877056" y="1993392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877056" y="2039112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FE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434840" y="1975104"/>
            <a:ext cx="9509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720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Frontend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434840" y="2203704"/>
            <a:ext cx="95097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6B778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UI / State / Event</a:t>
            </a:r>
            <a:endParaRPr lang="en-US" sz="740" dirty="0"/>
          </a:p>
        </p:txBody>
      </p:sp>
      <p:sp>
        <p:nvSpPr>
          <p:cNvPr id="26" name="Shape 24"/>
          <p:cNvSpPr/>
          <p:nvPr/>
        </p:nvSpPr>
        <p:spPr>
          <a:xfrm>
            <a:off x="2148840" y="2852928"/>
            <a:ext cx="1828800" cy="749808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 w="10160">
            <a:solidFill>
              <a:srgbClr val="12314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276856" y="2990088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12314E"/>
          </a:solidFill>
          <a:ln w="12700">
            <a:solidFill>
              <a:srgbClr val="12314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276856" y="3035808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API</a:t>
            </a:r>
            <a:endParaRPr lang="en-US" sz="860" dirty="0"/>
          </a:p>
        </p:txBody>
      </p:sp>
      <p:sp>
        <p:nvSpPr>
          <p:cNvPr id="29" name="Text 27"/>
          <p:cNvSpPr/>
          <p:nvPr/>
        </p:nvSpPr>
        <p:spPr>
          <a:xfrm>
            <a:off x="2834640" y="2971800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720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API Layer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2834640" y="3200400"/>
            <a:ext cx="10241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6B778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Route / Validation</a:t>
            </a:r>
            <a:endParaRPr lang="en-US" sz="740" dirty="0"/>
          </a:p>
        </p:txBody>
      </p:sp>
      <p:sp>
        <p:nvSpPr>
          <p:cNvPr id="31" name="Shape 29"/>
          <p:cNvSpPr/>
          <p:nvPr/>
        </p:nvSpPr>
        <p:spPr>
          <a:xfrm>
            <a:off x="4572000" y="2852928"/>
            <a:ext cx="1828800" cy="749808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 w="10160">
            <a:solidFill>
              <a:srgbClr val="12314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00016" y="2990088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12314E"/>
          </a:solidFill>
          <a:ln w="12700">
            <a:solidFill>
              <a:srgbClr val="12314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00016" y="3035808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SVC</a:t>
            </a:r>
            <a:endParaRPr lang="en-US" sz="860" dirty="0"/>
          </a:p>
        </p:txBody>
      </p:sp>
      <p:sp>
        <p:nvSpPr>
          <p:cNvPr id="34" name="Text 32"/>
          <p:cNvSpPr/>
          <p:nvPr/>
        </p:nvSpPr>
        <p:spPr>
          <a:xfrm>
            <a:off x="5257800" y="2971800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720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Service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5257800" y="3200400"/>
            <a:ext cx="10241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6B778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Business Logic</a:t>
            </a:r>
            <a:endParaRPr lang="en-US" sz="740" dirty="0"/>
          </a:p>
        </p:txBody>
      </p:sp>
      <p:sp>
        <p:nvSpPr>
          <p:cNvPr id="36" name="Shape 34"/>
          <p:cNvSpPr/>
          <p:nvPr/>
        </p:nvSpPr>
        <p:spPr>
          <a:xfrm>
            <a:off x="6995160" y="2852928"/>
            <a:ext cx="1828800" cy="749808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 w="10160">
            <a:solidFill>
              <a:srgbClr val="D95D5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123176" y="2990088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D95D58"/>
          </a:solidFill>
          <a:ln w="12700">
            <a:solidFill>
              <a:srgbClr val="D95D5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123176" y="3035808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AUTH</a:t>
            </a:r>
            <a:endParaRPr lang="en-US" sz="680" dirty="0"/>
          </a:p>
        </p:txBody>
      </p:sp>
      <p:sp>
        <p:nvSpPr>
          <p:cNvPr id="39" name="Text 37"/>
          <p:cNvSpPr/>
          <p:nvPr/>
        </p:nvSpPr>
        <p:spPr>
          <a:xfrm>
            <a:off x="7680960" y="2971800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720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Auth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7680960" y="3200400"/>
            <a:ext cx="10241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6B778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Identity / Policy</a:t>
            </a:r>
            <a:endParaRPr lang="en-US" sz="740" dirty="0"/>
          </a:p>
        </p:txBody>
      </p:sp>
      <p:sp>
        <p:nvSpPr>
          <p:cNvPr id="41" name="Shape 39"/>
          <p:cNvSpPr/>
          <p:nvPr/>
        </p:nvSpPr>
        <p:spPr>
          <a:xfrm>
            <a:off x="2926080" y="4334256"/>
            <a:ext cx="1874520" cy="749808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 w="10160">
            <a:solidFill>
              <a:srgbClr val="1BA99A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054096" y="4471416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1BA99A"/>
          </a:solidFill>
          <a:ln w="12700">
            <a:solidFill>
              <a:srgbClr val="1BA99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054096" y="4517136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DB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3611880" y="4453128"/>
            <a:ext cx="10698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720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Database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3611880" y="4681728"/>
            <a:ext cx="106984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6B778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Persistent State</a:t>
            </a:r>
            <a:endParaRPr lang="en-US" sz="740" dirty="0"/>
          </a:p>
        </p:txBody>
      </p:sp>
      <p:sp>
        <p:nvSpPr>
          <p:cNvPr id="46" name="Shape 44"/>
          <p:cNvSpPr/>
          <p:nvPr/>
        </p:nvSpPr>
        <p:spPr>
          <a:xfrm>
            <a:off x="5623560" y="4334256"/>
            <a:ext cx="1874520" cy="749808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 w="10160">
            <a:solidFill>
              <a:srgbClr val="1BA99A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751576" y="4471416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1BA99A"/>
          </a:solidFill>
          <a:ln w="12700">
            <a:solidFill>
              <a:srgbClr val="1BA99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751576" y="4517136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LOG</a:t>
            </a:r>
            <a:endParaRPr lang="en-US" sz="860" dirty="0"/>
          </a:p>
        </p:txBody>
      </p:sp>
      <p:sp>
        <p:nvSpPr>
          <p:cNvPr id="49" name="Text 47"/>
          <p:cNvSpPr/>
          <p:nvPr/>
        </p:nvSpPr>
        <p:spPr>
          <a:xfrm>
            <a:off x="6309360" y="4453128"/>
            <a:ext cx="10698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720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Object / Log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6309360" y="4681728"/>
            <a:ext cx="106984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6B778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Files / Evidence</a:t>
            </a:r>
            <a:endParaRPr lang="en-US" sz="740" dirty="0"/>
          </a:p>
        </p:txBody>
      </p:sp>
      <p:sp>
        <p:nvSpPr>
          <p:cNvPr id="51" name="Shape 49"/>
          <p:cNvSpPr/>
          <p:nvPr/>
        </p:nvSpPr>
        <p:spPr>
          <a:xfrm>
            <a:off x="8156448" y="4334256"/>
            <a:ext cx="1874520" cy="749808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 w="10160">
            <a:solidFill>
              <a:srgbClr val="1BA99A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8284464" y="4471416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1BA99A"/>
          </a:solidFill>
          <a:ln w="12700">
            <a:solidFill>
              <a:srgbClr val="1BA99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8284464" y="4517136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Q</a:t>
            </a:r>
            <a:endParaRPr lang="en-US" sz="1300" dirty="0"/>
          </a:p>
        </p:txBody>
      </p:sp>
      <p:sp>
        <p:nvSpPr>
          <p:cNvPr id="54" name="Text 52"/>
          <p:cNvSpPr/>
          <p:nvPr/>
        </p:nvSpPr>
        <p:spPr>
          <a:xfrm>
            <a:off x="8842248" y="4453128"/>
            <a:ext cx="10698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720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Cache / Queue</a:t>
            </a:r>
            <a:endParaRPr lang="en-US" sz="1050" dirty="0"/>
          </a:p>
        </p:txBody>
      </p:sp>
      <p:sp>
        <p:nvSpPr>
          <p:cNvPr id="55" name="Text 53"/>
          <p:cNvSpPr/>
          <p:nvPr/>
        </p:nvSpPr>
        <p:spPr>
          <a:xfrm>
            <a:off x="8842248" y="4681728"/>
            <a:ext cx="106984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6B778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Optional Scale</a:t>
            </a:r>
            <a:endParaRPr lang="en-US" sz="740" dirty="0"/>
          </a:p>
        </p:txBody>
      </p:sp>
      <p:sp>
        <p:nvSpPr>
          <p:cNvPr id="56" name="Shape 54"/>
          <p:cNvSpPr/>
          <p:nvPr/>
        </p:nvSpPr>
        <p:spPr>
          <a:xfrm>
            <a:off x="4251960" y="5285232"/>
            <a:ext cx="1920240" cy="585216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10160">
            <a:solidFill>
              <a:srgbClr val="F3A61D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4379976" y="5422392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F3A61D"/>
          </a:solidFill>
          <a:ln w="12700">
            <a:solidFill>
              <a:srgbClr val="F3A61D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379976" y="5468112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AI</a:t>
            </a:r>
            <a:endParaRPr lang="en-US" sz="1050" dirty="0"/>
          </a:p>
        </p:txBody>
      </p:sp>
      <p:sp>
        <p:nvSpPr>
          <p:cNvPr id="59" name="Text 57"/>
          <p:cNvSpPr/>
          <p:nvPr/>
        </p:nvSpPr>
        <p:spPr>
          <a:xfrm>
            <a:off x="4937760" y="5404104"/>
            <a:ext cx="1115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720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External AI API</a:t>
            </a:r>
            <a:endParaRPr lang="en-US" sz="1050" dirty="0"/>
          </a:p>
        </p:txBody>
      </p:sp>
      <p:sp>
        <p:nvSpPr>
          <p:cNvPr id="60" name="Text 58"/>
          <p:cNvSpPr/>
          <p:nvPr/>
        </p:nvSpPr>
        <p:spPr>
          <a:xfrm>
            <a:off x="4937760" y="5632704"/>
            <a:ext cx="111556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6B778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LLM / Model</a:t>
            </a:r>
            <a:endParaRPr lang="en-US" sz="740" dirty="0"/>
          </a:p>
        </p:txBody>
      </p:sp>
      <p:sp>
        <p:nvSpPr>
          <p:cNvPr id="61" name="Shape 59"/>
          <p:cNvSpPr/>
          <p:nvPr/>
        </p:nvSpPr>
        <p:spPr>
          <a:xfrm>
            <a:off x="6675120" y="5285232"/>
            <a:ext cx="1920240" cy="585216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10160">
            <a:solidFill>
              <a:srgbClr val="F3A61D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803136" y="5422392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F3A61D"/>
          </a:solidFill>
          <a:ln w="12700">
            <a:solidFill>
              <a:srgbClr val="F3A61D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803136" y="5468112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☁</a:t>
            </a:r>
            <a:endParaRPr lang="en-US" sz="1300" dirty="0"/>
          </a:p>
        </p:txBody>
      </p:sp>
      <p:sp>
        <p:nvSpPr>
          <p:cNvPr id="64" name="Text 62"/>
          <p:cNvSpPr/>
          <p:nvPr/>
        </p:nvSpPr>
        <p:spPr>
          <a:xfrm>
            <a:off x="7360920" y="5404104"/>
            <a:ext cx="1115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720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Cloud / IAM</a:t>
            </a:r>
            <a:endParaRPr lang="en-US" sz="1050" dirty="0"/>
          </a:p>
        </p:txBody>
      </p:sp>
      <p:sp>
        <p:nvSpPr>
          <p:cNvPr id="65" name="Text 63"/>
          <p:cNvSpPr/>
          <p:nvPr/>
        </p:nvSpPr>
        <p:spPr>
          <a:xfrm>
            <a:off x="7360920" y="5632704"/>
            <a:ext cx="111556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6B778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Infra / Permission</a:t>
            </a:r>
            <a:endParaRPr lang="en-US" sz="740" dirty="0"/>
          </a:p>
        </p:txBody>
      </p:sp>
      <p:sp>
        <p:nvSpPr>
          <p:cNvPr id="66" name="Shape 64"/>
          <p:cNvSpPr/>
          <p:nvPr/>
        </p:nvSpPr>
        <p:spPr>
          <a:xfrm>
            <a:off x="3401568" y="2185416"/>
            <a:ext cx="347472" cy="0"/>
          </a:xfrm>
          <a:prstGeom prst="line">
            <a:avLst/>
          </a:prstGeom>
          <a:noFill/>
          <a:ln w="22860">
            <a:solidFill>
              <a:srgbClr val="2F80ED"/>
            </a:solidFill>
            <a:prstDash val="solid"/>
            <a:headEnd type="none"/>
            <a:tailEnd type="triangle"/>
          </a:ln>
        </p:spPr>
      </p:sp>
      <p:sp>
        <p:nvSpPr>
          <p:cNvPr id="67" name="Shape 65"/>
          <p:cNvSpPr/>
          <p:nvPr/>
        </p:nvSpPr>
        <p:spPr>
          <a:xfrm>
            <a:off x="4626864" y="2514600"/>
            <a:ext cx="-1700784" cy="338328"/>
          </a:xfrm>
          <a:prstGeom prst="line">
            <a:avLst/>
          </a:prstGeom>
          <a:noFill/>
          <a:ln w="22860">
            <a:solidFill>
              <a:srgbClr val="2F80ED"/>
            </a:solidFill>
            <a:prstDash val="solid"/>
            <a:headEnd type="none"/>
            <a:tailEnd type="triangle"/>
          </a:ln>
        </p:spPr>
      </p:sp>
      <p:sp>
        <p:nvSpPr>
          <p:cNvPr id="68" name="Shape 66"/>
          <p:cNvSpPr/>
          <p:nvPr/>
        </p:nvSpPr>
        <p:spPr>
          <a:xfrm>
            <a:off x="3977640" y="3227832"/>
            <a:ext cx="594360" cy="0"/>
          </a:xfrm>
          <a:prstGeom prst="line">
            <a:avLst/>
          </a:prstGeom>
          <a:noFill/>
          <a:ln w="22860">
            <a:solidFill>
              <a:srgbClr val="12314E"/>
            </a:solidFill>
            <a:prstDash val="solid"/>
            <a:headEnd type="none"/>
            <a:tailEnd type="triangle"/>
          </a:ln>
        </p:spPr>
      </p:sp>
      <p:sp>
        <p:nvSpPr>
          <p:cNvPr id="69" name="Shape 67"/>
          <p:cNvSpPr/>
          <p:nvPr/>
        </p:nvSpPr>
        <p:spPr>
          <a:xfrm>
            <a:off x="6400800" y="3227832"/>
            <a:ext cx="594360" cy="0"/>
          </a:xfrm>
          <a:prstGeom prst="line">
            <a:avLst/>
          </a:prstGeom>
          <a:noFill/>
          <a:ln w="22860">
            <a:solidFill>
              <a:srgbClr val="12314E"/>
            </a:solidFill>
            <a:prstDash val="solid"/>
            <a:headEnd type="none"/>
            <a:tailEnd type="triangle"/>
          </a:ln>
        </p:spPr>
      </p:sp>
      <p:sp>
        <p:nvSpPr>
          <p:cNvPr id="70" name="Shape 68"/>
          <p:cNvSpPr/>
          <p:nvPr/>
        </p:nvSpPr>
        <p:spPr>
          <a:xfrm>
            <a:off x="5486400" y="3602736"/>
            <a:ext cx="-1627632" cy="731520"/>
          </a:xfrm>
          <a:prstGeom prst="line">
            <a:avLst/>
          </a:prstGeom>
          <a:noFill/>
          <a:ln w="22860">
            <a:solidFill>
              <a:srgbClr val="1BA99A"/>
            </a:solidFill>
            <a:prstDash val="solid"/>
            <a:headEnd type="none"/>
            <a:tailEnd type="triangle"/>
          </a:ln>
        </p:spPr>
      </p:sp>
      <p:sp>
        <p:nvSpPr>
          <p:cNvPr id="71" name="Shape 69"/>
          <p:cNvSpPr/>
          <p:nvPr/>
        </p:nvSpPr>
        <p:spPr>
          <a:xfrm>
            <a:off x="5486400" y="3602736"/>
            <a:ext cx="1078992" cy="731520"/>
          </a:xfrm>
          <a:prstGeom prst="line">
            <a:avLst/>
          </a:prstGeom>
          <a:noFill/>
          <a:ln w="22860">
            <a:solidFill>
              <a:srgbClr val="1BA99A"/>
            </a:solidFill>
            <a:prstDash val="solid"/>
            <a:headEnd type="none"/>
            <a:tailEnd type="triangle"/>
          </a:ln>
        </p:spPr>
      </p:sp>
      <p:sp>
        <p:nvSpPr>
          <p:cNvPr id="72" name="Shape 70"/>
          <p:cNvSpPr/>
          <p:nvPr/>
        </p:nvSpPr>
        <p:spPr>
          <a:xfrm>
            <a:off x="5577840" y="3611880"/>
            <a:ext cx="-411480" cy="1673352"/>
          </a:xfrm>
          <a:prstGeom prst="line">
            <a:avLst/>
          </a:prstGeom>
          <a:noFill/>
          <a:ln w="19050">
            <a:solidFill>
              <a:srgbClr val="F3A61D"/>
            </a:solidFill>
            <a:prstDash val="solid"/>
            <a:headEnd type="none"/>
            <a:tailEnd type="triangle"/>
          </a:ln>
        </p:spPr>
      </p:sp>
      <p:sp>
        <p:nvSpPr>
          <p:cNvPr id="73" name="Shape 71"/>
          <p:cNvSpPr/>
          <p:nvPr/>
        </p:nvSpPr>
        <p:spPr>
          <a:xfrm>
            <a:off x="7955280" y="3611880"/>
            <a:ext cx="-320040" cy="1673352"/>
          </a:xfrm>
          <a:prstGeom prst="line">
            <a:avLst/>
          </a:prstGeom>
          <a:noFill/>
          <a:ln w="19050">
            <a:solidFill>
              <a:srgbClr val="F3A61D"/>
            </a:solidFill>
            <a:prstDash val="solid"/>
            <a:headEnd type="none"/>
            <a:tailEnd type="triangle"/>
          </a:ln>
        </p:spPr>
      </p:sp>
      <p:sp>
        <p:nvSpPr>
          <p:cNvPr id="74" name="Shape 72"/>
          <p:cNvSpPr/>
          <p:nvPr/>
        </p:nvSpPr>
        <p:spPr>
          <a:xfrm>
            <a:off x="10012680" y="2651760"/>
            <a:ext cx="1143000" cy="256032"/>
          </a:xfrm>
          <a:prstGeom prst="roundRect">
            <a:avLst>
              <a:gd name="adj" fmla="val 21429"/>
            </a:avLst>
          </a:prstGeom>
          <a:solidFill>
            <a:srgbClr val="FDEDEC"/>
          </a:solidFill>
          <a:ln w="6350">
            <a:solidFill>
              <a:srgbClr val="D7DEE8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10049256" y="2706624"/>
            <a:ext cx="10698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5D5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Trust Boundary</a:t>
            </a:r>
            <a:endParaRPr lang="en-US" sz="680" dirty="0"/>
          </a:p>
        </p:txBody>
      </p:sp>
      <p:sp>
        <p:nvSpPr>
          <p:cNvPr id="76" name="Shape 74"/>
          <p:cNvSpPr/>
          <p:nvPr/>
        </p:nvSpPr>
        <p:spPr>
          <a:xfrm>
            <a:off x="530352" y="6007608"/>
            <a:ext cx="11119104" cy="347472"/>
          </a:xfrm>
          <a:prstGeom prst="roundRect">
            <a:avLst>
              <a:gd name="adj" fmla="val 15789"/>
            </a:avLst>
          </a:prstGeom>
          <a:solidFill>
            <a:srgbClr val="EAF3FF"/>
          </a:solidFill>
          <a:ln w="12700">
            <a:solidFill>
              <a:srgbClr val="EAF3FF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676656" y="6108192"/>
            <a:ext cx="10835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2F80E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편집 포인트: 컴포넌트 이름보다 “책임”을 1줄로 명시하고, 외부 시스템과 보안 경계를 반드시 구분합니다.</a:t>
            </a:r>
            <a:endParaRPr lang="en-US" sz="76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28816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A0AAB6"/>
                </a:solidFill>
                <a:latin typeface="Noto Sans CJK KR"/>
                <a:ea typeface="Noto Sans CJK KR"/>
                <a:cs typeface="Noto Sans CJK KR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21208"/>
            <a:ext cx="8595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720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데이터 흐름도는 “입력 → 검증 → 처리 → 저장 → 응답”을 분리해 보여줍니다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12064" y="1005840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B778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B2·B4·B6에서 구현 설명과 예외 처리 설명에 특히 유용합니다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10168128" y="557784"/>
            <a:ext cx="1481328" cy="329184"/>
          </a:xfrm>
          <a:prstGeom prst="roundRect">
            <a:avLst>
              <a:gd name="adj" fmla="val 22222"/>
            </a:avLst>
          </a:prstGeom>
          <a:solidFill>
            <a:srgbClr val="0B2035"/>
          </a:solidFill>
          <a:ln w="12700">
            <a:solidFill>
              <a:srgbClr val="0B203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232136" y="630936"/>
            <a:ext cx="13533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DATA FLOW</a:t>
            </a:r>
            <a:endParaRPr lang="en-US" sz="780" dirty="0"/>
          </a:p>
        </p:txBody>
      </p:sp>
      <p:sp>
        <p:nvSpPr>
          <p:cNvPr id="6" name="Shape 4"/>
          <p:cNvSpPr/>
          <p:nvPr/>
        </p:nvSpPr>
        <p:spPr>
          <a:xfrm>
            <a:off x="521208" y="1389888"/>
            <a:ext cx="1325880" cy="256032"/>
          </a:xfrm>
          <a:prstGeom prst="roundRect">
            <a:avLst>
              <a:gd name="adj" fmla="val 28571"/>
            </a:avLst>
          </a:prstGeom>
          <a:solidFill>
            <a:srgbClr val="2F80ED">
              <a:alpha val="12000"/>
            </a:srgbClr>
          </a:solidFill>
          <a:ln w="12700">
            <a:solidFill>
              <a:srgbClr val="2F80ED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57784" y="1444752"/>
            <a:ext cx="125272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9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04 DATA FLOW</a:t>
            </a:r>
            <a:endParaRPr lang="en-US" sz="690" dirty="0"/>
          </a:p>
        </p:txBody>
      </p:sp>
      <p:sp>
        <p:nvSpPr>
          <p:cNvPr id="8" name="Shape 6"/>
          <p:cNvSpPr/>
          <p:nvPr/>
        </p:nvSpPr>
        <p:spPr>
          <a:xfrm>
            <a:off x="713232" y="2148840"/>
            <a:ext cx="1737360" cy="19659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0160">
            <a:solidFill>
              <a:srgbClr val="2F80ED"/>
            </a:solidFill>
            <a:prstDash val="solid"/>
          </a:ln>
          <a:effectLst>
            <a:outerShdw sx="100000" sy="100000" kx="0" ky="0" algn="bl" rotWithShape="0" blurRad="15240" dist="8890" dir="27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307592" y="2441448"/>
            <a:ext cx="530352" cy="530352"/>
          </a:xfrm>
          <a:prstGeom prst="ellipse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07592" y="2578608"/>
            <a:ext cx="53035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77824" y="3163824"/>
            <a:ext cx="14081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0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INPUT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59536" y="3511296"/>
            <a:ext cx="14447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6B778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사용자 / 파일 / API</a:t>
            </a:r>
            <a:endParaRPr lang="en-US" sz="740" dirty="0"/>
          </a:p>
        </p:txBody>
      </p:sp>
      <p:sp>
        <p:nvSpPr>
          <p:cNvPr id="13" name="Shape 11"/>
          <p:cNvSpPr/>
          <p:nvPr/>
        </p:nvSpPr>
        <p:spPr>
          <a:xfrm>
            <a:off x="2450592" y="3090672"/>
            <a:ext cx="429768" cy="0"/>
          </a:xfrm>
          <a:prstGeom prst="line">
            <a:avLst/>
          </a:prstGeom>
          <a:noFill/>
          <a:ln w="27940">
            <a:solidFill>
              <a:srgbClr val="2F80ED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2880360" y="2148840"/>
            <a:ext cx="1737360" cy="19659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0160">
            <a:solidFill>
              <a:srgbClr val="D95D58"/>
            </a:solidFill>
            <a:prstDash val="solid"/>
          </a:ln>
          <a:effectLst>
            <a:outerShdw sx="100000" sy="100000" kx="0" ky="0" algn="bl" rotWithShape="0" blurRad="15240" dist="8890" dir="27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474720" y="2441448"/>
            <a:ext cx="530352" cy="530352"/>
          </a:xfrm>
          <a:prstGeom prst="ellipse">
            <a:avLst/>
          </a:prstGeom>
          <a:solidFill>
            <a:srgbClr val="D95D58"/>
          </a:solidFill>
          <a:ln w="12700">
            <a:solidFill>
              <a:srgbClr val="D95D5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74720" y="2578608"/>
            <a:ext cx="53035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044952" y="3163824"/>
            <a:ext cx="14081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0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VALIDATE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026664" y="3511296"/>
            <a:ext cx="14447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6B778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형식 · 범위 · 권한</a:t>
            </a:r>
            <a:endParaRPr lang="en-US" sz="740" dirty="0"/>
          </a:p>
        </p:txBody>
      </p:sp>
      <p:sp>
        <p:nvSpPr>
          <p:cNvPr id="19" name="Shape 17"/>
          <p:cNvSpPr/>
          <p:nvPr/>
        </p:nvSpPr>
        <p:spPr>
          <a:xfrm>
            <a:off x="4617720" y="3090672"/>
            <a:ext cx="429768" cy="0"/>
          </a:xfrm>
          <a:prstGeom prst="line">
            <a:avLst/>
          </a:prstGeom>
          <a:noFill/>
          <a:ln w="27940">
            <a:solidFill>
              <a:srgbClr val="D95D58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5047488" y="2148840"/>
            <a:ext cx="1737360" cy="19659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0160">
            <a:solidFill>
              <a:srgbClr val="7B61FF"/>
            </a:solidFill>
            <a:prstDash val="solid"/>
          </a:ln>
          <a:effectLst>
            <a:outerShdw sx="100000" sy="100000" kx="0" ky="0" algn="bl" rotWithShape="0" blurRad="15240" dist="8890" dir="27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641848" y="2441448"/>
            <a:ext cx="530352" cy="530352"/>
          </a:xfrm>
          <a:prstGeom prst="ellipse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41848" y="2578608"/>
            <a:ext cx="53035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212080" y="3163824"/>
            <a:ext cx="14081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0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TRANSFORM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193792" y="3511296"/>
            <a:ext cx="14447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6B778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정규화 · 계산</a:t>
            </a:r>
            <a:endParaRPr lang="en-US" sz="740" dirty="0"/>
          </a:p>
        </p:txBody>
      </p:sp>
      <p:sp>
        <p:nvSpPr>
          <p:cNvPr id="25" name="Shape 23"/>
          <p:cNvSpPr/>
          <p:nvPr/>
        </p:nvSpPr>
        <p:spPr>
          <a:xfrm>
            <a:off x="6784848" y="3090672"/>
            <a:ext cx="429768" cy="0"/>
          </a:xfrm>
          <a:prstGeom prst="line">
            <a:avLst/>
          </a:prstGeom>
          <a:noFill/>
          <a:ln w="27940">
            <a:solidFill>
              <a:srgbClr val="7B61FF"/>
            </a:solidFill>
            <a:prstDash val="solid"/>
            <a:headEnd type="none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7214616" y="2148840"/>
            <a:ext cx="1737360" cy="19659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0160">
            <a:solidFill>
              <a:srgbClr val="1BA99A"/>
            </a:solidFill>
            <a:prstDash val="solid"/>
          </a:ln>
          <a:effectLst>
            <a:outerShdw sx="100000" sy="100000" kx="0" ky="0" algn="bl" rotWithShape="0" blurRad="15240" dist="8890" dir="27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7808976" y="2441448"/>
            <a:ext cx="530352" cy="530352"/>
          </a:xfrm>
          <a:prstGeom prst="ellipse">
            <a:avLst/>
          </a:prstGeom>
          <a:solidFill>
            <a:srgbClr val="1BA99A"/>
          </a:solidFill>
          <a:ln w="12700">
            <a:solidFill>
              <a:srgbClr val="1BA99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808976" y="2578608"/>
            <a:ext cx="53035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4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379208" y="3163824"/>
            <a:ext cx="14081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0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STORE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360920" y="3511296"/>
            <a:ext cx="14447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6B778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DB · File · Cache</a:t>
            </a:r>
            <a:endParaRPr lang="en-US" sz="740" dirty="0"/>
          </a:p>
        </p:txBody>
      </p:sp>
      <p:sp>
        <p:nvSpPr>
          <p:cNvPr id="31" name="Shape 29"/>
          <p:cNvSpPr/>
          <p:nvPr/>
        </p:nvSpPr>
        <p:spPr>
          <a:xfrm>
            <a:off x="8951976" y="3090672"/>
            <a:ext cx="429768" cy="0"/>
          </a:xfrm>
          <a:prstGeom prst="line">
            <a:avLst/>
          </a:prstGeom>
          <a:noFill/>
          <a:ln w="27940">
            <a:solidFill>
              <a:srgbClr val="1BA99A"/>
            </a:solidFill>
            <a:prstDash val="solid"/>
            <a:headEnd type="none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9381744" y="2148840"/>
            <a:ext cx="1737360" cy="19659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0160">
            <a:solidFill>
              <a:srgbClr val="2FA66A"/>
            </a:solidFill>
            <a:prstDash val="solid"/>
          </a:ln>
          <a:effectLst>
            <a:outerShdw sx="100000" sy="100000" kx="0" ky="0" algn="bl" rotWithShape="0" blurRad="15240" dist="8890" dir="270000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9976104" y="2441448"/>
            <a:ext cx="530352" cy="530352"/>
          </a:xfrm>
          <a:prstGeom prst="ellipse">
            <a:avLst/>
          </a:prstGeom>
          <a:solidFill>
            <a:srgbClr val="2FA66A"/>
          </a:solidFill>
          <a:ln w="12700">
            <a:solidFill>
              <a:srgbClr val="2FA66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976104" y="2578608"/>
            <a:ext cx="53035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5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9546336" y="3163824"/>
            <a:ext cx="14081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0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RESPOND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9528048" y="3511296"/>
            <a:ext cx="14447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6B778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UI · JSON · Log</a:t>
            </a:r>
            <a:endParaRPr lang="en-US" sz="740" dirty="0"/>
          </a:p>
        </p:txBody>
      </p:sp>
      <p:sp>
        <p:nvSpPr>
          <p:cNvPr id="37" name="Shape 35"/>
          <p:cNvSpPr/>
          <p:nvPr/>
        </p:nvSpPr>
        <p:spPr>
          <a:xfrm>
            <a:off x="1920240" y="4645152"/>
            <a:ext cx="8366760" cy="841248"/>
          </a:xfrm>
          <a:prstGeom prst="roundRect">
            <a:avLst>
              <a:gd name="adj" fmla="val 10870"/>
            </a:avLst>
          </a:prstGeom>
          <a:solidFill>
            <a:srgbClr val="FBFCFE"/>
          </a:solidFill>
          <a:ln w="10160">
            <a:solidFill>
              <a:srgbClr val="D7DEE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148840" y="4901184"/>
            <a:ext cx="1143000" cy="256032"/>
          </a:xfrm>
          <a:prstGeom prst="roundRect">
            <a:avLst>
              <a:gd name="adj" fmla="val 21429"/>
            </a:avLst>
          </a:prstGeom>
          <a:solidFill>
            <a:srgbClr val="FDEDEC"/>
          </a:solidFill>
          <a:ln w="6350">
            <a:solidFill>
              <a:srgbClr val="D7DEE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185416" y="4956048"/>
            <a:ext cx="10698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5D5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ERROR PATH</a:t>
            </a:r>
            <a:endParaRPr lang="en-US" sz="680" dirty="0"/>
          </a:p>
        </p:txBody>
      </p:sp>
      <p:sp>
        <p:nvSpPr>
          <p:cNvPr id="40" name="Text 38"/>
          <p:cNvSpPr/>
          <p:nvPr/>
        </p:nvSpPr>
        <p:spPr>
          <a:xfrm>
            <a:off x="3566160" y="4919472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95D5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검증 실패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4407408" y="5001768"/>
            <a:ext cx="1078992" cy="0"/>
          </a:xfrm>
          <a:prstGeom prst="line">
            <a:avLst/>
          </a:prstGeom>
          <a:noFill/>
          <a:ln w="20320">
            <a:solidFill>
              <a:srgbClr val="D95D58"/>
            </a:solidFill>
            <a:prstDash val="solid"/>
            <a:headEnd type="none"/>
            <a:tailEnd type="triangle"/>
          </a:ln>
        </p:spPr>
      </p:sp>
      <p:sp>
        <p:nvSpPr>
          <p:cNvPr id="42" name="Text 40"/>
          <p:cNvSpPr/>
          <p:nvPr/>
        </p:nvSpPr>
        <p:spPr>
          <a:xfrm>
            <a:off x="5623560" y="4919472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에러 메시지 / 재입력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7269480" y="5001768"/>
            <a:ext cx="960120" cy="0"/>
          </a:xfrm>
          <a:prstGeom prst="line">
            <a:avLst/>
          </a:prstGeom>
          <a:noFill/>
          <a:ln w="20320">
            <a:solidFill>
              <a:srgbClr val="D95D58"/>
            </a:solidFill>
            <a:prstDash val="solid"/>
            <a:headEnd type="none"/>
            <a:tailEnd type="triangle"/>
          </a:ln>
        </p:spPr>
      </p:sp>
      <p:sp>
        <p:nvSpPr>
          <p:cNvPr id="44" name="Text 42"/>
          <p:cNvSpPr/>
          <p:nvPr/>
        </p:nvSpPr>
        <p:spPr>
          <a:xfrm>
            <a:off x="8357616" y="4919472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로그 / Evidence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530352" y="6007608"/>
            <a:ext cx="11119104" cy="347472"/>
          </a:xfrm>
          <a:prstGeom prst="roundRect">
            <a:avLst>
              <a:gd name="adj" fmla="val 15789"/>
            </a:avLst>
          </a:prstGeom>
          <a:solidFill>
            <a:srgbClr val="FDEDEC"/>
          </a:solidFill>
          <a:ln w="12700">
            <a:solidFill>
              <a:srgbClr val="FDEDE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76656" y="6108192"/>
            <a:ext cx="10835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D95D5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실선 = 정상 데이터 경로 · 빨강 = 실패/예외 경로 · 각 단계의 “입력과 출력”을 1줄로 고정하면 설명력이 올라갑니다.</a:t>
            </a:r>
            <a:endParaRPr lang="en-US" sz="76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28816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A0AAB6"/>
                </a:solidFill>
                <a:latin typeface="Noto Sans CJK KR"/>
                <a:ea typeface="Noto Sans CJK KR"/>
                <a:cs typeface="Noto Sans CJK KR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21208"/>
            <a:ext cx="8595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720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Sequence Diagram은 “누가 언제 누구에게 무엇을 요청하는가”를 시간 순서로 보여줍니다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12064" y="1005840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B778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인증·API·DB 연동처럼 컴포넌트가 여러 개인 동작 설명에 최적입니다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10168128" y="557784"/>
            <a:ext cx="1481328" cy="329184"/>
          </a:xfrm>
          <a:prstGeom prst="roundRect">
            <a:avLst>
              <a:gd name="adj" fmla="val 22222"/>
            </a:avLst>
          </a:prstGeom>
          <a:solidFill>
            <a:srgbClr val="0B2035"/>
          </a:solidFill>
          <a:ln w="12700">
            <a:solidFill>
              <a:srgbClr val="0B203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232136" y="630936"/>
            <a:ext cx="13533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SEQUENCE</a:t>
            </a:r>
            <a:endParaRPr lang="en-US" sz="780" dirty="0"/>
          </a:p>
        </p:txBody>
      </p:sp>
      <p:sp>
        <p:nvSpPr>
          <p:cNvPr id="6" name="Shape 4"/>
          <p:cNvSpPr/>
          <p:nvPr/>
        </p:nvSpPr>
        <p:spPr>
          <a:xfrm>
            <a:off x="521208" y="1389888"/>
            <a:ext cx="1325880" cy="256032"/>
          </a:xfrm>
          <a:prstGeom prst="roundRect">
            <a:avLst>
              <a:gd name="adj" fmla="val 28571"/>
            </a:avLst>
          </a:prstGeom>
          <a:solidFill>
            <a:srgbClr val="2F80ED">
              <a:alpha val="12000"/>
            </a:srgbClr>
          </a:solidFill>
          <a:ln w="12700">
            <a:solidFill>
              <a:srgbClr val="2F80ED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57784" y="1444752"/>
            <a:ext cx="125272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9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05 SEQUENCE</a:t>
            </a:r>
            <a:endParaRPr lang="en-US" sz="690" dirty="0"/>
          </a:p>
        </p:txBody>
      </p:sp>
      <p:sp>
        <p:nvSpPr>
          <p:cNvPr id="8" name="Shape 6"/>
          <p:cNvSpPr/>
          <p:nvPr/>
        </p:nvSpPr>
        <p:spPr>
          <a:xfrm>
            <a:off x="548640" y="1783080"/>
            <a:ext cx="1188720" cy="475488"/>
          </a:xfrm>
          <a:prstGeom prst="roundRect">
            <a:avLst>
              <a:gd name="adj" fmla="val 11538"/>
            </a:avLst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929384"/>
            <a:ext cx="10972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User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1143000" y="2267712"/>
            <a:ext cx="0" cy="3246120"/>
          </a:xfrm>
          <a:prstGeom prst="line">
            <a:avLst/>
          </a:prstGeom>
          <a:noFill/>
          <a:ln w="12700">
            <a:solidFill>
              <a:srgbClr val="B9C4D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0" y="1783080"/>
            <a:ext cx="1188720" cy="475488"/>
          </a:xfrm>
          <a:prstGeom prst="roundRect">
            <a:avLst>
              <a:gd name="adj" fmla="val 11538"/>
            </a:avLst>
          </a:prstGeom>
          <a:solidFill>
            <a:srgbClr val="12314E"/>
          </a:solidFill>
          <a:ln w="12700">
            <a:solidFill>
              <a:srgbClr val="12314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88920" y="1929384"/>
            <a:ext cx="10972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Frontend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337560" y="2267712"/>
            <a:ext cx="0" cy="3246120"/>
          </a:xfrm>
          <a:prstGeom prst="line">
            <a:avLst/>
          </a:prstGeom>
          <a:noFill/>
          <a:ln w="12700">
            <a:solidFill>
              <a:srgbClr val="B9C4D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937760" y="1783080"/>
            <a:ext cx="1188720" cy="475488"/>
          </a:xfrm>
          <a:prstGeom prst="roundRect">
            <a:avLst>
              <a:gd name="adj" fmla="val 11538"/>
            </a:avLst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83480" y="1929384"/>
            <a:ext cx="10972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API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5532120" y="2267712"/>
            <a:ext cx="0" cy="3246120"/>
          </a:xfrm>
          <a:prstGeom prst="line">
            <a:avLst/>
          </a:prstGeom>
          <a:noFill/>
          <a:ln w="12700">
            <a:solidFill>
              <a:srgbClr val="B9C4D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132320" y="1783080"/>
            <a:ext cx="1188720" cy="475488"/>
          </a:xfrm>
          <a:prstGeom prst="roundRect">
            <a:avLst>
              <a:gd name="adj" fmla="val 11538"/>
            </a:avLst>
          </a:prstGeom>
          <a:solidFill>
            <a:srgbClr val="D95D58"/>
          </a:solidFill>
          <a:ln w="12700">
            <a:solidFill>
              <a:srgbClr val="D95D5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178040" y="1929384"/>
            <a:ext cx="10972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Auth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7726680" y="2267712"/>
            <a:ext cx="0" cy="3246120"/>
          </a:xfrm>
          <a:prstGeom prst="line">
            <a:avLst/>
          </a:prstGeom>
          <a:noFill/>
          <a:ln w="12700">
            <a:solidFill>
              <a:srgbClr val="B9C4D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326880" y="1783080"/>
            <a:ext cx="1188720" cy="475488"/>
          </a:xfrm>
          <a:prstGeom prst="roundRect">
            <a:avLst>
              <a:gd name="adj" fmla="val 11538"/>
            </a:avLst>
          </a:prstGeom>
          <a:solidFill>
            <a:srgbClr val="1BA99A"/>
          </a:solidFill>
          <a:ln w="12700">
            <a:solidFill>
              <a:srgbClr val="1BA99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372600" y="1929384"/>
            <a:ext cx="10972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DB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9921240" y="2267712"/>
            <a:ext cx="0" cy="3246120"/>
          </a:xfrm>
          <a:prstGeom prst="line">
            <a:avLst/>
          </a:prstGeom>
          <a:noFill/>
          <a:ln w="12700">
            <a:solidFill>
              <a:srgbClr val="B9C4D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43000" y="2542032"/>
            <a:ext cx="2194560" cy="0"/>
          </a:xfrm>
          <a:prstGeom prst="line">
            <a:avLst/>
          </a:prstGeom>
          <a:noFill/>
          <a:ln w="20320">
            <a:solidFill>
              <a:srgbClr val="2F80ED"/>
            </a:solidFill>
            <a:prstDash val="solid"/>
            <a:headEnd type="none"/>
            <a:tailEnd type="triangle"/>
          </a:ln>
        </p:spPr>
      </p:sp>
      <p:sp>
        <p:nvSpPr>
          <p:cNvPr id="24" name="Text 22"/>
          <p:cNvSpPr/>
          <p:nvPr/>
        </p:nvSpPr>
        <p:spPr>
          <a:xfrm>
            <a:off x="1252728" y="2359152"/>
            <a:ext cx="19751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3341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  로그인 요청</a:t>
            </a:r>
            <a:endParaRPr lang="en-US" sz="720" dirty="0"/>
          </a:p>
        </p:txBody>
      </p:sp>
      <p:sp>
        <p:nvSpPr>
          <p:cNvPr id="25" name="Shape 23"/>
          <p:cNvSpPr/>
          <p:nvPr/>
        </p:nvSpPr>
        <p:spPr>
          <a:xfrm>
            <a:off x="3337560" y="2971800"/>
            <a:ext cx="2194560" cy="0"/>
          </a:xfrm>
          <a:prstGeom prst="line">
            <a:avLst/>
          </a:prstGeom>
          <a:noFill/>
          <a:ln w="20320">
            <a:solidFill>
              <a:srgbClr val="12314E"/>
            </a:solidFill>
            <a:prstDash val="solid"/>
            <a:headEnd type="none"/>
            <a:tailEnd type="triangle"/>
          </a:ln>
        </p:spPr>
      </p:sp>
      <p:sp>
        <p:nvSpPr>
          <p:cNvPr id="26" name="Text 24"/>
          <p:cNvSpPr/>
          <p:nvPr/>
        </p:nvSpPr>
        <p:spPr>
          <a:xfrm>
            <a:off x="3447288" y="2788920"/>
            <a:ext cx="19751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3341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  POST /login</a:t>
            </a:r>
            <a:endParaRPr lang="en-US" sz="720" dirty="0"/>
          </a:p>
        </p:txBody>
      </p:sp>
      <p:sp>
        <p:nvSpPr>
          <p:cNvPr id="27" name="Shape 25"/>
          <p:cNvSpPr/>
          <p:nvPr/>
        </p:nvSpPr>
        <p:spPr>
          <a:xfrm>
            <a:off x="5532120" y="3401568"/>
            <a:ext cx="2194560" cy="0"/>
          </a:xfrm>
          <a:prstGeom prst="line">
            <a:avLst/>
          </a:prstGeom>
          <a:noFill/>
          <a:ln w="20320">
            <a:solidFill>
              <a:srgbClr val="7B61FF"/>
            </a:solidFill>
            <a:prstDash val="solid"/>
            <a:headEnd type="none"/>
            <a:tailEnd type="triangle"/>
          </a:ln>
        </p:spPr>
      </p:sp>
      <p:sp>
        <p:nvSpPr>
          <p:cNvPr id="28" name="Text 26"/>
          <p:cNvSpPr/>
          <p:nvPr/>
        </p:nvSpPr>
        <p:spPr>
          <a:xfrm>
            <a:off x="5641848" y="3218688"/>
            <a:ext cx="19751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3341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  자격 검증</a:t>
            </a:r>
            <a:endParaRPr lang="en-US" sz="720" dirty="0"/>
          </a:p>
        </p:txBody>
      </p:sp>
      <p:sp>
        <p:nvSpPr>
          <p:cNvPr id="29" name="Shape 27"/>
          <p:cNvSpPr/>
          <p:nvPr/>
        </p:nvSpPr>
        <p:spPr>
          <a:xfrm>
            <a:off x="7726680" y="3831336"/>
            <a:ext cx="2194560" cy="0"/>
          </a:xfrm>
          <a:prstGeom prst="line">
            <a:avLst/>
          </a:prstGeom>
          <a:noFill/>
          <a:ln w="20320">
            <a:solidFill>
              <a:srgbClr val="D95D58"/>
            </a:solidFill>
            <a:prstDash val="solid"/>
            <a:headEnd type="none"/>
            <a:tailEnd type="triangle"/>
          </a:ln>
        </p:spPr>
      </p:sp>
      <p:sp>
        <p:nvSpPr>
          <p:cNvPr id="30" name="Text 28"/>
          <p:cNvSpPr/>
          <p:nvPr/>
        </p:nvSpPr>
        <p:spPr>
          <a:xfrm>
            <a:off x="7836408" y="3648456"/>
            <a:ext cx="19751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3341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4  사용자 조회</a:t>
            </a:r>
            <a:endParaRPr lang="en-US" sz="720" dirty="0"/>
          </a:p>
        </p:txBody>
      </p:sp>
      <p:sp>
        <p:nvSpPr>
          <p:cNvPr id="31" name="Shape 29"/>
          <p:cNvSpPr/>
          <p:nvPr/>
        </p:nvSpPr>
        <p:spPr>
          <a:xfrm>
            <a:off x="9921240" y="4261104"/>
            <a:ext cx="-2194560" cy="0"/>
          </a:xfrm>
          <a:prstGeom prst="line">
            <a:avLst/>
          </a:prstGeom>
          <a:noFill/>
          <a:ln w="20320">
            <a:solidFill>
              <a:srgbClr val="1BA99A"/>
            </a:solidFill>
            <a:prstDash val="solid"/>
            <a:headEnd type="none"/>
            <a:tailEnd type="triangle"/>
          </a:ln>
        </p:spPr>
      </p:sp>
      <p:sp>
        <p:nvSpPr>
          <p:cNvPr id="32" name="Text 30"/>
          <p:cNvSpPr/>
          <p:nvPr/>
        </p:nvSpPr>
        <p:spPr>
          <a:xfrm>
            <a:off x="7836408" y="4078224"/>
            <a:ext cx="19751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3341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5  User row</a:t>
            </a:r>
            <a:endParaRPr lang="en-US" sz="720" dirty="0"/>
          </a:p>
        </p:txBody>
      </p:sp>
      <p:sp>
        <p:nvSpPr>
          <p:cNvPr id="33" name="Shape 31"/>
          <p:cNvSpPr/>
          <p:nvPr/>
        </p:nvSpPr>
        <p:spPr>
          <a:xfrm>
            <a:off x="7726680" y="4690872"/>
            <a:ext cx="-2194560" cy="0"/>
          </a:xfrm>
          <a:prstGeom prst="line">
            <a:avLst/>
          </a:prstGeom>
          <a:noFill/>
          <a:ln w="20320">
            <a:solidFill>
              <a:srgbClr val="2FA66A"/>
            </a:solidFill>
            <a:prstDash val="solid"/>
            <a:headEnd type="none"/>
            <a:tailEnd type="triangle"/>
          </a:ln>
        </p:spPr>
      </p:sp>
      <p:sp>
        <p:nvSpPr>
          <p:cNvPr id="34" name="Text 32"/>
          <p:cNvSpPr/>
          <p:nvPr/>
        </p:nvSpPr>
        <p:spPr>
          <a:xfrm>
            <a:off x="5641848" y="4507992"/>
            <a:ext cx="19751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3341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6  인증 결과</a:t>
            </a:r>
            <a:endParaRPr lang="en-US" sz="720" dirty="0"/>
          </a:p>
        </p:txBody>
      </p:sp>
      <p:sp>
        <p:nvSpPr>
          <p:cNvPr id="35" name="Shape 33"/>
          <p:cNvSpPr/>
          <p:nvPr/>
        </p:nvSpPr>
        <p:spPr>
          <a:xfrm>
            <a:off x="5532120" y="5120640"/>
            <a:ext cx="-2194560" cy="0"/>
          </a:xfrm>
          <a:prstGeom prst="line">
            <a:avLst/>
          </a:prstGeom>
          <a:noFill/>
          <a:ln w="20320">
            <a:solidFill>
              <a:srgbClr val="2FA66A"/>
            </a:solidFill>
            <a:prstDash val="solid"/>
            <a:headEnd type="none"/>
            <a:tailEnd type="triangle"/>
          </a:ln>
        </p:spPr>
      </p:sp>
      <p:sp>
        <p:nvSpPr>
          <p:cNvPr id="36" name="Text 34"/>
          <p:cNvSpPr/>
          <p:nvPr/>
        </p:nvSpPr>
        <p:spPr>
          <a:xfrm>
            <a:off x="3447288" y="4937760"/>
            <a:ext cx="19751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3341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7  Token / Session</a:t>
            </a:r>
            <a:endParaRPr lang="en-US" sz="720" dirty="0"/>
          </a:p>
        </p:txBody>
      </p:sp>
      <p:sp>
        <p:nvSpPr>
          <p:cNvPr id="37" name="Shape 35"/>
          <p:cNvSpPr/>
          <p:nvPr/>
        </p:nvSpPr>
        <p:spPr>
          <a:xfrm>
            <a:off x="3337560" y="5550408"/>
            <a:ext cx="-2194560" cy="0"/>
          </a:xfrm>
          <a:prstGeom prst="line">
            <a:avLst/>
          </a:prstGeom>
          <a:noFill/>
          <a:ln w="20320">
            <a:solidFill>
              <a:srgbClr val="2FA66A"/>
            </a:solidFill>
            <a:prstDash val="solid"/>
            <a:headEnd type="none"/>
            <a:tailEnd type="triangle"/>
          </a:ln>
        </p:spPr>
      </p:sp>
      <p:sp>
        <p:nvSpPr>
          <p:cNvPr id="38" name="Text 36"/>
          <p:cNvSpPr/>
          <p:nvPr/>
        </p:nvSpPr>
        <p:spPr>
          <a:xfrm>
            <a:off x="1252728" y="5367528"/>
            <a:ext cx="19751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3341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8  UI 상태 변경</a:t>
            </a:r>
            <a:endParaRPr lang="en-US" sz="720" dirty="0"/>
          </a:p>
        </p:txBody>
      </p:sp>
      <p:sp>
        <p:nvSpPr>
          <p:cNvPr id="39" name="Shape 37"/>
          <p:cNvSpPr/>
          <p:nvPr/>
        </p:nvSpPr>
        <p:spPr>
          <a:xfrm>
            <a:off x="530352" y="6007608"/>
            <a:ext cx="11119104" cy="347472"/>
          </a:xfrm>
          <a:prstGeom prst="roundRect">
            <a:avLst>
              <a:gd name="adj" fmla="val 15789"/>
            </a:avLst>
          </a:prstGeom>
          <a:solidFill>
            <a:srgbClr val="EAF3FF"/>
          </a:solidFill>
          <a:ln w="12700">
            <a:solidFill>
              <a:srgbClr val="EAF3F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76656" y="6108192"/>
            <a:ext cx="10835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2F80E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템플릿 규칙: 참여자 4~6개 · 메시지 6~10개 · 성공 흐름을 먼저, 실패 흐름은 별도 슬라이드 또는 빨강 보조선으로 분리합니다.</a:t>
            </a:r>
            <a:endParaRPr lang="en-US" sz="76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28816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A0AAB6"/>
                </a:solidFill>
                <a:latin typeface="Noto Sans CJK KR"/>
                <a:ea typeface="Noto Sans CJK KR"/>
                <a:cs typeface="Noto Sans CJK KR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21208"/>
            <a:ext cx="8595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720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State Diagram은 “상태가 왜 바뀌는지”를 조건과 함께 설명합니다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12064" y="1005840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B778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프로세스·인증·배포·비즈니스 상태 변경을 단순 CRUD와 구분해 보여줍니다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10168128" y="557784"/>
            <a:ext cx="1481328" cy="329184"/>
          </a:xfrm>
          <a:prstGeom prst="roundRect">
            <a:avLst>
              <a:gd name="adj" fmla="val 22222"/>
            </a:avLst>
          </a:prstGeom>
          <a:solidFill>
            <a:srgbClr val="0B2035"/>
          </a:solidFill>
          <a:ln w="12700">
            <a:solidFill>
              <a:srgbClr val="0B203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232136" y="630936"/>
            <a:ext cx="13533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STATE MACHINE</a:t>
            </a:r>
            <a:endParaRPr lang="en-US" sz="780" dirty="0"/>
          </a:p>
        </p:txBody>
      </p:sp>
      <p:sp>
        <p:nvSpPr>
          <p:cNvPr id="6" name="Shape 4"/>
          <p:cNvSpPr/>
          <p:nvPr/>
        </p:nvSpPr>
        <p:spPr>
          <a:xfrm>
            <a:off x="521208" y="1389888"/>
            <a:ext cx="1325880" cy="256032"/>
          </a:xfrm>
          <a:prstGeom prst="roundRect">
            <a:avLst>
              <a:gd name="adj" fmla="val 28571"/>
            </a:avLst>
          </a:prstGeom>
          <a:solidFill>
            <a:srgbClr val="2F80ED">
              <a:alpha val="12000"/>
            </a:srgbClr>
          </a:solidFill>
          <a:ln w="12700">
            <a:solidFill>
              <a:srgbClr val="2F80ED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57784" y="1444752"/>
            <a:ext cx="125272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9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06 STATE</a:t>
            </a:r>
            <a:endParaRPr lang="en-US" sz="690" dirty="0"/>
          </a:p>
        </p:txBody>
      </p:sp>
      <p:sp>
        <p:nvSpPr>
          <p:cNvPr id="8" name="Shape 6"/>
          <p:cNvSpPr/>
          <p:nvPr/>
        </p:nvSpPr>
        <p:spPr>
          <a:xfrm>
            <a:off x="1005840" y="2971800"/>
            <a:ext cx="1600200" cy="658368"/>
          </a:xfrm>
          <a:prstGeom prst="roundRect">
            <a:avLst>
              <a:gd name="adj" fmla="val 16667"/>
            </a:avLst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097280" y="3182112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READY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00400" y="2971800"/>
            <a:ext cx="1600200" cy="658368"/>
          </a:xfrm>
          <a:prstGeom prst="roundRect">
            <a:avLst>
              <a:gd name="adj" fmla="val 16667"/>
            </a:avLst>
          </a:prstGeom>
          <a:solidFill>
            <a:srgbClr val="12314E"/>
          </a:solidFill>
          <a:ln w="12700">
            <a:solidFill>
              <a:srgbClr val="12314E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291840" y="3182112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RUNNING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715000" y="2103120"/>
            <a:ext cx="1600200" cy="658368"/>
          </a:xfrm>
          <a:prstGeom prst="roundRect">
            <a:avLst>
              <a:gd name="adj" fmla="val 16667"/>
            </a:avLst>
          </a:prstGeom>
          <a:solidFill>
            <a:srgbClr val="2FA66A"/>
          </a:solidFill>
          <a:ln w="12700">
            <a:solidFill>
              <a:srgbClr val="2FA66A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806440" y="2313432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PASS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715000" y="3840480"/>
            <a:ext cx="1600200" cy="658368"/>
          </a:xfrm>
          <a:prstGeom prst="roundRect">
            <a:avLst>
              <a:gd name="adj" fmla="val 16667"/>
            </a:avLst>
          </a:prstGeom>
          <a:solidFill>
            <a:srgbClr val="D95D58"/>
          </a:solidFill>
          <a:ln w="12700">
            <a:solidFill>
              <a:srgbClr val="D95D58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806440" y="4050792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FAIL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458200" y="3840480"/>
            <a:ext cx="1600200" cy="658368"/>
          </a:xfrm>
          <a:prstGeom prst="roundRect">
            <a:avLst>
              <a:gd name="adj" fmla="val 16667"/>
            </a:avLst>
          </a:prstGeom>
          <a:solidFill>
            <a:srgbClr val="F3A61D"/>
          </a:solidFill>
          <a:ln w="12700">
            <a:solidFill>
              <a:srgbClr val="F3A61D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549640" y="4050792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RETRY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458200" y="2103120"/>
            <a:ext cx="1600200" cy="658368"/>
          </a:xfrm>
          <a:prstGeom prst="roundRect">
            <a:avLst>
              <a:gd name="adj" fmla="val 16667"/>
            </a:avLst>
          </a:prstGeom>
          <a:solidFill>
            <a:srgbClr val="1BA99A"/>
          </a:solidFill>
          <a:ln w="12700">
            <a:solidFill>
              <a:srgbClr val="1BA99A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549640" y="2313432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CLOSED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606040" y="3300984"/>
            <a:ext cx="594360" cy="0"/>
          </a:xfrm>
          <a:prstGeom prst="line">
            <a:avLst/>
          </a:prstGeom>
          <a:noFill/>
          <a:ln w="25400">
            <a:solidFill>
              <a:srgbClr val="2F80ED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2633472" y="2816352"/>
            <a:ext cx="841248" cy="256032"/>
          </a:xfrm>
          <a:prstGeom prst="roundRect">
            <a:avLst>
              <a:gd name="adj" fmla="val 21429"/>
            </a:avLst>
          </a:prstGeom>
          <a:solidFill>
            <a:srgbClr val="EAF3FF"/>
          </a:solidFill>
          <a:ln w="6350">
            <a:solidFill>
              <a:srgbClr val="D7DEE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70048" y="2871216"/>
            <a:ext cx="7680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0E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start</a:t>
            </a:r>
            <a:endParaRPr lang="en-US" sz="680" dirty="0"/>
          </a:p>
        </p:txBody>
      </p:sp>
      <p:sp>
        <p:nvSpPr>
          <p:cNvPr id="23" name="Shape 21"/>
          <p:cNvSpPr/>
          <p:nvPr/>
        </p:nvSpPr>
        <p:spPr>
          <a:xfrm>
            <a:off x="4800600" y="3300984"/>
            <a:ext cx="914400" cy="-868680"/>
          </a:xfrm>
          <a:prstGeom prst="line">
            <a:avLst/>
          </a:prstGeom>
          <a:noFill/>
          <a:ln w="25400">
            <a:solidFill>
              <a:srgbClr val="2FA66A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5074920" y="2542032"/>
            <a:ext cx="896112" cy="256032"/>
          </a:xfrm>
          <a:prstGeom prst="roundRect">
            <a:avLst>
              <a:gd name="adj" fmla="val 21429"/>
            </a:avLst>
          </a:prstGeom>
          <a:solidFill>
            <a:srgbClr val="EAF7EF"/>
          </a:solidFill>
          <a:ln w="6350">
            <a:solidFill>
              <a:srgbClr val="D7DEE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111496" y="2596896"/>
            <a:ext cx="8229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A66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검증 성공</a:t>
            </a:r>
            <a:endParaRPr lang="en-US" sz="680" dirty="0"/>
          </a:p>
        </p:txBody>
      </p:sp>
      <p:sp>
        <p:nvSpPr>
          <p:cNvPr id="26" name="Shape 24"/>
          <p:cNvSpPr/>
          <p:nvPr/>
        </p:nvSpPr>
        <p:spPr>
          <a:xfrm>
            <a:off x="4800600" y="3300984"/>
            <a:ext cx="914400" cy="868680"/>
          </a:xfrm>
          <a:prstGeom prst="line">
            <a:avLst/>
          </a:prstGeom>
          <a:noFill/>
          <a:ln w="25400">
            <a:solidFill>
              <a:srgbClr val="D95D58"/>
            </a:solidFill>
            <a:prstDash val="solid"/>
            <a:headEnd type="none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5074920" y="3730752"/>
            <a:ext cx="896112" cy="256032"/>
          </a:xfrm>
          <a:prstGeom prst="roundRect">
            <a:avLst>
              <a:gd name="adj" fmla="val 21429"/>
            </a:avLst>
          </a:prstGeom>
          <a:solidFill>
            <a:srgbClr val="FDEDEC"/>
          </a:solidFill>
          <a:ln w="6350">
            <a:solidFill>
              <a:srgbClr val="D7DEE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111496" y="3785616"/>
            <a:ext cx="8229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5D5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검증 실패</a:t>
            </a:r>
            <a:endParaRPr lang="en-US" sz="680" dirty="0"/>
          </a:p>
        </p:txBody>
      </p:sp>
      <p:sp>
        <p:nvSpPr>
          <p:cNvPr id="29" name="Shape 27"/>
          <p:cNvSpPr/>
          <p:nvPr/>
        </p:nvSpPr>
        <p:spPr>
          <a:xfrm>
            <a:off x="7315200" y="4169664"/>
            <a:ext cx="1143000" cy="0"/>
          </a:xfrm>
          <a:prstGeom prst="line">
            <a:avLst/>
          </a:prstGeom>
          <a:noFill/>
          <a:ln w="25400">
            <a:solidFill>
              <a:srgbClr val="F3A61D"/>
            </a:solidFill>
            <a:prstDash val="solid"/>
            <a:headEnd type="none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7388352" y="3730752"/>
            <a:ext cx="868680" cy="256032"/>
          </a:xfrm>
          <a:prstGeom prst="roundRect">
            <a:avLst>
              <a:gd name="adj" fmla="val 21429"/>
            </a:avLst>
          </a:prstGeom>
          <a:solidFill>
            <a:srgbClr val="FFF5DD"/>
          </a:solidFill>
          <a:ln w="6350">
            <a:solidFill>
              <a:srgbClr val="D7DEE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424928" y="3785616"/>
            <a:ext cx="7955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3A61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복구 가능</a:t>
            </a:r>
            <a:endParaRPr lang="en-US" sz="680" dirty="0"/>
          </a:p>
        </p:txBody>
      </p:sp>
      <p:sp>
        <p:nvSpPr>
          <p:cNvPr id="32" name="Shape 30"/>
          <p:cNvSpPr/>
          <p:nvPr/>
        </p:nvSpPr>
        <p:spPr>
          <a:xfrm>
            <a:off x="9253728" y="3840480"/>
            <a:ext cx="-2761488" cy="-1051560"/>
          </a:xfrm>
          <a:prstGeom prst="line">
            <a:avLst/>
          </a:prstGeom>
          <a:noFill/>
          <a:ln w="20320">
            <a:solidFill>
              <a:srgbClr val="F3A61D"/>
            </a:solidFill>
            <a:prstDash val="solid"/>
            <a:headEnd type="none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7955280" y="2834640"/>
            <a:ext cx="868680" cy="256032"/>
          </a:xfrm>
          <a:prstGeom prst="roundRect">
            <a:avLst>
              <a:gd name="adj" fmla="val 21429"/>
            </a:avLst>
          </a:prstGeom>
          <a:solidFill>
            <a:srgbClr val="FFF5DD"/>
          </a:solidFill>
          <a:ln w="6350">
            <a:solidFill>
              <a:srgbClr val="D7DEE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991856" y="2889504"/>
            <a:ext cx="7955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3A61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retry</a:t>
            </a:r>
            <a:endParaRPr lang="en-US" sz="680" dirty="0"/>
          </a:p>
        </p:txBody>
      </p:sp>
      <p:sp>
        <p:nvSpPr>
          <p:cNvPr id="35" name="Shape 33"/>
          <p:cNvSpPr/>
          <p:nvPr/>
        </p:nvSpPr>
        <p:spPr>
          <a:xfrm>
            <a:off x="7315200" y="2432304"/>
            <a:ext cx="1143000" cy="0"/>
          </a:xfrm>
          <a:prstGeom prst="line">
            <a:avLst/>
          </a:prstGeom>
          <a:noFill/>
          <a:ln w="25400">
            <a:solidFill>
              <a:srgbClr val="1BA99A"/>
            </a:solidFill>
            <a:prstDash val="solid"/>
            <a:headEnd type="none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7479792" y="1993392"/>
            <a:ext cx="804672" cy="256032"/>
          </a:xfrm>
          <a:prstGeom prst="roundRect">
            <a:avLst>
              <a:gd name="adj" fmla="val 21429"/>
            </a:avLst>
          </a:prstGeom>
          <a:solidFill>
            <a:srgbClr val="E8F8F5"/>
          </a:solidFill>
          <a:ln w="6350">
            <a:solidFill>
              <a:srgbClr val="D7DEE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516368" y="2048256"/>
            <a:ext cx="731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1BA99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완료</a:t>
            </a:r>
            <a:endParaRPr lang="en-US" sz="680" dirty="0"/>
          </a:p>
        </p:txBody>
      </p:sp>
      <p:sp>
        <p:nvSpPr>
          <p:cNvPr id="38" name="Shape 36"/>
          <p:cNvSpPr/>
          <p:nvPr/>
        </p:nvSpPr>
        <p:spPr>
          <a:xfrm>
            <a:off x="530352" y="6007608"/>
            <a:ext cx="11119104" cy="347472"/>
          </a:xfrm>
          <a:prstGeom prst="roundRect">
            <a:avLst>
              <a:gd name="adj" fmla="val 15789"/>
            </a:avLst>
          </a:prstGeom>
          <a:solidFill>
            <a:srgbClr val="EAF3FF"/>
          </a:solidFill>
          <a:ln w="12700">
            <a:solidFill>
              <a:srgbClr val="EAF3F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76656" y="6108192"/>
            <a:ext cx="10835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2F80E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전이(Transition) 화살표에는 “행동”이 아니라 상태를 바꾸는 조건/이벤트를 적습니다. 예: timeout, valid token, review approved.</a:t>
            </a:r>
            <a:endParaRPr lang="en-US" sz="76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28816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A0AAB6"/>
                </a:solidFill>
                <a:latin typeface="Noto Sans CJK KR"/>
                <a:ea typeface="Noto Sans CJK KR"/>
                <a:cs typeface="Noto Sans CJK KR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21208"/>
            <a:ext cx="8595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720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ERD는 테이블 목록이 아니라 “관계와 무결성”을 설명해야 합니다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12064" y="1005840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B778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PK/FK, 카디널리티(1:N), 소유권, 삭제 정책을 평가자가 한눈에 볼 수 있게 합니다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10168128" y="557784"/>
            <a:ext cx="1481328" cy="329184"/>
          </a:xfrm>
          <a:prstGeom prst="roundRect">
            <a:avLst>
              <a:gd name="adj" fmla="val 22222"/>
            </a:avLst>
          </a:prstGeom>
          <a:solidFill>
            <a:srgbClr val="0B2035"/>
          </a:solidFill>
          <a:ln w="12700">
            <a:solidFill>
              <a:srgbClr val="0B203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232136" y="630936"/>
            <a:ext cx="13533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ERD</a:t>
            </a:r>
            <a:endParaRPr lang="en-US" sz="780" dirty="0"/>
          </a:p>
        </p:txBody>
      </p:sp>
      <p:sp>
        <p:nvSpPr>
          <p:cNvPr id="6" name="Shape 4"/>
          <p:cNvSpPr/>
          <p:nvPr/>
        </p:nvSpPr>
        <p:spPr>
          <a:xfrm>
            <a:off x="521208" y="1389888"/>
            <a:ext cx="1325880" cy="256032"/>
          </a:xfrm>
          <a:prstGeom prst="roundRect">
            <a:avLst>
              <a:gd name="adj" fmla="val 28571"/>
            </a:avLst>
          </a:prstGeom>
          <a:solidFill>
            <a:srgbClr val="2F80ED">
              <a:alpha val="12000"/>
            </a:srgbClr>
          </a:solidFill>
          <a:ln w="12700">
            <a:solidFill>
              <a:srgbClr val="2F80ED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57784" y="1444752"/>
            <a:ext cx="125272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9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07 DATA MODEL</a:t>
            </a:r>
            <a:endParaRPr lang="en-US" sz="690" dirty="0"/>
          </a:p>
        </p:txBody>
      </p:sp>
      <p:sp>
        <p:nvSpPr>
          <p:cNvPr id="8" name="Shape 6"/>
          <p:cNvSpPr/>
          <p:nvPr/>
        </p:nvSpPr>
        <p:spPr>
          <a:xfrm>
            <a:off x="685800" y="2011680"/>
            <a:ext cx="2423160" cy="2514600"/>
          </a:xfrm>
          <a:prstGeom prst="roundRect">
            <a:avLst>
              <a:gd name="adj" fmla="val 3774"/>
            </a:avLst>
          </a:prstGeom>
          <a:solidFill>
            <a:srgbClr val="FFFFFF"/>
          </a:solidFill>
          <a:ln w="10160">
            <a:solidFill>
              <a:srgbClr val="2F80E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2011680"/>
            <a:ext cx="2423160" cy="438912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13816" y="2148840"/>
            <a:ext cx="2167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USER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813816" y="2578608"/>
            <a:ext cx="329184" cy="256032"/>
          </a:xfrm>
          <a:prstGeom prst="roundRect">
            <a:avLst>
              <a:gd name="adj" fmla="val 28571"/>
            </a:avLst>
          </a:prstGeom>
          <a:solidFill>
            <a:srgbClr val="2F80ED">
              <a:alpha val="12000"/>
            </a:srgbClr>
          </a:solidFill>
          <a:ln w="12700">
            <a:solidFill>
              <a:srgbClr val="2F80ED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0392" y="2633472"/>
            <a:ext cx="25603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9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PK</a:t>
            </a:r>
            <a:endParaRPr lang="en-US" sz="690" dirty="0"/>
          </a:p>
        </p:txBody>
      </p:sp>
      <p:sp>
        <p:nvSpPr>
          <p:cNvPr id="13" name="Text 11"/>
          <p:cNvSpPr/>
          <p:nvPr/>
        </p:nvSpPr>
        <p:spPr>
          <a:xfrm>
            <a:off x="1216152" y="2624328"/>
            <a:ext cx="10515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dirty="0">
                <a:solidFill>
                  <a:srgbClr val="3341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id</a:t>
            </a:r>
            <a:endParaRPr lang="en-US" sz="720" dirty="0"/>
          </a:p>
        </p:txBody>
      </p:sp>
      <p:sp>
        <p:nvSpPr>
          <p:cNvPr id="14" name="Text 12"/>
          <p:cNvSpPr/>
          <p:nvPr/>
        </p:nvSpPr>
        <p:spPr>
          <a:xfrm>
            <a:off x="2258568" y="2624328"/>
            <a:ext cx="65836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60" dirty="0">
                <a:solidFill>
                  <a:srgbClr val="6B778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UUID</a:t>
            </a:r>
            <a:endParaRPr lang="en-US" sz="660" dirty="0"/>
          </a:p>
        </p:txBody>
      </p:sp>
      <p:sp>
        <p:nvSpPr>
          <p:cNvPr id="15" name="Shape 13"/>
          <p:cNvSpPr/>
          <p:nvPr/>
        </p:nvSpPr>
        <p:spPr>
          <a:xfrm>
            <a:off x="795528" y="2916936"/>
            <a:ext cx="2203704" cy="0"/>
          </a:xfrm>
          <a:prstGeom prst="line">
            <a:avLst/>
          </a:prstGeom>
          <a:noFill/>
          <a:ln w="6350">
            <a:solidFill>
              <a:srgbClr val="D7DEE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13816" y="2990088"/>
            <a:ext cx="329184" cy="256032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50392" y="3044952"/>
            <a:ext cx="25603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90" b="1" dirty="0">
                <a:solidFill>
                  <a:srgbClr val="6B778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</a:t>
            </a:r>
            <a:endParaRPr lang="en-US" sz="690" dirty="0"/>
          </a:p>
        </p:txBody>
      </p:sp>
      <p:sp>
        <p:nvSpPr>
          <p:cNvPr id="18" name="Text 16"/>
          <p:cNvSpPr/>
          <p:nvPr/>
        </p:nvSpPr>
        <p:spPr>
          <a:xfrm>
            <a:off x="1216152" y="3035808"/>
            <a:ext cx="10515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3341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email</a:t>
            </a:r>
            <a:endParaRPr lang="en-US" sz="720" dirty="0"/>
          </a:p>
        </p:txBody>
      </p:sp>
      <p:sp>
        <p:nvSpPr>
          <p:cNvPr id="19" name="Text 17"/>
          <p:cNvSpPr/>
          <p:nvPr/>
        </p:nvSpPr>
        <p:spPr>
          <a:xfrm>
            <a:off x="2258568" y="3035808"/>
            <a:ext cx="65836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60" dirty="0">
                <a:solidFill>
                  <a:srgbClr val="6B778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VARCHAR</a:t>
            </a:r>
            <a:endParaRPr lang="en-US" sz="660" dirty="0"/>
          </a:p>
        </p:txBody>
      </p:sp>
      <p:sp>
        <p:nvSpPr>
          <p:cNvPr id="20" name="Shape 18"/>
          <p:cNvSpPr/>
          <p:nvPr/>
        </p:nvSpPr>
        <p:spPr>
          <a:xfrm>
            <a:off x="795528" y="3328416"/>
            <a:ext cx="2203704" cy="0"/>
          </a:xfrm>
          <a:prstGeom prst="line">
            <a:avLst/>
          </a:prstGeom>
          <a:noFill/>
          <a:ln w="6350">
            <a:solidFill>
              <a:srgbClr val="D7DEE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13816" y="3401568"/>
            <a:ext cx="329184" cy="256032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50392" y="3456432"/>
            <a:ext cx="25603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90" b="1" dirty="0">
                <a:solidFill>
                  <a:srgbClr val="6B778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</a:t>
            </a:r>
            <a:endParaRPr lang="en-US" sz="690" dirty="0"/>
          </a:p>
        </p:txBody>
      </p:sp>
      <p:sp>
        <p:nvSpPr>
          <p:cNvPr id="23" name="Text 21"/>
          <p:cNvSpPr/>
          <p:nvPr/>
        </p:nvSpPr>
        <p:spPr>
          <a:xfrm>
            <a:off x="1216152" y="3447288"/>
            <a:ext cx="10515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3341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password_hash</a:t>
            </a:r>
            <a:endParaRPr lang="en-US" sz="720" dirty="0"/>
          </a:p>
        </p:txBody>
      </p:sp>
      <p:sp>
        <p:nvSpPr>
          <p:cNvPr id="24" name="Text 22"/>
          <p:cNvSpPr/>
          <p:nvPr/>
        </p:nvSpPr>
        <p:spPr>
          <a:xfrm>
            <a:off x="2258568" y="3447288"/>
            <a:ext cx="65836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60" dirty="0">
                <a:solidFill>
                  <a:srgbClr val="6B778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VARCHAR</a:t>
            </a:r>
            <a:endParaRPr lang="en-US" sz="660" dirty="0"/>
          </a:p>
        </p:txBody>
      </p:sp>
      <p:sp>
        <p:nvSpPr>
          <p:cNvPr id="25" name="Shape 23"/>
          <p:cNvSpPr/>
          <p:nvPr/>
        </p:nvSpPr>
        <p:spPr>
          <a:xfrm>
            <a:off x="795528" y="3739896"/>
            <a:ext cx="2203704" cy="0"/>
          </a:xfrm>
          <a:prstGeom prst="line">
            <a:avLst/>
          </a:prstGeom>
          <a:noFill/>
          <a:ln w="6350">
            <a:solidFill>
              <a:srgbClr val="D7DEE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13816" y="3813048"/>
            <a:ext cx="329184" cy="256032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50392" y="3867912"/>
            <a:ext cx="25603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90" b="1" dirty="0">
                <a:solidFill>
                  <a:srgbClr val="6B778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</a:t>
            </a:r>
            <a:endParaRPr lang="en-US" sz="690" dirty="0"/>
          </a:p>
        </p:txBody>
      </p:sp>
      <p:sp>
        <p:nvSpPr>
          <p:cNvPr id="28" name="Text 26"/>
          <p:cNvSpPr/>
          <p:nvPr/>
        </p:nvSpPr>
        <p:spPr>
          <a:xfrm>
            <a:off x="1216152" y="3858768"/>
            <a:ext cx="10515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3341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created_at</a:t>
            </a:r>
            <a:endParaRPr lang="en-US" sz="720" dirty="0"/>
          </a:p>
        </p:txBody>
      </p:sp>
      <p:sp>
        <p:nvSpPr>
          <p:cNvPr id="29" name="Text 27"/>
          <p:cNvSpPr/>
          <p:nvPr/>
        </p:nvSpPr>
        <p:spPr>
          <a:xfrm>
            <a:off x="2258568" y="3858768"/>
            <a:ext cx="65836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60" dirty="0">
                <a:solidFill>
                  <a:srgbClr val="6B778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DATETIME</a:t>
            </a:r>
            <a:endParaRPr lang="en-US" sz="660" dirty="0"/>
          </a:p>
        </p:txBody>
      </p:sp>
      <p:sp>
        <p:nvSpPr>
          <p:cNvPr id="30" name="Shape 28"/>
          <p:cNvSpPr/>
          <p:nvPr/>
        </p:nvSpPr>
        <p:spPr>
          <a:xfrm>
            <a:off x="4892040" y="1783080"/>
            <a:ext cx="2423160" cy="2926080"/>
          </a:xfrm>
          <a:prstGeom prst="roundRect">
            <a:avLst>
              <a:gd name="adj" fmla="val 3774"/>
            </a:avLst>
          </a:prstGeom>
          <a:solidFill>
            <a:srgbClr val="FFFFFF"/>
          </a:solidFill>
          <a:ln w="10160">
            <a:solidFill>
              <a:srgbClr val="7B61F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892040" y="1783080"/>
            <a:ext cx="2423160" cy="438912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20056" y="1920240"/>
            <a:ext cx="2167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CHAT_SESSION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5020056" y="2350008"/>
            <a:ext cx="329184" cy="256032"/>
          </a:xfrm>
          <a:prstGeom prst="roundRect">
            <a:avLst>
              <a:gd name="adj" fmla="val 28571"/>
            </a:avLst>
          </a:prstGeom>
          <a:solidFill>
            <a:srgbClr val="2F80ED">
              <a:alpha val="12000"/>
            </a:srgbClr>
          </a:solidFill>
          <a:ln w="12700">
            <a:solidFill>
              <a:srgbClr val="2F80ED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56632" y="2404872"/>
            <a:ext cx="25603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9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PK</a:t>
            </a:r>
            <a:endParaRPr lang="en-US" sz="690" dirty="0"/>
          </a:p>
        </p:txBody>
      </p:sp>
      <p:sp>
        <p:nvSpPr>
          <p:cNvPr id="35" name="Text 33"/>
          <p:cNvSpPr/>
          <p:nvPr/>
        </p:nvSpPr>
        <p:spPr>
          <a:xfrm>
            <a:off x="5422392" y="2395728"/>
            <a:ext cx="10515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dirty="0">
                <a:solidFill>
                  <a:srgbClr val="3341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id</a:t>
            </a:r>
            <a:endParaRPr lang="en-US" sz="720" dirty="0"/>
          </a:p>
        </p:txBody>
      </p:sp>
      <p:sp>
        <p:nvSpPr>
          <p:cNvPr id="36" name="Text 34"/>
          <p:cNvSpPr/>
          <p:nvPr/>
        </p:nvSpPr>
        <p:spPr>
          <a:xfrm>
            <a:off x="6464808" y="2395728"/>
            <a:ext cx="65836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60" dirty="0">
                <a:solidFill>
                  <a:srgbClr val="6B778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UUID</a:t>
            </a:r>
            <a:endParaRPr lang="en-US" sz="660" dirty="0"/>
          </a:p>
        </p:txBody>
      </p:sp>
      <p:sp>
        <p:nvSpPr>
          <p:cNvPr id="37" name="Shape 35"/>
          <p:cNvSpPr/>
          <p:nvPr/>
        </p:nvSpPr>
        <p:spPr>
          <a:xfrm>
            <a:off x="5001768" y="2688336"/>
            <a:ext cx="2203704" cy="0"/>
          </a:xfrm>
          <a:prstGeom prst="line">
            <a:avLst/>
          </a:prstGeom>
          <a:noFill/>
          <a:ln w="6350">
            <a:solidFill>
              <a:srgbClr val="D7DEE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020056" y="2761488"/>
            <a:ext cx="329184" cy="256032"/>
          </a:xfrm>
          <a:prstGeom prst="roundRect">
            <a:avLst>
              <a:gd name="adj" fmla="val 28571"/>
            </a:avLst>
          </a:prstGeom>
          <a:solidFill>
            <a:srgbClr val="F3A61D">
              <a:alpha val="12000"/>
            </a:srgbClr>
          </a:solidFill>
          <a:ln w="12700">
            <a:solidFill>
              <a:srgbClr val="F3A61D">
                <a:alpha val="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056632" y="2816352"/>
            <a:ext cx="25603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9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FK</a:t>
            </a:r>
            <a:endParaRPr lang="en-US" sz="690" dirty="0"/>
          </a:p>
        </p:txBody>
      </p:sp>
      <p:sp>
        <p:nvSpPr>
          <p:cNvPr id="40" name="Text 38"/>
          <p:cNvSpPr/>
          <p:nvPr/>
        </p:nvSpPr>
        <p:spPr>
          <a:xfrm>
            <a:off x="5422392" y="2807208"/>
            <a:ext cx="10515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dirty="0">
                <a:solidFill>
                  <a:srgbClr val="3341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user_id</a:t>
            </a:r>
            <a:endParaRPr lang="en-US" sz="720" dirty="0"/>
          </a:p>
        </p:txBody>
      </p:sp>
      <p:sp>
        <p:nvSpPr>
          <p:cNvPr id="41" name="Text 39"/>
          <p:cNvSpPr/>
          <p:nvPr/>
        </p:nvSpPr>
        <p:spPr>
          <a:xfrm>
            <a:off x="6464808" y="2807208"/>
            <a:ext cx="65836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60" dirty="0">
                <a:solidFill>
                  <a:srgbClr val="6B778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USER.id</a:t>
            </a:r>
            <a:endParaRPr lang="en-US" sz="660" dirty="0"/>
          </a:p>
        </p:txBody>
      </p:sp>
      <p:sp>
        <p:nvSpPr>
          <p:cNvPr id="42" name="Shape 40"/>
          <p:cNvSpPr/>
          <p:nvPr/>
        </p:nvSpPr>
        <p:spPr>
          <a:xfrm>
            <a:off x="5001768" y="3099816"/>
            <a:ext cx="2203704" cy="0"/>
          </a:xfrm>
          <a:prstGeom prst="line">
            <a:avLst/>
          </a:prstGeom>
          <a:noFill/>
          <a:ln w="6350">
            <a:solidFill>
              <a:srgbClr val="D7DEE8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020056" y="3172968"/>
            <a:ext cx="329184" cy="256032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056632" y="3227832"/>
            <a:ext cx="25603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90" b="1" dirty="0">
                <a:solidFill>
                  <a:srgbClr val="6B778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</a:t>
            </a:r>
            <a:endParaRPr lang="en-US" sz="690" dirty="0"/>
          </a:p>
        </p:txBody>
      </p:sp>
      <p:sp>
        <p:nvSpPr>
          <p:cNvPr id="45" name="Text 43"/>
          <p:cNvSpPr/>
          <p:nvPr/>
        </p:nvSpPr>
        <p:spPr>
          <a:xfrm>
            <a:off x="5422392" y="3218688"/>
            <a:ext cx="10515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3341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title</a:t>
            </a:r>
            <a:endParaRPr lang="en-US" sz="720" dirty="0"/>
          </a:p>
        </p:txBody>
      </p:sp>
      <p:sp>
        <p:nvSpPr>
          <p:cNvPr id="46" name="Text 44"/>
          <p:cNvSpPr/>
          <p:nvPr/>
        </p:nvSpPr>
        <p:spPr>
          <a:xfrm>
            <a:off x="6464808" y="3218688"/>
            <a:ext cx="65836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60" dirty="0">
                <a:solidFill>
                  <a:srgbClr val="6B778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VARCHAR</a:t>
            </a:r>
            <a:endParaRPr lang="en-US" sz="660" dirty="0"/>
          </a:p>
        </p:txBody>
      </p:sp>
      <p:sp>
        <p:nvSpPr>
          <p:cNvPr id="47" name="Shape 45"/>
          <p:cNvSpPr/>
          <p:nvPr/>
        </p:nvSpPr>
        <p:spPr>
          <a:xfrm>
            <a:off x="5001768" y="3511296"/>
            <a:ext cx="2203704" cy="0"/>
          </a:xfrm>
          <a:prstGeom prst="line">
            <a:avLst/>
          </a:prstGeom>
          <a:noFill/>
          <a:ln w="6350">
            <a:solidFill>
              <a:srgbClr val="D7DEE8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5020056" y="3584448"/>
            <a:ext cx="329184" cy="256032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056632" y="3639312"/>
            <a:ext cx="25603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90" b="1" dirty="0">
                <a:solidFill>
                  <a:srgbClr val="6B778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</a:t>
            </a:r>
            <a:endParaRPr lang="en-US" sz="690" dirty="0"/>
          </a:p>
        </p:txBody>
      </p:sp>
      <p:sp>
        <p:nvSpPr>
          <p:cNvPr id="50" name="Text 48"/>
          <p:cNvSpPr/>
          <p:nvPr/>
        </p:nvSpPr>
        <p:spPr>
          <a:xfrm>
            <a:off x="5422392" y="3630168"/>
            <a:ext cx="10515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3341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created_at</a:t>
            </a:r>
            <a:endParaRPr lang="en-US" sz="720" dirty="0"/>
          </a:p>
        </p:txBody>
      </p:sp>
      <p:sp>
        <p:nvSpPr>
          <p:cNvPr id="51" name="Text 49"/>
          <p:cNvSpPr/>
          <p:nvPr/>
        </p:nvSpPr>
        <p:spPr>
          <a:xfrm>
            <a:off x="6464808" y="3630168"/>
            <a:ext cx="65836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60" dirty="0">
                <a:solidFill>
                  <a:srgbClr val="6B778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DATETIME</a:t>
            </a:r>
            <a:endParaRPr lang="en-US" sz="660" dirty="0"/>
          </a:p>
        </p:txBody>
      </p:sp>
      <p:sp>
        <p:nvSpPr>
          <p:cNvPr id="52" name="Shape 50"/>
          <p:cNvSpPr/>
          <p:nvPr/>
        </p:nvSpPr>
        <p:spPr>
          <a:xfrm>
            <a:off x="5001768" y="3922776"/>
            <a:ext cx="2203704" cy="0"/>
          </a:xfrm>
          <a:prstGeom prst="line">
            <a:avLst/>
          </a:prstGeom>
          <a:noFill/>
          <a:ln w="6350">
            <a:solidFill>
              <a:srgbClr val="D7DEE8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5020056" y="3995928"/>
            <a:ext cx="329184" cy="256032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056632" y="4050792"/>
            <a:ext cx="25603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90" b="1" dirty="0">
                <a:solidFill>
                  <a:srgbClr val="6B778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</a:t>
            </a:r>
            <a:endParaRPr lang="en-US" sz="690" dirty="0"/>
          </a:p>
        </p:txBody>
      </p:sp>
      <p:sp>
        <p:nvSpPr>
          <p:cNvPr id="55" name="Text 53"/>
          <p:cNvSpPr/>
          <p:nvPr/>
        </p:nvSpPr>
        <p:spPr>
          <a:xfrm>
            <a:off x="5422392" y="4041648"/>
            <a:ext cx="10515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3341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updated_at</a:t>
            </a:r>
            <a:endParaRPr lang="en-US" sz="720" dirty="0"/>
          </a:p>
        </p:txBody>
      </p:sp>
      <p:sp>
        <p:nvSpPr>
          <p:cNvPr id="56" name="Text 54"/>
          <p:cNvSpPr/>
          <p:nvPr/>
        </p:nvSpPr>
        <p:spPr>
          <a:xfrm>
            <a:off x="6464808" y="4041648"/>
            <a:ext cx="65836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60" dirty="0">
                <a:solidFill>
                  <a:srgbClr val="6B778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DATETIME</a:t>
            </a:r>
            <a:endParaRPr lang="en-US" sz="660" dirty="0"/>
          </a:p>
        </p:txBody>
      </p:sp>
      <p:sp>
        <p:nvSpPr>
          <p:cNvPr id="57" name="Shape 55"/>
          <p:cNvSpPr/>
          <p:nvPr/>
        </p:nvSpPr>
        <p:spPr>
          <a:xfrm>
            <a:off x="9098280" y="2011680"/>
            <a:ext cx="2423160" cy="2514600"/>
          </a:xfrm>
          <a:prstGeom prst="roundRect">
            <a:avLst>
              <a:gd name="adj" fmla="val 3774"/>
            </a:avLst>
          </a:prstGeom>
          <a:solidFill>
            <a:srgbClr val="FFFFFF"/>
          </a:solidFill>
          <a:ln w="10160">
            <a:solidFill>
              <a:srgbClr val="1BA99A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9098280" y="2011680"/>
            <a:ext cx="2423160" cy="438912"/>
          </a:xfrm>
          <a:prstGeom prst="rect">
            <a:avLst/>
          </a:prstGeom>
          <a:solidFill>
            <a:srgbClr val="1BA99A"/>
          </a:solidFill>
          <a:ln w="12700">
            <a:solidFill>
              <a:srgbClr val="1BA99A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9226296" y="2148840"/>
            <a:ext cx="2167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MESSAGE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9226296" y="2578608"/>
            <a:ext cx="329184" cy="256032"/>
          </a:xfrm>
          <a:prstGeom prst="roundRect">
            <a:avLst>
              <a:gd name="adj" fmla="val 28571"/>
            </a:avLst>
          </a:prstGeom>
          <a:solidFill>
            <a:srgbClr val="2F80ED">
              <a:alpha val="12000"/>
            </a:srgbClr>
          </a:solidFill>
          <a:ln w="12700">
            <a:solidFill>
              <a:srgbClr val="2F80ED">
                <a:alpha val="0"/>
              </a:srgbClr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9262872" y="2633472"/>
            <a:ext cx="25603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9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PK</a:t>
            </a:r>
            <a:endParaRPr lang="en-US" sz="690" dirty="0"/>
          </a:p>
        </p:txBody>
      </p:sp>
      <p:sp>
        <p:nvSpPr>
          <p:cNvPr id="62" name="Text 60"/>
          <p:cNvSpPr/>
          <p:nvPr/>
        </p:nvSpPr>
        <p:spPr>
          <a:xfrm>
            <a:off x="9628632" y="2624328"/>
            <a:ext cx="10515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dirty="0">
                <a:solidFill>
                  <a:srgbClr val="3341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id</a:t>
            </a:r>
            <a:endParaRPr lang="en-US" sz="720" dirty="0"/>
          </a:p>
        </p:txBody>
      </p:sp>
      <p:sp>
        <p:nvSpPr>
          <p:cNvPr id="63" name="Text 61"/>
          <p:cNvSpPr/>
          <p:nvPr/>
        </p:nvSpPr>
        <p:spPr>
          <a:xfrm>
            <a:off x="10671048" y="2624328"/>
            <a:ext cx="65836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60" dirty="0">
                <a:solidFill>
                  <a:srgbClr val="6B778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UUID</a:t>
            </a:r>
            <a:endParaRPr lang="en-US" sz="660" dirty="0"/>
          </a:p>
        </p:txBody>
      </p:sp>
      <p:sp>
        <p:nvSpPr>
          <p:cNvPr id="64" name="Shape 62"/>
          <p:cNvSpPr/>
          <p:nvPr/>
        </p:nvSpPr>
        <p:spPr>
          <a:xfrm>
            <a:off x="9208008" y="2916936"/>
            <a:ext cx="2203704" cy="0"/>
          </a:xfrm>
          <a:prstGeom prst="line">
            <a:avLst/>
          </a:prstGeom>
          <a:noFill/>
          <a:ln w="6350">
            <a:solidFill>
              <a:srgbClr val="D7DEE8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9226296" y="2990088"/>
            <a:ext cx="329184" cy="256032"/>
          </a:xfrm>
          <a:prstGeom prst="roundRect">
            <a:avLst>
              <a:gd name="adj" fmla="val 28571"/>
            </a:avLst>
          </a:prstGeom>
          <a:solidFill>
            <a:srgbClr val="F3A61D">
              <a:alpha val="12000"/>
            </a:srgbClr>
          </a:solidFill>
          <a:ln w="12700">
            <a:solidFill>
              <a:srgbClr val="F3A61D">
                <a:alpha val="0"/>
              </a:srgbClr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9262872" y="3044952"/>
            <a:ext cx="25603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9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FK</a:t>
            </a:r>
            <a:endParaRPr lang="en-US" sz="690" dirty="0"/>
          </a:p>
        </p:txBody>
      </p:sp>
      <p:sp>
        <p:nvSpPr>
          <p:cNvPr id="67" name="Text 65"/>
          <p:cNvSpPr/>
          <p:nvPr/>
        </p:nvSpPr>
        <p:spPr>
          <a:xfrm>
            <a:off x="9628632" y="3035808"/>
            <a:ext cx="10515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dirty="0">
                <a:solidFill>
                  <a:srgbClr val="3341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session_id</a:t>
            </a:r>
            <a:endParaRPr lang="en-US" sz="720" dirty="0"/>
          </a:p>
        </p:txBody>
      </p:sp>
      <p:sp>
        <p:nvSpPr>
          <p:cNvPr id="68" name="Text 66"/>
          <p:cNvSpPr/>
          <p:nvPr/>
        </p:nvSpPr>
        <p:spPr>
          <a:xfrm>
            <a:off x="10671048" y="3035808"/>
            <a:ext cx="65836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60" dirty="0">
                <a:solidFill>
                  <a:srgbClr val="6B778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CHAT_SESSION.id</a:t>
            </a:r>
            <a:endParaRPr lang="en-US" sz="660" dirty="0"/>
          </a:p>
        </p:txBody>
      </p:sp>
      <p:sp>
        <p:nvSpPr>
          <p:cNvPr id="69" name="Shape 67"/>
          <p:cNvSpPr/>
          <p:nvPr/>
        </p:nvSpPr>
        <p:spPr>
          <a:xfrm>
            <a:off x="9208008" y="3328416"/>
            <a:ext cx="2203704" cy="0"/>
          </a:xfrm>
          <a:prstGeom prst="line">
            <a:avLst/>
          </a:prstGeom>
          <a:noFill/>
          <a:ln w="6350">
            <a:solidFill>
              <a:srgbClr val="D7DEE8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9226296" y="3401568"/>
            <a:ext cx="329184" cy="256032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9262872" y="3456432"/>
            <a:ext cx="25603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90" b="1" dirty="0">
                <a:solidFill>
                  <a:srgbClr val="6B778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</a:t>
            </a:r>
            <a:endParaRPr lang="en-US" sz="690" dirty="0"/>
          </a:p>
        </p:txBody>
      </p:sp>
      <p:sp>
        <p:nvSpPr>
          <p:cNvPr id="72" name="Text 70"/>
          <p:cNvSpPr/>
          <p:nvPr/>
        </p:nvSpPr>
        <p:spPr>
          <a:xfrm>
            <a:off x="9628632" y="3447288"/>
            <a:ext cx="10515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3341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role</a:t>
            </a:r>
            <a:endParaRPr lang="en-US" sz="720" dirty="0"/>
          </a:p>
        </p:txBody>
      </p:sp>
      <p:sp>
        <p:nvSpPr>
          <p:cNvPr id="73" name="Text 71"/>
          <p:cNvSpPr/>
          <p:nvPr/>
        </p:nvSpPr>
        <p:spPr>
          <a:xfrm>
            <a:off x="10671048" y="3447288"/>
            <a:ext cx="65836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60" dirty="0">
                <a:solidFill>
                  <a:srgbClr val="6B778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ENUM</a:t>
            </a:r>
            <a:endParaRPr lang="en-US" sz="660" dirty="0"/>
          </a:p>
        </p:txBody>
      </p:sp>
      <p:sp>
        <p:nvSpPr>
          <p:cNvPr id="74" name="Shape 72"/>
          <p:cNvSpPr/>
          <p:nvPr/>
        </p:nvSpPr>
        <p:spPr>
          <a:xfrm>
            <a:off x="9208008" y="3739896"/>
            <a:ext cx="2203704" cy="0"/>
          </a:xfrm>
          <a:prstGeom prst="line">
            <a:avLst/>
          </a:prstGeom>
          <a:noFill/>
          <a:ln w="6350">
            <a:solidFill>
              <a:srgbClr val="D7DEE8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9226296" y="3813048"/>
            <a:ext cx="329184" cy="256032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9262872" y="3867912"/>
            <a:ext cx="25603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90" b="1" dirty="0">
                <a:solidFill>
                  <a:srgbClr val="6B778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</a:t>
            </a:r>
            <a:endParaRPr lang="en-US" sz="690" dirty="0"/>
          </a:p>
        </p:txBody>
      </p:sp>
      <p:sp>
        <p:nvSpPr>
          <p:cNvPr id="77" name="Text 75"/>
          <p:cNvSpPr/>
          <p:nvPr/>
        </p:nvSpPr>
        <p:spPr>
          <a:xfrm>
            <a:off x="9628632" y="3858768"/>
            <a:ext cx="10515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3341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content</a:t>
            </a:r>
            <a:endParaRPr lang="en-US" sz="720" dirty="0"/>
          </a:p>
        </p:txBody>
      </p:sp>
      <p:sp>
        <p:nvSpPr>
          <p:cNvPr id="78" name="Text 76"/>
          <p:cNvSpPr/>
          <p:nvPr/>
        </p:nvSpPr>
        <p:spPr>
          <a:xfrm>
            <a:off x="10671048" y="3858768"/>
            <a:ext cx="65836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60" dirty="0">
                <a:solidFill>
                  <a:srgbClr val="6B778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TEXT</a:t>
            </a:r>
            <a:endParaRPr lang="en-US" sz="660" dirty="0"/>
          </a:p>
        </p:txBody>
      </p:sp>
      <p:sp>
        <p:nvSpPr>
          <p:cNvPr id="79" name="Shape 77"/>
          <p:cNvSpPr/>
          <p:nvPr/>
        </p:nvSpPr>
        <p:spPr>
          <a:xfrm>
            <a:off x="3108960" y="2971800"/>
            <a:ext cx="1783080" cy="0"/>
          </a:xfrm>
          <a:prstGeom prst="line">
            <a:avLst/>
          </a:prstGeom>
          <a:noFill/>
          <a:ln w="25400">
            <a:solidFill>
              <a:srgbClr val="2F80ED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3547872" y="2606040"/>
            <a:ext cx="749808" cy="256032"/>
          </a:xfrm>
          <a:prstGeom prst="roundRect">
            <a:avLst>
              <a:gd name="adj" fmla="val 21429"/>
            </a:avLst>
          </a:prstGeom>
          <a:solidFill>
            <a:srgbClr val="EAF3FF"/>
          </a:solidFill>
          <a:ln w="6350">
            <a:solidFill>
              <a:srgbClr val="D7DEE8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3584448" y="2660904"/>
            <a:ext cx="67665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0E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 : N</a:t>
            </a:r>
            <a:endParaRPr lang="en-US" sz="680" dirty="0"/>
          </a:p>
        </p:txBody>
      </p:sp>
      <p:sp>
        <p:nvSpPr>
          <p:cNvPr id="82" name="Shape 80"/>
          <p:cNvSpPr/>
          <p:nvPr/>
        </p:nvSpPr>
        <p:spPr>
          <a:xfrm>
            <a:off x="7315200" y="2971800"/>
            <a:ext cx="1783080" cy="0"/>
          </a:xfrm>
          <a:prstGeom prst="line">
            <a:avLst/>
          </a:prstGeom>
          <a:noFill/>
          <a:ln w="25400">
            <a:solidFill>
              <a:srgbClr val="1BA99A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7744968" y="2606040"/>
            <a:ext cx="749808" cy="256032"/>
          </a:xfrm>
          <a:prstGeom prst="roundRect">
            <a:avLst>
              <a:gd name="adj" fmla="val 21429"/>
            </a:avLst>
          </a:prstGeom>
          <a:solidFill>
            <a:srgbClr val="E8F8F5"/>
          </a:solidFill>
          <a:ln w="6350">
            <a:solidFill>
              <a:srgbClr val="D7DEE8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7781544" y="2660904"/>
            <a:ext cx="67665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1BA99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 : N</a:t>
            </a:r>
            <a:endParaRPr lang="en-US" sz="680" dirty="0"/>
          </a:p>
        </p:txBody>
      </p:sp>
      <p:sp>
        <p:nvSpPr>
          <p:cNvPr id="85" name="Shape 83"/>
          <p:cNvSpPr/>
          <p:nvPr/>
        </p:nvSpPr>
        <p:spPr>
          <a:xfrm>
            <a:off x="3383280" y="5010912"/>
            <a:ext cx="5440680" cy="658368"/>
          </a:xfrm>
          <a:prstGeom prst="roundRect">
            <a:avLst>
              <a:gd name="adj" fmla="val 13889"/>
            </a:avLst>
          </a:prstGeom>
          <a:solidFill>
            <a:srgbClr val="FBFCFE"/>
          </a:solidFill>
          <a:ln w="10160">
            <a:solidFill>
              <a:srgbClr val="D7DEE8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3593592" y="5175504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b="1" dirty="0">
                <a:solidFill>
                  <a:srgbClr val="D95D5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삭제 정책 예시</a:t>
            </a:r>
            <a:endParaRPr lang="en-US" sz="730" dirty="0"/>
          </a:p>
        </p:txBody>
      </p:sp>
      <p:sp>
        <p:nvSpPr>
          <p:cNvPr id="87" name="Text 85"/>
          <p:cNvSpPr/>
          <p:nvPr/>
        </p:nvSpPr>
        <p:spPr>
          <a:xfrm>
            <a:off x="4709160" y="5175504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dirty="0">
                <a:solidFill>
                  <a:srgbClr val="3341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USER 삭제 → SESSION / MESSAGE cascade 또는 soft delete 정책을 명시</a:t>
            </a:r>
            <a:endParaRPr lang="en-US" sz="730" dirty="0"/>
          </a:p>
        </p:txBody>
      </p:sp>
      <p:sp>
        <p:nvSpPr>
          <p:cNvPr id="88" name="Shape 86"/>
          <p:cNvSpPr/>
          <p:nvPr/>
        </p:nvSpPr>
        <p:spPr>
          <a:xfrm>
            <a:off x="530352" y="6007608"/>
            <a:ext cx="11119104" cy="347472"/>
          </a:xfrm>
          <a:prstGeom prst="roundRect">
            <a:avLst>
              <a:gd name="adj" fmla="val 15789"/>
            </a:avLst>
          </a:prstGeom>
          <a:solidFill>
            <a:srgbClr val="E8F8F5"/>
          </a:solidFill>
          <a:ln w="12700">
            <a:solidFill>
              <a:srgbClr val="E8F8F5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676656" y="6108192"/>
            <a:ext cx="10835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1BA99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ERD 발표에서는 “왜 이 관계인가 / 어떤 무결성을 보장하는가 / 누가 데이터를 소유하는가”를 설명해야 합니다.</a:t>
            </a:r>
            <a:endParaRPr lang="en-US" sz="76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28816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A0AAB6"/>
                </a:solidFill>
                <a:latin typeface="Noto Sans CJK KR"/>
                <a:ea typeface="Noto Sans CJK KR"/>
                <a:cs typeface="Noto Sans CJK KR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21208"/>
            <a:ext cx="8595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720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클라우드 아키텍처는 “네트워크 경계 + 허용 흐름 + 최소권한”을 보이게 합니다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12064" y="1005840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B778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B6에서 VPC·Subnet·Security Group·IAM을 한 장에 설명하는 기본형입니다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10168128" y="557784"/>
            <a:ext cx="1481328" cy="329184"/>
          </a:xfrm>
          <a:prstGeom prst="roundRect">
            <a:avLst>
              <a:gd name="adj" fmla="val 22222"/>
            </a:avLst>
          </a:prstGeom>
          <a:solidFill>
            <a:srgbClr val="0B2035"/>
          </a:solidFill>
          <a:ln w="12700">
            <a:solidFill>
              <a:srgbClr val="0B203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232136" y="630936"/>
            <a:ext cx="13533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CLOUD / NETWORK</a:t>
            </a:r>
            <a:endParaRPr lang="en-US" sz="780" dirty="0"/>
          </a:p>
        </p:txBody>
      </p:sp>
      <p:sp>
        <p:nvSpPr>
          <p:cNvPr id="6" name="Shape 4"/>
          <p:cNvSpPr/>
          <p:nvPr/>
        </p:nvSpPr>
        <p:spPr>
          <a:xfrm>
            <a:off x="521208" y="1389888"/>
            <a:ext cx="1325880" cy="256032"/>
          </a:xfrm>
          <a:prstGeom prst="roundRect">
            <a:avLst>
              <a:gd name="adj" fmla="val 28571"/>
            </a:avLst>
          </a:prstGeom>
          <a:solidFill>
            <a:srgbClr val="2F80ED">
              <a:alpha val="12000"/>
            </a:srgbClr>
          </a:solidFill>
          <a:ln w="12700">
            <a:solidFill>
              <a:srgbClr val="2F80ED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57784" y="1444752"/>
            <a:ext cx="125272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9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08 CLOUD</a:t>
            </a:r>
            <a:endParaRPr lang="en-US" sz="690" dirty="0"/>
          </a:p>
        </p:txBody>
      </p:sp>
      <p:sp>
        <p:nvSpPr>
          <p:cNvPr id="8" name="Shape 6"/>
          <p:cNvSpPr/>
          <p:nvPr/>
        </p:nvSpPr>
        <p:spPr>
          <a:xfrm>
            <a:off x="685800" y="2834640"/>
            <a:ext cx="1417320" cy="713232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 w="10160">
            <a:solidFill>
              <a:srgbClr val="2F80E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13816" y="2971800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13816" y="3017520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WWW</a:t>
            </a:r>
            <a:endParaRPr lang="en-US" sz="860" dirty="0"/>
          </a:p>
        </p:txBody>
      </p:sp>
      <p:sp>
        <p:nvSpPr>
          <p:cNvPr id="11" name="Text 9"/>
          <p:cNvSpPr/>
          <p:nvPr/>
        </p:nvSpPr>
        <p:spPr>
          <a:xfrm>
            <a:off x="1371600" y="2953512"/>
            <a:ext cx="612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720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Internet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371600" y="3182112"/>
            <a:ext cx="61264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6B778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External Client</a:t>
            </a:r>
            <a:endParaRPr lang="en-US" sz="740" dirty="0"/>
          </a:p>
        </p:txBody>
      </p:sp>
      <p:sp>
        <p:nvSpPr>
          <p:cNvPr id="13" name="Shape 11"/>
          <p:cNvSpPr/>
          <p:nvPr/>
        </p:nvSpPr>
        <p:spPr>
          <a:xfrm>
            <a:off x="2560320" y="1719072"/>
            <a:ext cx="8915400" cy="3611880"/>
          </a:xfrm>
          <a:prstGeom prst="roundRect">
            <a:avLst>
              <a:gd name="adj" fmla="val 3544"/>
            </a:avLst>
          </a:prstGeom>
          <a:solidFill>
            <a:srgbClr val="F9FBFD"/>
          </a:solidFill>
          <a:ln w="22860">
            <a:solidFill>
              <a:srgbClr val="2F80E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0" y="1874520"/>
            <a:ext cx="658368" cy="256032"/>
          </a:xfrm>
          <a:prstGeom prst="roundRect">
            <a:avLst>
              <a:gd name="adj" fmla="val 28571"/>
            </a:avLst>
          </a:prstGeom>
          <a:solidFill>
            <a:srgbClr val="2F80ED">
              <a:alpha val="12000"/>
            </a:srgbClr>
          </a:solidFill>
          <a:ln w="12700">
            <a:solidFill>
              <a:srgbClr val="2F80ED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79776" y="1929384"/>
            <a:ext cx="58521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9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VPC</a:t>
            </a:r>
            <a:endParaRPr lang="en-US" sz="690" dirty="0"/>
          </a:p>
        </p:txBody>
      </p:sp>
      <p:sp>
        <p:nvSpPr>
          <p:cNvPr id="16" name="Shape 14"/>
          <p:cNvSpPr/>
          <p:nvPr/>
        </p:nvSpPr>
        <p:spPr>
          <a:xfrm>
            <a:off x="2971800" y="2267712"/>
            <a:ext cx="4754880" cy="2542032"/>
          </a:xfrm>
          <a:prstGeom prst="roundRect">
            <a:avLst>
              <a:gd name="adj" fmla="val 3597"/>
            </a:avLst>
          </a:prstGeom>
          <a:solidFill>
            <a:srgbClr val="EAF3FF"/>
          </a:solidFill>
          <a:ln w="12700">
            <a:solidFill>
              <a:srgbClr val="A8CCF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154680" y="2432304"/>
            <a:ext cx="1051560" cy="256032"/>
          </a:xfrm>
          <a:prstGeom prst="roundRect">
            <a:avLst>
              <a:gd name="adj" fmla="val 28571"/>
            </a:avLst>
          </a:prstGeom>
          <a:solidFill>
            <a:srgbClr val="2F80ED">
              <a:alpha val="12000"/>
            </a:srgbClr>
          </a:solidFill>
          <a:ln w="12700">
            <a:solidFill>
              <a:srgbClr val="2F80ED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191256" y="2487168"/>
            <a:ext cx="97840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9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PUBLIC SUBNET</a:t>
            </a:r>
            <a:endParaRPr lang="en-US" sz="690" dirty="0"/>
          </a:p>
        </p:txBody>
      </p:sp>
      <p:sp>
        <p:nvSpPr>
          <p:cNvPr id="19" name="Shape 17"/>
          <p:cNvSpPr/>
          <p:nvPr/>
        </p:nvSpPr>
        <p:spPr>
          <a:xfrm>
            <a:off x="3337560" y="2907792"/>
            <a:ext cx="1508760" cy="749808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 w="10160">
            <a:solidFill>
              <a:srgbClr val="2F80E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465576" y="3044952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65576" y="3090672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IGW</a:t>
            </a:r>
            <a:endParaRPr lang="en-US" sz="860" dirty="0"/>
          </a:p>
        </p:txBody>
      </p:sp>
      <p:sp>
        <p:nvSpPr>
          <p:cNvPr id="22" name="Text 20"/>
          <p:cNvSpPr/>
          <p:nvPr/>
        </p:nvSpPr>
        <p:spPr>
          <a:xfrm>
            <a:off x="4023360" y="3026664"/>
            <a:ext cx="7040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720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IGW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023360" y="3255264"/>
            <a:ext cx="70408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6B778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Internet Gateway</a:t>
            </a:r>
            <a:endParaRPr lang="en-US" sz="740" dirty="0"/>
          </a:p>
        </p:txBody>
      </p:sp>
      <p:sp>
        <p:nvSpPr>
          <p:cNvPr id="24" name="Shape 22"/>
          <p:cNvSpPr/>
          <p:nvPr/>
        </p:nvSpPr>
        <p:spPr>
          <a:xfrm>
            <a:off x="5486400" y="2907792"/>
            <a:ext cx="1600200" cy="749808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 w="10160">
            <a:solidFill>
              <a:srgbClr val="12314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614416" y="3044952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12314E"/>
          </a:solidFill>
          <a:ln w="12700">
            <a:solidFill>
              <a:srgbClr val="12314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14416" y="3090672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EC2</a:t>
            </a:r>
            <a:endParaRPr lang="en-US" sz="860" dirty="0"/>
          </a:p>
        </p:txBody>
      </p:sp>
      <p:sp>
        <p:nvSpPr>
          <p:cNvPr id="27" name="Text 25"/>
          <p:cNvSpPr/>
          <p:nvPr/>
        </p:nvSpPr>
        <p:spPr>
          <a:xfrm>
            <a:off x="6172200" y="3026664"/>
            <a:ext cx="7955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720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EC2 / App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172200" y="3255264"/>
            <a:ext cx="7955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6B778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Web Service</a:t>
            </a:r>
            <a:endParaRPr lang="en-US" sz="740" dirty="0"/>
          </a:p>
        </p:txBody>
      </p:sp>
      <p:sp>
        <p:nvSpPr>
          <p:cNvPr id="29" name="Shape 27"/>
          <p:cNvSpPr/>
          <p:nvPr/>
        </p:nvSpPr>
        <p:spPr>
          <a:xfrm>
            <a:off x="5486400" y="3886200"/>
            <a:ext cx="160020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0160">
            <a:solidFill>
              <a:srgbClr val="D95D5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614416" y="4023360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D95D58"/>
          </a:solidFill>
          <a:ln w="12700">
            <a:solidFill>
              <a:srgbClr val="D95D5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614416" y="4069080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SG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172200" y="4005072"/>
            <a:ext cx="7955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720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Security Group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172200" y="4233672"/>
            <a:ext cx="7955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6B778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80 public · 22 restricted</a:t>
            </a:r>
            <a:endParaRPr lang="en-US" sz="740" dirty="0"/>
          </a:p>
        </p:txBody>
      </p:sp>
      <p:sp>
        <p:nvSpPr>
          <p:cNvPr id="34" name="Shape 32"/>
          <p:cNvSpPr/>
          <p:nvPr/>
        </p:nvSpPr>
        <p:spPr>
          <a:xfrm>
            <a:off x="8229600" y="2267712"/>
            <a:ext cx="2697480" cy="2542032"/>
          </a:xfrm>
          <a:prstGeom prst="roundRect">
            <a:avLst>
              <a:gd name="adj" fmla="val 3597"/>
            </a:avLst>
          </a:prstGeom>
          <a:solidFill>
            <a:srgbClr val="FFF5DD"/>
          </a:solidFill>
          <a:ln w="12700">
            <a:solidFill>
              <a:srgbClr val="F6CC73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412480" y="2432304"/>
            <a:ext cx="987552" cy="256032"/>
          </a:xfrm>
          <a:prstGeom prst="roundRect">
            <a:avLst>
              <a:gd name="adj" fmla="val 28571"/>
            </a:avLst>
          </a:prstGeom>
          <a:solidFill>
            <a:srgbClr val="F3A61D">
              <a:alpha val="12000"/>
            </a:srgbClr>
          </a:solidFill>
          <a:ln w="12700">
            <a:solidFill>
              <a:srgbClr val="F3A61D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449056" y="2487168"/>
            <a:ext cx="9144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9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IAM / ROLE</a:t>
            </a:r>
            <a:endParaRPr lang="en-US" sz="690" dirty="0"/>
          </a:p>
        </p:txBody>
      </p:sp>
      <p:sp>
        <p:nvSpPr>
          <p:cNvPr id="37" name="Shape 35"/>
          <p:cNvSpPr/>
          <p:nvPr/>
        </p:nvSpPr>
        <p:spPr>
          <a:xfrm>
            <a:off x="8577072" y="3063240"/>
            <a:ext cx="1975104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0160">
            <a:solidFill>
              <a:srgbClr val="F3A61D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705088" y="3200400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F3A61D"/>
          </a:solidFill>
          <a:ln w="12700">
            <a:solidFill>
              <a:srgbClr val="F3A61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705088" y="3246120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IAM</a:t>
            </a:r>
            <a:endParaRPr lang="en-US" sz="860" dirty="0"/>
          </a:p>
        </p:txBody>
      </p:sp>
      <p:sp>
        <p:nvSpPr>
          <p:cNvPr id="40" name="Text 38"/>
          <p:cNvSpPr/>
          <p:nvPr/>
        </p:nvSpPr>
        <p:spPr>
          <a:xfrm>
            <a:off x="9262872" y="3182112"/>
            <a:ext cx="1170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720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Least Privilege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9262872" y="3410712"/>
            <a:ext cx="117043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6B778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EC2/VPC only</a:t>
            </a:r>
            <a:endParaRPr lang="en-US" sz="740" dirty="0"/>
          </a:p>
        </p:txBody>
      </p:sp>
      <p:sp>
        <p:nvSpPr>
          <p:cNvPr id="42" name="Shape 40"/>
          <p:cNvSpPr/>
          <p:nvPr/>
        </p:nvSpPr>
        <p:spPr>
          <a:xfrm>
            <a:off x="2103120" y="3191256"/>
            <a:ext cx="1234440" cy="0"/>
          </a:xfrm>
          <a:prstGeom prst="line">
            <a:avLst/>
          </a:prstGeom>
          <a:noFill/>
          <a:ln w="27940">
            <a:solidFill>
              <a:srgbClr val="2F80ED"/>
            </a:solidFill>
            <a:prstDash val="solid"/>
            <a:headEnd type="none"/>
            <a:tailEnd type="triangle"/>
          </a:ln>
        </p:spPr>
      </p:sp>
      <p:sp>
        <p:nvSpPr>
          <p:cNvPr id="43" name="Shape 41"/>
          <p:cNvSpPr/>
          <p:nvPr/>
        </p:nvSpPr>
        <p:spPr>
          <a:xfrm>
            <a:off x="4846320" y="3282696"/>
            <a:ext cx="640080" cy="0"/>
          </a:xfrm>
          <a:prstGeom prst="line">
            <a:avLst/>
          </a:prstGeom>
          <a:noFill/>
          <a:ln w="27940">
            <a:solidFill>
              <a:srgbClr val="2F80ED"/>
            </a:solidFill>
            <a:prstDash val="solid"/>
            <a:headEnd type="none"/>
            <a:tailEnd type="triangle"/>
          </a:ln>
        </p:spPr>
      </p:sp>
      <p:sp>
        <p:nvSpPr>
          <p:cNvPr id="44" name="Shape 42"/>
          <p:cNvSpPr/>
          <p:nvPr/>
        </p:nvSpPr>
        <p:spPr>
          <a:xfrm>
            <a:off x="6291072" y="3657600"/>
            <a:ext cx="0" cy="228600"/>
          </a:xfrm>
          <a:prstGeom prst="line">
            <a:avLst/>
          </a:prstGeom>
          <a:noFill/>
          <a:ln w="22860">
            <a:solidFill>
              <a:srgbClr val="D95D58"/>
            </a:solidFill>
            <a:prstDash val="solid"/>
            <a:headEnd type="none"/>
            <a:tailEnd type="triangle"/>
          </a:ln>
        </p:spPr>
      </p:sp>
      <p:sp>
        <p:nvSpPr>
          <p:cNvPr id="45" name="Shape 43"/>
          <p:cNvSpPr/>
          <p:nvPr/>
        </p:nvSpPr>
        <p:spPr>
          <a:xfrm>
            <a:off x="7086600" y="3273552"/>
            <a:ext cx="1490472" cy="182880"/>
          </a:xfrm>
          <a:prstGeom prst="line">
            <a:avLst/>
          </a:prstGeom>
          <a:noFill/>
          <a:ln w="19050">
            <a:solidFill>
              <a:srgbClr val="F3A61D"/>
            </a:solidFill>
            <a:prstDash val="solid"/>
            <a:headEnd type="none"/>
            <a:tailEnd type="triangle"/>
          </a:ln>
        </p:spPr>
      </p:sp>
      <p:sp>
        <p:nvSpPr>
          <p:cNvPr id="46" name="Shape 44"/>
          <p:cNvSpPr/>
          <p:nvPr/>
        </p:nvSpPr>
        <p:spPr>
          <a:xfrm>
            <a:off x="1243584" y="2450592"/>
            <a:ext cx="822960" cy="256032"/>
          </a:xfrm>
          <a:prstGeom prst="roundRect">
            <a:avLst>
              <a:gd name="adj" fmla="val 21429"/>
            </a:avLst>
          </a:prstGeom>
          <a:solidFill>
            <a:srgbClr val="EAF3FF"/>
          </a:solidFill>
          <a:ln w="6350">
            <a:solidFill>
              <a:srgbClr val="D7DEE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280160" y="2505456"/>
            <a:ext cx="7498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0E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0.0.0.0/0</a:t>
            </a:r>
            <a:endParaRPr lang="en-US" sz="680" dirty="0"/>
          </a:p>
        </p:txBody>
      </p:sp>
      <p:sp>
        <p:nvSpPr>
          <p:cNvPr id="48" name="Shape 46"/>
          <p:cNvSpPr/>
          <p:nvPr/>
        </p:nvSpPr>
        <p:spPr>
          <a:xfrm>
            <a:off x="5358384" y="4983480"/>
            <a:ext cx="1828800" cy="256032"/>
          </a:xfrm>
          <a:prstGeom prst="roundRect">
            <a:avLst>
              <a:gd name="adj" fmla="val 21429"/>
            </a:avLst>
          </a:prstGeom>
          <a:solidFill>
            <a:srgbClr val="FDEDEC"/>
          </a:solidFill>
          <a:ln w="6350">
            <a:solidFill>
              <a:srgbClr val="D7DEE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394960" y="5038344"/>
            <a:ext cx="17556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5D5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TRUST BOUNDARY</a:t>
            </a:r>
            <a:endParaRPr lang="en-US" sz="680" dirty="0"/>
          </a:p>
        </p:txBody>
      </p:sp>
      <p:sp>
        <p:nvSpPr>
          <p:cNvPr id="50" name="Shape 48"/>
          <p:cNvSpPr/>
          <p:nvPr/>
        </p:nvSpPr>
        <p:spPr>
          <a:xfrm>
            <a:off x="530352" y="6007608"/>
            <a:ext cx="11119104" cy="347472"/>
          </a:xfrm>
          <a:prstGeom prst="roundRect">
            <a:avLst>
              <a:gd name="adj" fmla="val 15789"/>
            </a:avLst>
          </a:prstGeom>
          <a:solidFill>
            <a:srgbClr val="FFF5DD"/>
          </a:solidFill>
          <a:ln w="12700">
            <a:solidFill>
              <a:srgbClr val="FFF5DD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76656" y="6108192"/>
            <a:ext cx="10835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F3A61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네트워크 다이어그램은 “어디서 들어와서 어디까지 허용되는지”와 “누가 어떤 권한으로 리소스를 조작하는지”를 분리해 표시합니다.</a:t>
            </a:r>
            <a:endParaRPr lang="en-US" sz="76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28816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A0AAB6"/>
                </a:solidFill>
                <a:latin typeface="Noto Sans CJK KR"/>
                <a:ea typeface="Noto Sans CJK KR"/>
                <a:cs typeface="Noto Sans CJK KR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21208"/>
            <a:ext cx="8595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720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알고리즘 시각화는 “자료구조 → 연산 단계 → 복잡도”를 같은 프레임에서 설명합니다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12064" y="1005840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B778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B3에서 단순 코드 화면보다 내부 상태 변화와 불변조건(Invariant)을 보여주는 것이 중요합니다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10168128" y="557784"/>
            <a:ext cx="1481328" cy="329184"/>
          </a:xfrm>
          <a:prstGeom prst="roundRect">
            <a:avLst>
              <a:gd name="adj" fmla="val 22222"/>
            </a:avLst>
          </a:prstGeom>
          <a:solidFill>
            <a:srgbClr val="0B2035"/>
          </a:solidFill>
          <a:ln w="12700">
            <a:solidFill>
              <a:srgbClr val="0B203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232136" y="630936"/>
            <a:ext cx="13533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ALGORITHM</a:t>
            </a:r>
            <a:endParaRPr lang="en-US" sz="780" dirty="0"/>
          </a:p>
        </p:txBody>
      </p:sp>
      <p:sp>
        <p:nvSpPr>
          <p:cNvPr id="6" name="Shape 4"/>
          <p:cNvSpPr/>
          <p:nvPr/>
        </p:nvSpPr>
        <p:spPr>
          <a:xfrm>
            <a:off x="521208" y="1389888"/>
            <a:ext cx="1325880" cy="256032"/>
          </a:xfrm>
          <a:prstGeom prst="roundRect">
            <a:avLst>
              <a:gd name="adj" fmla="val 28571"/>
            </a:avLst>
          </a:prstGeom>
          <a:solidFill>
            <a:srgbClr val="2F80ED">
              <a:alpha val="12000"/>
            </a:srgbClr>
          </a:solidFill>
          <a:ln w="12700">
            <a:solidFill>
              <a:srgbClr val="2F80ED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57784" y="1444752"/>
            <a:ext cx="125272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9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09 ALGORITHM</a:t>
            </a:r>
            <a:endParaRPr lang="en-US" sz="690" dirty="0"/>
          </a:p>
        </p:txBody>
      </p:sp>
      <p:sp>
        <p:nvSpPr>
          <p:cNvPr id="8" name="Shape 6"/>
          <p:cNvSpPr/>
          <p:nvPr/>
        </p:nvSpPr>
        <p:spPr>
          <a:xfrm>
            <a:off x="658368" y="1828800"/>
            <a:ext cx="4846320" cy="3611880"/>
          </a:xfrm>
          <a:prstGeom prst="roundRect">
            <a:avLst>
              <a:gd name="adj" fmla="val 2532"/>
            </a:avLst>
          </a:prstGeom>
          <a:solidFill>
            <a:srgbClr val="FFFFFF"/>
          </a:solidFill>
          <a:ln w="10160">
            <a:solidFill>
              <a:srgbClr val="D7DEE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68680" y="2029968"/>
            <a:ext cx="1005840" cy="256032"/>
          </a:xfrm>
          <a:prstGeom prst="roundRect">
            <a:avLst>
              <a:gd name="adj" fmla="val 28571"/>
            </a:avLst>
          </a:prstGeom>
          <a:solidFill>
            <a:srgbClr val="2F80ED">
              <a:alpha val="12000"/>
            </a:srgbClr>
          </a:solidFill>
          <a:ln w="12700">
            <a:solidFill>
              <a:srgbClr val="2F80ED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05256" y="2084832"/>
            <a:ext cx="93268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9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STRUCTURE</a:t>
            </a:r>
            <a:endParaRPr lang="en-US" sz="690" dirty="0"/>
          </a:p>
        </p:txBody>
      </p:sp>
      <p:sp>
        <p:nvSpPr>
          <p:cNvPr id="11" name="Text 9"/>
          <p:cNvSpPr/>
          <p:nvPr/>
        </p:nvSpPr>
        <p:spPr>
          <a:xfrm>
            <a:off x="868680" y="248716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20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Hash Table + Chaining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60120" y="3063240"/>
            <a:ext cx="658368" cy="347472"/>
          </a:xfrm>
          <a:prstGeom prst="roundRect">
            <a:avLst>
              <a:gd name="adj" fmla="val 13158"/>
            </a:avLst>
          </a:prstGeom>
          <a:solidFill>
            <a:srgbClr val="0B2035"/>
          </a:solidFill>
          <a:ln w="12700">
            <a:solidFill>
              <a:srgbClr val="0B203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5840" y="3163824"/>
            <a:ext cx="5669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B0</a:t>
            </a:r>
            <a:endParaRPr lang="en-US" sz="720" dirty="0"/>
          </a:p>
        </p:txBody>
      </p:sp>
      <p:sp>
        <p:nvSpPr>
          <p:cNvPr id="14" name="Shape 12"/>
          <p:cNvSpPr/>
          <p:nvPr/>
        </p:nvSpPr>
        <p:spPr>
          <a:xfrm>
            <a:off x="1938528" y="2999232"/>
            <a:ext cx="1170432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0160">
            <a:solidFill>
              <a:srgbClr val="2F80E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66544" y="3136392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066544" y="3182112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624328" y="3118104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720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key A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2624328" y="3346704"/>
            <a:ext cx="365760" cy="45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6B778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value</a:t>
            </a:r>
            <a:endParaRPr lang="en-US" sz="740" dirty="0"/>
          </a:p>
        </p:txBody>
      </p:sp>
      <p:sp>
        <p:nvSpPr>
          <p:cNvPr id="19" name="Shape 17"/>
          <p:cNvSpPr/>
          <p:nvPr/>
        </p:nvSpPr>
        <p:spPr>
          <a:xfrm>
            <a:off x="1618488" y="3236976"/>
            <a:ext cx="320040" cy="0"/>
          </a:xfrm>
          <a:prstGeom prst="line">
            <a:avLst/>
          </a:prstGeom>
          <a:noFill/>
          <a:ln w="15240">
            <a:solidFill>
              <a:srgbClr val="6B7785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3401568" y="2999232"/>
            <a:ext cx="1170432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0160">
            <a:solidFill>
              <a:srgbClr val="1BA99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529584" y="3136392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1BA99A"/>
          </a:solidFill>
          <a:ln w="12700">
            <a:solidFill>
              <a:srgbClr val="1BA99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529584" y="3182112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087368" y="3118104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720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key D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087368" y="3346704"/>
            <a:ext cx="365760" cy="45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6B778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value</a:t>
            </a:r>
            <a:endParaRPr lang="en-US" sz="740" dirty="0"/>
          </a:p>
        </p:txBody>
      </p:sp>
      <p:sp>
        <p:nvSpPr>
          <p:cNvPr id="25" name="Shape 23"/>
          <p:cNvSpPr/>
          <p:nvPr/>
        </p:nvSpPr>
        <p:spPr>
          <a:xfrm>
            <a:off x="3108960" y="3236976"/>
            <a:ext cx="292608" cy="0"/>
          </a:xfrm>
          <a:prstGeom prst="line">
            <a:avLst/>
          </a:prstGeom>
          <a:noFill/>
          <a:ln w="15240">
            <a:solidFill>
              <a:srgbClr val="6B7785"/>
            </a:solidFill>
            <a:prstDash val="solid"/>
            <a:headEnd type="none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960120" y="3566160"/>
            <a:ext cx="658368" cy="347472"/>
          </a:xfrm>
          <a:prstGeom prst="roundRect">
            <a:avLst>
              <a:gd name="adj" fmla="val 13158"/>
            </a:avLst>
          </a:prstGeom>
          <a:solidFill>
            <a:srgbClr val="0B2035"/>
          </a:solidFill>
          <a:ln w="12700">
            <a:solidFill>
              <a:srgbClr val="0B203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05840" y="3666744"/>
            <a:ext cx="5669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B1</a:t>
            </a:r>
            <a:endParaRPr lang="en-US" sz="720" dirty="0"/>
          </a:p>
        </p:txBody>
      </p:sp>
      <p:sp>
        <p:nvSpPr>
          <p:cNvPr id="28" name="Shape 26"/>
          <p:cNvSpPr/>
          <p:nvPr/>
        </p:nvSpPr>
        <p:spPr>
          <a:xfrm>
            <a:off x="1938528" y="3502152"/>
            <a:ext cx="1170432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0160">
            <a:solidFill>
              <a:srgbClr val="1BA99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066544" y="3639312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1BA99A"/>
          </a:solidFill>
          <a:ln w="12700">
            <a:solidFill>
              <a:srgbClr val="1BA99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066544" y="3685032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N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2624328" y="3621024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720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key B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2624328" y="3849624"/>
            <a:ext cx="365760" cy="45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6B778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value</a:t>
            </a:r>
            <a:endParaRPr lang="en-US" sz="740" dirty="0"/>
          </a:p>
        </p:txBody>
      </p:sp>
      <p:sp>
        <p:nvSpPr>
          <p:cNvPr id="33" name="Shape 31"/>
          <p:cNvSpPr/>
          <p:nvPr/>
        </p:nvSpPr>
        <p:spPr>
          <a:xfrm>
            <a:off x="1618488" y="3739896"/>
            <a:ext cx="320040" cy="0"/>
          </a:xfrm>
          <a:prstGeom prst="line">
            <a:avLst/>
          </a:prstGeom>
          <a:noFill/>
          <a:ln w="15240">
            <a:solidFill>
              <a:srgbClr val="6B7785"/>
            </a:solidFill>
            <a:prstDash val="solid"/>
            <a:headEnd type="none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960120" y="4069080"/>
            <a:ext cx="658368" cy="347472"/>
          </a:xfrm>
          <a:prstGeom prst="roundRect">
            <a:avLst>
              <a:gd name="adj" fmla="val 13158"/>
            </a:avLst>
          </a:prstGeom>
          <a:solidFill>
            <a:srgbClr val="0B2035"/>
          </a:solidFill>
          <a:ln w="12700">
            <a:solidFill>
              <a:srgbClr val="0B203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005840" y="4169664"/>
            <a:ext cx="5669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B2</a:t>
            </a:r>
            <a:endParaRPr lang="en-US" sz="720" dirty="0"/>
          </a:p>
        </p:txBody>
      </p:sp>
      <p:sp>
        <p:nvSpPr>
          <p:cNvPr id="36" name="Text 34"/>
          <p:cNvSpPr/>
          <p:nvPr/>
        </p:nvSpPr>
        <p:spPr>
          <a:xfrm>
            <a:off x="1993392" y="409651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78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∅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960120" y="4572000"/>
            <a:ext cx="658368" cy="347472"/>
          </a:xfrm>
          <a:prstGeom prst="roundRect">
            <a:avLst>
              <a:gd name="adj" fmla="val 13158"/>
            </a:avLst>
          </a:prstGeom>
          <a:solidFill>
            <a:srgbClr val="0B2035"/>
          </a:solidFill>
          <a:ln w="12700">
            <a:solidFill>
              <a:srgbClr val="0B203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005840" y="4672584"/>
            <a:ext cx="5669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B3</a:t>
            </a:r>
            <a:endParaRPr lang="en-US" sz="720" dirty="0"/>
          </a:p>
        </p:txBody>
      </p:sp>
      <p:sp>
        <p:nvSpPr>
          <p:cNvPr id="39" name="Shape 37"/>
          <p:cNvSpPr/>
          <p:nvPr/>
        </p:nvSpPr>
        <p:spPr>
          <a:xfrm>
            <a:off x="1938528" y="4507992"/>
            <a:ext cx="1170432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0160">
            <a:solidFill>
              <a:srgbClr val="1BA99A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066544" y="4645152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1BA99A"/>
          </a:solidFill>
          <a:ln w="12700">
            <a:solidFill>
              <a:srgbClr val="1BA99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066544" y="4690872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N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2624328" y="4626864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720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key D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2624328" y="4855464"/>
            <a:ext cx="365760" cy="45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6B778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value</a:t>
            </a:r>
            <a:endParaRPr lang="en-US" sz="740" dirty="0"/>
          </a:p>
        </p:txBody>
      </p:sp>
      <p:sp>
        <p:nvSpPr>
          <p:cNvPr id="44" name="Shape 42"/>
          <p:cNvSpPr/>
          <p:nvPr/>
        </p:nvSpPr>
        <p:spPr>
          <a:xfrm>
            <a:off x="1618488" y="4745736"/>
            <a:ext cx="320040" cy="0"/>
          </a:xfrm>
          <a:prstGeom prst="line">
            <a:avLst/>
          </a:prstGeom>
          <a:noFill/>
          <a:ln w="15240">
            <a:solidFill>
              <a:srgbClr val="6B7785"/>
            </a:solidFill>
            <a:prstDash val="solid"/>
            <a:headEnd type="none"/>
            <a:tailEnd type="triangle"/>
          </a:ln>
        </p:spPr>
      </p:sp>
      <p:sp>
        <p:nvSpPr>
          <p:cNvPr id="45" name="Shape 43"/>
          <p:cNvSpPr/>
          <p:nvPr/>
        </p:nvSpPr>
        <p:spPr>
          <a:xfrm>
            <a:off x="5806440" y="1828800"/>
            <a:ext cx="5669280" cy="3611880"/>
          </a:xfrm>
          <a:prstGeom prst="roundRect">
            <a:avLst>
              <a:gd name="adj" fmla="val 2532"/>
            </a:avLst>
          </a:prstGeom>
          <a:solidFill>
            <a:srgbClr val="FFFFFF"/>
          </a:solidFill>
          <a:ln w="10160">
            <a:solidFill>
              <a:srgbClr val="D7DEE8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016752" y="2029968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7B61FF">
              <a:alpha val="12000"/>
            </a:srgbClr>
          </a:solidFill>
          <a:ln w="12700">
            <a:solidFill>
              <a:srgbClr val="7B61FF">
                <a:alpha val="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053328" y="2084832"/>
            <a:ext cx="79552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9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PROCESS</a:t>
            </a:r>
            <a:endParaRPr lang="en-US" sz="690" dirty="0"/>
          </a:p>
        </p:txBody>
      </p:sp>
      <p:sp>
        <p:nvSpPr>
          <p:cNvPr id="48" name="Text 46"/>
          <p:cNvSpPr/>
          <p:nvPr/>
        </p:nvSpPr>
        <p:spPr>
          <a:xfrm>
            <a:off x="6016752" y="248716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20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SEARCH("key D")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6080760" y="3108960"/>
            <a:ext cx="1060704" cy="896112"/>
          </a:xfrm>
          <a:prstGeom prst="roundRect">
            <a:avLst>
              <a:gd name="adj" fmla="val 10204"/>
            </a:avLst>
          </a:prstGeom>
          <a:solidFill>
            <a:srgbClr val="FFFFFF"/>
          </a:solidFill>
          <a:ln w="10160">
            <a:solidFill>
              <a:srgbClr val="2F80ED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208776" y="3246120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208776" y="3291840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6766560" y="3227832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720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HASH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6766560" y="3456432"/>
            <a:ext cx="25603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6B778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index = h(key)</a:t>
            </a:r>
            <a:endParaRPr lang="en-US" sz="740" dirty="0"/>
          </a:p>
        </p:txBody>
      </p:sp>
      <p:sp>
        <p:nvSpPr>
          <p:cNvPr id="54" name="Shape 52"/>
          <p:cNvSpPr/>
          <p:nvPr/>
        </p:nvSpPr>
        <p:spPr>
          <a:xfrm>
            <a:off x="7141464" y="3547872"/>
            <a:ext cx="246888" cy="0"/>
          </a:xfrm>
          <a:prstGeom prst="line">
            <a:avLst/>
          </a:prstGeom>
          <a:noFill/>
          <a:ln w="19050">
            <a:solidFill>
              <a:srgbClr val="2F80ED"/>
            </a:solidFill>
            <a:prstDash val="solid"/>
            <a:headEnd type="none"/>
            <a:tailEnd type="triangle"/>
          </a:ln>
        </p:spPr>
      </p:sp>
      <p:sp>
        <p:nvSpPr>
          <p:cNvPr id="55" name="Shape 53"/>
          <p:cNvSpPr/>
          <p:nvPr/>
        </p:nvSpPr>
        <p:spPr>
          <a:xfrm>
            <a:off x="7406640" y="3108960"/>
            <a:ext cx="1060704" cy="896112"/>
          </a:xfrm>
          <a:prstGeom prst="roundRect">
            <a:avLst>
              <a:gd name="adj" fmla="val 10204"/>
            </a:avLst>
          </a:prstGeom>
          <a:solidFill>
            <a:srgbClr val="FFFFFF"/>
          </a:solidFill>
          <a:ln w="10160">
            <a:solidFill>
              <a:srgbClr val="12314E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534656" y="3246120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12314E"/>
          </a:solidFill>
          <a:ln w="12700">
            <a:solidFill>
              <a:srgbClr val="12314E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534656" y="3291840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</a:t>
            </a:r>
            <a:endParaRPr lang="en-US" sz="1300" dirty="0"/>
          </a:p>
        </p:txBody>
      </p:sp>
      <p:sp>
        <p:nvSpPr>
          <p:cNvPr id="58" name="Text 56"/>
          <p:cNvSpPr/>
          <p:nvPr/>
        </p:nvSpPr>
        <p:spPr>
          <a:xfrm>
            <a:off x="8092440" y="3227832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720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LOOKUP</a:t>
            </a:r>
            <a:endParaRPr lang="en-US" sz="1050" dirty="0"/>
          </a:p>
        </p:txBody>
      </p:sp>
      <p:sp>
        <p:nvSpPr>
          <p:cNvPr id="59" name="Text 57"/>
          <p:cNvSpPr/>
          <p:nvPr/>
        </p:nvSpPr>
        <p:spPr>
          <a:xfrm>
            <a:off x="8092440" y="3456432"/>
            <a:ext cx="25603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6B778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bucket[0]</a:t>
            </a:r>
            <a:endParaRPr lang="en-US" sz="740" dirty="0"/>
          </a:p>
        </p:txBody>
      </p:sp>
      <p:sp>
        <p:nvSpPr>
          <p:cNvPr id="60" name="Shape 58"/>
          <p:cNvSpPr/>
          <p:nvPr/>
        </p:nvSpPr>
        <p:spPr>
          <a:xfrm>
            <a:off x="8467344" y="3547872"/>
            <a:ext cx="246888" cy="0"/>
          </a:xfrm>
          <a:prstGeom prst="line">
            <a:avLst/>
          </a:prstGeom>
          <a:noFill/>
          <a:ln w="19050">
            <a:solidFill>
              <a:srgbClr val="12314E"/>
            </a:solidFill>
            <a:prstDash val="solid"/>
            <a:headEnd type="none"/>
            <a:tailEnd type="triangle"/>
          </a:ln>
        </p:spPr>
      </p:sp>
      <p:sp>
        <p:nvSpPr>
          <p:cNvPr id="61" name="Shape 59"/>
          <p:cNvSpPr/>
          <p:nvPr/>
        </p:nvSpPr>
        <p:spPr>
          <a:xfrm>
            <a:off x="8732520" y="3108960"/>
            <a:ext cx="1060704" cy="896112"/>
          </a:xfrm>
          <a:prstGeom prst="roundRect">
            <a:avLst>
              <a:gd name="adj" fmla="val 10204"/>
            </a:avLst>
          </a:prstGeom>
          <a:solidFill>
            <a:srgbClr val="FFFFFF"/>
          </a:solidFill>
          <a:ln w="10160">
            <a:solidFill>
              <a:srgbClr val="7B61FF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8860536" y="3246120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8860536" y="3291840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</a:t>
            </a:r>
            <a:endParaRPr lang="en-US" sz="1300" dirty="0"/>
          </a:p>
        </p:txBody>
      </p:sp>
      <p:sp>
        <p:nvSpPr>
          <p:cNvPr id="64" name="Text 62"/>
          <p:cNvSpPr/>
          <p:nvPr/>
        </p:nvSpPr>
        <p:spPr>
          <a:xfrm>
            <a:off x="9418320" y="3227832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720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SCAN</a:t>
            </a:r>
            <a:endParaRPr lang="en-US" sz="1050" dirty="0"/>
          </a:p>
        </p:txBody>
      </p:sp>
      <p:sp>
        <p:nvSpPr>
          <p:cNvPr id="65" name="Text 63"/>
          <p:cNvSpPr/>
          <p:nvPr/>
        </p:nvSpPr>
        <p:spPr>
          <a:xfrm>
            <a:off x="9418320" y="3456432"/>
            <a:ext cx="25603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6B778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node → node</a:t>
            </a:r>
            <a:endParaRPr lang="en-US" sz="740" dirty="0"/>
          </a:p>
        </p:txBody>
      </p:sp>
      <p:sp>
        <p:nvSpPr>
          <p:cNvPr id="66" name="Shape 64"/>
          <p:cNvSpPr/>
          <p:nvPr/>
        </p:nvSpPr>
        <p:spPr>
          <a:xfrm>
            <a:off x="9793224" y="3547872"/>
            <a:ext cx="246888" cy="0"/>
          </a:xfrm>
          <a:prstGeom prst="line">
            <a:avLst/>
          </a:prstGeom>
          <a:noFill/>
          <a:ln w="19050">
            <a:solidFill>
              <a:srgbClr val="7B61FF"/>
            </a:solidFill>
            <a:prstDash val="solid"/>
            <a:headEnd type="none"/>
            <a:tailEnd type="triangle"/>
          </a:ln>
        </p:spPr>
      </p:sp>
      <p:sp>
        <p:nvSpPr>
          <p:cNvPr id="67" name="Shape 65"/>
          <p:cNvSpPr/>
          <p:nvPr/>
        </p:nvSpPr>
        <p:spPr>
          <a:xfrm>
            <a:off x="10058400" y="3108960"/>
            <a:ext cx="1060704" cy="896112"/>
          </a:xfrm>
          <a:prstGeom prst="roundRect">
            <a:avLst>
              <a:gd name="adj" fmla="val 10204"/>
            </a:avLst>
          </a:prstGeom>
          <a:solidFill>
            <a:srgbClr val="FFFFFF"/>
          </a:solidFill>
          <a:ln w="10160">
            <a:solidFill>
              <a:srgbClr val="2FA66A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10186416" y="3246120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A66A"/>
          </a:solidFill>
          <a:ln w="12700">
            <a:solidFill>
              <a:srgbClr val="2FA66A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10186416" y="3291840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4</a:t>
            </a:r>
            <a:endParaRPr lang="en-US" sz="1300" dirty="0"/>
          </a:p>
        </p:txBody>
      </p:sp>
      <p:sp>
        <p:nvSpPr>
          <p:cNvPr id="70" name="Text 68"/>
          <p:cNvSpPr/>
          <p:nvPr/>
        </p:nvSpPr>
        <p:spPr>
          <a:xfrm>
            <a:off x="10744200" y="3227832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720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FOUND</a:t>
            </a:r>
            <a:endParaRPr lang="en-US" sz="1050" dirty="0"/>
          </a:p>
        </p:txBody>
      </p:sp>
      <p:sp>
        <p:nvSpPr>
          <p:cNvPr id="71" name="Text 69"/>
          <p:cNvSpPr/>
          <p:nvPr/>
        </p:nvSpPr>
        <p:spPr>
          <a:xfrm>
            <a:off x="10744200" y="3456432"/>
            <a:ext cx="25603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6B778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return value</a:t>
            </a:r>
            <a:endParaRPr lang="en-US" sz="740" dirty="0"/>
          </a:p>
        </p:txBody>
      </p:sp>
      <p:sp>
        <p:nvSpPr>
          <p:cNvPr id="72" name="Shape 70"/>
          <p:cNvSpPr/>
          <p:nvPr/>
        </p:nvSpPr>
        <p:spPr>
          <a:xfrm>
            <a:off x="6080760" y="4370832"/>
            <a:ext cx="4800600" cy="566928"/>
          </a:xfrm>
          <a:prstGeom prst="roundRect">
            <a:avLst>
              <a:gd name="adj" fmla="val 16129"/>
            </a:avLst>
          </a:prstGeom>
          <a:solidFill>
            <a:srgbClr val="EAF7EF"/>
          </a:solidFill>
          <a:ln w="10160">
            <a:solidFill>
              <a:srgbClr val="2FA66A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6281928" y="4562856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2FA66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복잡도: 평균 O(1) · 최악 O(n)    |    불변조건: 같은 key는 하나의 bucket 경로에서 탐색</a:t>
            </a:r>
            <a:endParaRPr lang="en-US" sz="750" dirty="0"/>
          </a:p>
        </p:txBody>
      </p:sp>
      <p:sp>
        <p:nvSpPr>
          <p:cNvPr id="74" name="Shape 72"/>
          <p:cNvSpPr/>
          <p:nvPr/>
        </p:nvSpPr>
        <p:spPr>
          <a:xfrm>
            <a:off x="530352" y="6007608"/>
            <a:ext cx="11119104" cy="347472"/>
          </a:xfrm>
          <a:prstGeom prst="roundRect">
            <a:avLst>
              <a:gd name="adj" fmla="val 15789"/>
            </a:avLst>
          </a:prstGeom>
          <a:solidFill>
            <a:srgbClr val="F0EDFF"/>
          </a:solidFill>
          <a:ln w="12700">
            <a:solidFill>
              <a:srgbClr val="F0EDFF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676656" y="6108192"/>
            <a:ext cx="10835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7B61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코드 설명 슬라이드 다음에 이 템플릿을 붙이면 “왜 이 자료구조를 선택했는지”를 시간복잡도와 함께 설명할 수 있습니다.</a:t>
            </a:r>
            <a:endParaRPr lang="en-US" sz="76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28816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A0AAB6"/>
                </a:solidFill>
                <a:latin typeface="Noto Sans CJK KR"/>
                <a:ea typeface="Noto Sans CJK KR"/>
                <a:cs typeface="Noto Sans CJK KR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21208"/>
            <a:ext cx="8595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720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Git 협업은 Swimlane으로 “사람의 역할 + 저장소 상태 변화”를 함께 보여줍니다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12064" y="1005840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B778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B2-2에서 Issue·Branch·PR·Review·Merge를 실제 협업 흐름으로 설명하는 기본형입니다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10168128" y="557784"/>
            <a:ext cx="1481328" cy="329184"/>
          </a:xfrm>
          <a:prstGeom prst="roundRect">
            <a:avLst>
              <a:gd name="adj" fmla="val 22222"/>
            </a:avLst>
          </a:prstGeom>
          <a:solidFill>
            <a:srgbClr val="0B2035"/>
          </a:solidFill>
          <a:ln w="12700">
            <a:solidFill>
              <a:srgbClr val="0B203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232136" y="630936"/>
            <a:ext cx="13533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GIT SWIMLANE</a:t>
            </a:r>
            <a:endParaRPr lang="en-US" sz="780" dirty="0"/>
          </a:p>
        </p:txBody>
      </p:sp>
      <p:sp>
        <p:nvSpPr>
          <p:cNvPr id="6" name="Shape 4"/>
          <p:cNvSpPr/>
          <p:nvPr/>
        </p:nvSpPr>
        <p:spPr>
          <a:xfrm>
            <a:off x="521208" y="1389888"/>
            <a:ext cx="1325880" cy="256032"/>
          </a:xfrm>
          <a:prstGeom prst="roundRect">
            <a:avLst>
              <a:gd name="adj" fmla="val 28571"/>
            </a:avLst>
          </a:prstGeom>
          <a:solidFill>
            <a:srgbClr val="2F80ED">
              <a:alpha val="12000"/>
            </a:srgbClr>
          </a:solidFill>
          <a:ln w="12700">
            <a:solidFill>
              <a:srgbClr val="2F80ED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57784" y="1444752"/>
            <a:ext cx="125272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9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10 COLLABORATION</a:t>
            </a:r>
            <a:endParaRPr lang="en-US" sz="690" dirty="0"/>
          </a:p>
        </p:txBody>
      </p:sp>
      <p:sp>
        <p:nvSpPr>
          <p:cNvPr id="8" name="Shape 6"/>
          <p:cNvSpPr/>
          <p:nvPr/>
        </p:nvSpPr>
        <p:spPr>
          <a:xfrm>
            <a:off x="658368" y="1828800"/>
            <a:ext cx="10881360" cy="841248"/>
          </a:xfrm>
          <a:prstGeom prst="roundRect">
            <a:avLst>
              <a:gd name="adj" fmla="val 5435"/>
            </a:avLst>
          </a:prstGeom>
          <a:solidFill>
            <a:srgbClr val="EAF3FF"/>
          </a:solidFill>
          <a:ln w="12700">
            <a:solidFill>
              <a:srgbClr val="EAF3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41248" y="2112264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F80E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Developer A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658368" y="2907792"/>
            <a:ext cx="10881360" cy="841248"/>
          </a:xfrm>
          <a:prstGeom prst="roundRect">
            <a:avLst>
              <a:gd name="adj" fmla="val 5435"/>
            </a:avLst>
          </a:prstGeom>
          <a:solidFill>
            <a:srgbClr val="E8F8F5"/>
          </a:solidFill>
          <a:ln w="12700">
            <a:solidFill>
              <a:srgbClr val="E8F8F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1248" y="3191256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BA99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Developer B / Reviewer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658368" y="3986784"/>
            <a:ext cx="10881360" cy="841248"/>
          </a:xfrm>
          <a:prstGeom prst="roundRect">
            <a:avLst>
              <a:gd name="adj" fmla="val 5435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1248" y="4270248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2314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GitHub / main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2331720" y="4133088"/>
            <a:ext cx="960120" cy="50292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0160">
            <a:solidFill>
              <a:srgbClr val="12314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459736" y="4270248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12314E"/>
          </a:solidFill>
          <a:ln w="12700">
            <a:solidFill>
              <a:srgbClr val="12314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459736" y="4315968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•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017520" y="4251960"/>
            <a:ext cx="155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720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Issue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675888" y="1947672"/>
            <a:ext cx="960120" cy="50292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0160">
            <a:solidFill>
              <a:srgbClr val="2F80E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803904" y="2084832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803904" y="2130552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•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61688" y="2066544"/>
            <a:ext cx="155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720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Branch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892040" y="1947672"/>
            <a:ext cx="960120" cy="50292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0160">
            <a:solidFill>
              <a:srgbClr val="2F80E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020056" y="2084832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0056" y="2130552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•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577840" y="2066544"/>
            <a:ext cx="155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720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Commit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108192" y="4133088"/>
            <a:ext cx="960120" cy="50292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0160">
            <a:solidFill>
              <a:srgbClr val="12314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236208" y="4270248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12314E"/>
          </a:solidFill>
          <a:ln w="12700">
            <a:solidFill>
              <a:srgbClr val="12314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36208" y="4315968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•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793992" y="4251960"/>
            <a:ext cx="155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720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PR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7315200" y="3026664"/>
            <a:ext cx="960120" cy="50292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0160">
            <a:solidFill>
              <a:srgbClr val="1BA99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443216" y="316382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1BA99A"/>
          </a:solidFill>
          <a:ln w="12700">
            <a:solidFill>
              <a:srgbClr val="1BA99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443216" y="3209544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•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8001000" y="3145536"/>
            <a:ext cx="155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720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Review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8540496" y="1947672"/>
            <a:ext cx="960120" cy="50292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0160">
            <a:solidFill>
              <a:srgbClr val="2F80ED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668512" y="2084832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668512" y="2130552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•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9226296" y="2066544"/>
            <a:ext cx="155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720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Fix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9765792" y="4133088"/>
            <a:ext cx="960120" cy="50292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0160">
            <a:solidFill>
              <a:srgbClr val="2FA66A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9893808" y="4270248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A66A"/>
          </a:solidFill>
          <a:ln w="12700">
            <a:solidFill>
              <a:srgbClr val="2FA66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893808" y="4315968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•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10451592" y="4251960"/>
            <a:ext cx="155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720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Merge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3291840" y="4370832"/>
            <a:ext cx="530352" cy="-1947672"/>
          </a:xfrm>
          <a:prstGeom prst="line">
            <a:avLst/>
          </a:prstGeom>
          <a:noFill/>
          <a:ln w="20320">
            <a:solidFill>
              <a:srgbClr val="12314E"/>
            </a:solidFill>
            <a:prstDash val="solid"/>
            <a:headEnd type="none"/>
            <a:tailEnd type="triangle"/>
          </a:ln>
        </p:spPr>
      </p:sp>
      <p:sp>
        <p:nvSpPr>
          <p:cNvPr id="43" name="Shape 41"/>
          <p:cNvSpPr/>
          <p:nvPr/>
        </p:nvSpPr>
        <p:spPr>
          <a:xfrm>
            <a:off x="4636008" y="2194560"/>
            <a:ext cx="256032" cy="0"/>
          </a:xfrm>
          <a:prstGeom prst="line">
            <a:avLst/>
          </a:prstGeom>
          <a:noFill/>
          <a:ln w="20320">
            <a:solidFill>
              <a:srgbClr val="2F80ED"/>
            </a:solidFill>
            <a:prstDash val="solid"/>
            <a:headEnd type="none"/>
            <a:tailEnd type="triangle"/>
          </a:ln>
        </p:spPr>
      </p:sp>
      <p:sp>
        <p:nvSpPr>
          <p:cNvPr id="44" name="Shape 42"/>
          <p:cNvSpPr/>
          <p:nvPr/>
        </p:nvSpPr>
        <p:spPr>
          <a:xfrm>
            <a:off x="5852160" y="2194560"/>
            <a:ext cx="384048" cy="1938528"/>
          </a:xfrm>
          <a:prstGeom prst="line">
            <a:avLst/>
          </a:prstGeom>
          <a:noFill/>
          <a:ln w="20320">
            <a:solidFill>
              <a:srgbClr val="2F80ED"/>
            </a:solidFill>
            <a:prstDash val="solid"/>
            <a:headEnd type="none"/>
            <a:tailEnd type="triangle"/>
          </a:ln>
        </p:spPr>
      </p:sp>
      <p:sp>
        <p:nvSpPr>
          <p:cNvPr id="45" name="Shape 43"/>
          <p:cNvSpPr/>
          <p:nvPr/>
        </p:nvSpPr>
        <p:spPr>
          <a:xfrm>
            <a:off x="7068312" y="4370832"/>
            <a:ext cx="356616" cy="-1097280"/>
          </a:xfrm>
          <a:prstGeom prst="line">
            <a:avLst/>
          </a:prstGeom>
          <a:noFill/>
          <a:ln w="20320">
            <a:solidFill>
              <a:srgbClr val="12314E"/>
            </a:solidFill>
            <a:prstDash val="solid"/>
            <a:headEnd type="none"/>
            <a:tailEnd type="triangle"/>
          </a:ln>
        </p:spPr>
      </p:sp>
      <p:sp>
        <p:nvSpPr>
          <p:cNvPr id="46" name="Shape 44"/>
          <p:cNvSpPr/>
          <p:nvPr/>
        </p:nvSpPr>
        <p:spPr>
          <a:xfrm>
            <a:off x="8275320" y="3273552"/>
            <a:ext cx="265176" cy="-1078992"/>
          </a:xfrm>
          <a:prstGeom prst="line">
            <a:avLst/>
          </a:prstGeom>
          <a:noFill/>
          <a:ln w="20320">
            <a:solidFill>
              <a:srgbClr val="1BA99A"/>
            </a:solidFill>
            <a:prstDash val="solid"/>
            <a:headEnd type="none"/>
            <a:tailEnd type="triangle"/>
          </a:ln>
        </p:spPr>
      </p:sp>
      <p:sp>
        <p:nvSpPr>
          <p:cNvPr id="47" name="Shape 45"/>
          <p:cNvSpPr/>
          <p:nvPr/>
        </p:nvSpPr>
        <p:spPr>
          <a:xfrm>
            <a:off x="9500616" y="2194560"/>
            <a:ext cx="356616" cy="1938528"/>
          </a:xfrm>
          <a:prstGeom prst="line">
            <a:avLst/>
          </a:prstGeom>
          <a:noFill/>
          <a:ln w="20320">
            <a:solidFill>
              <a:srgbClr val="2F80ED"/>
            </a:solidFill>
            <a:prstDash val="solid"/>
            <a:headEnd type="none"/>
            <a:tailEnd type="triangle"/>
          </a:ln>
        </p:spPr>
      </p:sp>
      <p:sp>
        <p:nvSpPr>
          <p:cNvPr id="48" name="Shape 46"/>
          <p:cNvSpPr/>
          <p:nvPr/>
        </p:nvSpPr>
        <p:spPr>
          <a:xfrm>
            <a:off x="7040880" y="5120640"/>
            <a:ext cx="1417320" cy="256032"/>
          </a:xfrm>
          <a:prstGeom prst="roundRect">
            <a:avLst>
              <a:gd name="adj" fmla="val 21429"/>
            </a:avLst>
          </a:prstGeom>
          <a:solidFill>
            <a:srgbClr val="E8F8F5"/>
          </a:solidFill>
          <a:ln w="6350">
            <a:solidFill>
              <a:srgbClr val="D7DEE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077456" y="5175504"/>
            <a:ext cx="13441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1BA99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Feedback ≥ 1</a:t>
            </a:r>
            <a:endParaRPr lang="en-US" sz="680" dirty="0"/>
          </a:p>
        </p:txBody>
      </p:sp>
      <p:sp>
        <p:nvSpPr>
          <p:cNvPr id="50" name="Shape 48"/>
          <p:cNvSpPr/>
          <p:nvPr/>
        </p:nvSpPr>
        <p:spPr>
          <a:xfrm>
            <a:off x="8732520" y="5120640"/>
            <a:ext cx="1600200" cy="256032"/>
          </a:xfrm>
          <a:prstGeom prst="roundRect">
            <a:avLst>
              <a:gd name="adj" fmla="val 21429"/>
            </a:avLst>
          </a:prstGeom>
          <a:solidFill>
            <a:srgbClr val="FDEDEC"/>
          </a:solidFill>
          <a:ln w="6350">
            <a:solidFill>
              <a:srgbClr val="D7DEE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769096" y="5175504"/>
            <a:ext cx="15270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5D5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Conflict / Rebase</a:t>
            </a:r>
            <a:endParaRPr lang="en-US" sz="680" dirty="0"/>
          </a:p>
        </p:txBody>
      </p:sp>
      <p:sp>
        <p:nvSpPr>
          <p:cNvPr id="52" name="Shape 50"/>
          <p:cNvSpPr/>
          <p:nvPr/>
        </p:nvSpPr>
        <p:spPr>
          <a:xfrm>
            <a:off x="530352" y="6007608"/>
            <a:ext cx="11119104" cy="347472"/>
          </a:xfrm>
          <a:prstGeom prst="roundRect">
            <a:avLst>
              <a:gd name="adj" fmla="val 15789"/>
            </a:avLst>
          </a:prstGeom>
          <a:solidFill>
            <a:srgbClr val="E8F8F5"/>
          </a:solidFill>
          <a:ln w="12700">
            <a:solidFill>
              <a:srgbClr val="E8F8F5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76656" y="6108192"/>
            <a:ext cx="10835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1BA99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실제 발표에서는 각 노드 아래에 Issue/PR 번호와 Commit SHA를 작게 붙이면 “증빙 가능한 협업”으로 바뀝니다.</a:t>
            </a:r>
            <a:endParaRPr lang="en-US" sz="76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28816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A0AAB6"/>
                </a:solidFill>
                <a:latin typeface="Noto Sans CJK KR"/>
                <a:ea typeface="Noto Sans CJK KR"/>
                <a:cs typeface="Noto Sans CJK KR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21208"/>
            <a:ext cx="8595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720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문제 해결은 “증상 → 가설 → 검증 → 원인 → 조치 → 재발방지”로 닫습니다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12064" y="1005840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B778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B1·B6뿐 아니라 모든 미션의 평가 Q&amp;A에 사용할 수 있는 RCA(Root Cause Analysis) 템플릿입니다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10168128" y="557784"/>
            <a:ext cx="1481328" cy="329184"/>
          </a:xfrm>
          <a:prstGeom prst="roundRect">
            <a:avLst>
              <a:gd name="adj" fmla="val 22222"/>
            </a:avLst>
          </a:prstGeom>
          <a:solidFill>
            <a:srgbClr val="0B2035"/>
          </a:solidFill>
          <a:ln w="12700">
            <a:solidFill>
              <a:srgbClr val="0B203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232136" y="630936"/>
            <a:ext cx="13533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TROUBLESHOOTING</a:t>
            </a:r>
            <a:endParaRPr lang="en-US" sz="780" dirty="0"/>
          </a:p>
        </p:txBody>
      </p:sp>
      <p:sp>
        <p:nvSpPr>
          <p:cNvPr id="6" name="Shape 4"/>
          <p:cNvSpPr/>
          <p:nvPr/>
        </p:nvSpPr>
        <p:spPr>
          <a:xfrm>
            <a:off x="521208" y="1389888"/>
            <a:ext cx="1325880" cy="256032"/>
          </a:xfrm>
          <a:prstGeom prst="roundRect">
            <a:avLst>
              <a:gd name="adj" fmla="val 28571"/>
            </a:avLst>
          </a:prstGeom>
          <a:solidFill>
            <a:srgbClr val="2F80ED">
              <a:alpha val="12000"/>
            </a:srgbClr>
          </a:solidFill>
          <a:ln w="12700">
            <a:solidFill>
              <a:srgbClr val="2F80ED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57784" y="1444752"/>
            <a:ext cx="125272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9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11 RCA</a:t>
            </a:r>
            <a:endParaRPr lang="en-US" sz="690" dirty="0"/>
          </a:p>
        </p:txBody>
      </p:sp>
      <p:sp>
        <p:nvSpPr>
          <p:cNvPr id="8" name="Shape 6"/>
          <p:cNvSpPr/>
          <p:nvPr/>
        </p:nvSpPr>
        <p:spPr>
          <a:xfrm>
            <a:off x="621792" y="2249424"/>
            <a:ext cx="1572768" cy="2011680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0160">
            <a:solidFill>
              <a:srgbClr val="D95D58"/>
            </a:solidFill>
            <a:prstDash val="solid"/>
          </a:ln>
          <a:effectLst>
            <a:outerShdw sx="100000" sy="100000" kx="0" ky="0" algn="bl" rotWithShape="0" blurRad="15240" dist="8890" dir="27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77240" y="2450592"/>
            <a:ext cx="914400" cy="256032"/>
          </a:xfrm>
          <a:prstGeom prst="roundRect">
            <a:avLst>
              <a:gd name="adj" fmla="val 28571"/>
            </a:avLst>
          </a:prstGeom>
          <a:solidFill>
            <a:srgbClr val="D95D58">
              <a:alpha val="12000"/>
            </a:srgbClr>
          </a:solidFill>
          <a:ln w="12700">
            <a:solidFill>
              <a:srgbClr val="D95D58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13816" y="2505456"/>
            <a:ext cx="84124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9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SYMPTOM</a:t>
            </a:r>
            <a:endParaRPr lang="en-US" sz="690" dirty="0"/>
          </a:p>
        </p:txBody>
      </p:sp>
      <p:sp>
        <p:nvSpPr>
          <p:cNvPr id="11" name="Text 9"/>
          <p:cNvSpPr/>
          <p:nvPr/>
        </p:nvSpPr>
        <p:spPr>
          <a:xfrm>
            <a:off x="786384" y="2962656"/>
            <a:ext cx="124358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720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외부 접속 실패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86384" y="3630168"/>
            <a:ext cx="12435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endParaRPr lang="en-US" sz="690" dirty="0"/>
          </a:p>
        </p:txBody>
      </p:sp>
      <p:sp>
        <p:nvSpPr>
          <p:cNvPr id="13" name="Shape 11"/>
          <p:cNvSpPr/>
          <p:nvPr/>
        </p:nvSpPr>
        <p:spPr>
          <a:xfrm>
            <a:off x="2194560" y="3255264"/>
            <a:ext cx="310896" cy="0"/>
          </a:xfrm>
          <a:prstGeom prst="line">
            <a:avLst/>
          </a:prstGeom>
          <a:noFill/>
          <a:ln w="22860">
            <a:solidFill>
              <a:srgbClr val="D95D58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2505456" y="2249424"/>
            <a:ext cx="1572768" cy="2011680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0160">
            <a:solidFill>
              <a:srgbClr val="F3A61D"/>
            </a:solidFill>
            <a:prstDash val="solid"/>
          </a:ln>
          <a:effectLst>
            <a:outerShdw sx="100000" sy="100000" kx="0" ky="0" algn="bl" rotWithShape="0" blurRad="15240" dist="8890" dir="27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660904" y="2450592"/>
            <a:ext cx="914400" cy="256032"/>
          </a:xfrm>
          <a:prstGeom prst="roundRect">
            <a:avLst>
              <a:gd name="adj" fmla="val 28571"/>
            </a:avLst>
          </a:prstGeom>
          <a:solidFill>
            <a:srgbClr val="F3A61D">
              <a:alpha val="12000"/>
            </a:srgbClr>
          </a:solidFill>
          <a:ln w="12700">
            <a:solidFill>
              <a:srgbClr val="F3A61D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697480" y="2505456"/>
            <a:ext cx="84124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9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HYPOTHESIS</a:t>
            </a:r>
            <a:endParaRPr lang="en-US" sz="690" dirty="0"/>
          </a:p>
        </p:txBody>
      </p:sp>
      <p:sp>
        <p:nvSpPr>
          <p:cNvPr id="17" name="Text 15"/>
          <p:cNvSpPr/>
          <p:nvPr/>
        </p:nvSpPr>
        <p:spPr>
          <a:xfrm>
            <a:off x="2670048" y="2962656"/>
            <a:ext cx="124358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720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SG / Route / Service?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670048" y="3630168"/>
            <a:ext cx="12435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endParaRPr lang="en-US" sz="690" dirty="0"/>
          </a:p>
        </p:txBody>
      </p:sp>
      <p:sp>
        <p:nvSpPr>
          <p:cNvPr id="19" name="Shape 17"/>
          <p:cNvSpPr/>
          <p:nvPr/>
        </p:nvSpPr>
        <p:spPr>
          <a:xfrm>
            <a:off x="4078224" y="3255264"/>
            <a:ext cx="310896" cy="0"/>
          </a:xfrm>
          <a:prstGeom prst="line">
            <a:avLst/>
          </a:prstGeom>
          <a:noFill/>
          <a:ln w="22860">
            <a:solidFill>
              <a:srgbClr val="F3A61D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4389120" y="2249424"/>
            <a:ext cx="1572768" cy="2011680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0160">
            <a:solidFill>
              <a:srgbClr val="2F80ED"/>
            </a:solidFill>
            <a:prstDash val="solid"/>
          </a:ln>
          <a:effectLst>
            <a:outerShdw sx="100000" sy="100000" kx="0" ky="0" algn="bl" rotWithShape="0" blurRad="15240" dist="8890" dir="27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44568" y="2450592"/>
            <a:ext cx="914400" cy="256032"/>
          </a:xfrm>
          <a:prstGeom prst="roundRect">
            <a:avLst>
              <a:gd name="adj" fmla="val 28571"/>
            </a:avLst>
          </a:prstGeom>
          <a:solidFill>
            <a:srgbClr val="2F80ED">
              <a:alpha val="12000"/>
            </a:srgbClr>
          </a:solidFill>
          <a:ln w="12700">
            <a:solidFill>
              <a:srgbClr val="2F80ED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81144" y="2505456"/>
            <a:ext cx="84124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9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VERIFY</a:t>
            </a:r>
            <a:endParaRPr lang="en-US" sz="690" dirty="0"/>
          </a:p>
        </p:txBody>
      </p:sp>
      <p:sp>
        <p:nvSpPr>
          <p:cNvPr id="23" name="Text 21"/>
          <p:cNvSpPr/>
          <p:nvPr/>
        </p:nvSpPr>
        <p:spPr>
          <a:xfrm>
            <a:off x="4553712" y="2962656"/>
            <a:ext cx="124358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720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curl · ss · logs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553712" y="3630168"/>
            <a:ext cx="12435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90" dirty="0">
                <a:solidFill>
                  <a:srgbClr val="6B778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관찰 가능한 명령/로그로</a:t>
            </a:r>
            <a:endParaRPr lang="en-US" sz="690" dirty="0"/>
          </a:p>
          <a:p>
            <a:pPr algn="ctr" indent="0" marL="0">
              <a:buNone/>
            </a:pPr>
            <a:r>
              <a:rPr lang="en-US" sz="690" dirty="0">
                <a:solidFill>
                  <a:srgbClr val="6B778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가설을 좁힙니다.</a:t>
            </a:r>
            <a:endParaRPr lang="en-US" sz="690" dirty="0"/>
          </a:p>
        </p:txBody>
      </p:sp>
      <p:sp>
        <p:nvSpPr>
          <p:cNvPr id="25" name="Shape 23"/>
          <p:cNvSpPr/>
          <p:nvPr/>
        </p:nvSpPr>
        <p:spPr>
          <a:xfrm>
            <a:off x="5961888" y="3255264"/>
            <a:ext cx="310896" cy="0"/>
          </a:xfrm>
          <a:prstGeom prst="line">
            <a:avLst/>
          </a:prstGeom>
          <a:noFill/>
          <a:ln w="22860">
            <a:solidFill>
              <a:srgbClr val="2F80ED"/>
            </a:solidFill>
            <a:prstDash val="solid"/>
            <a:headEnd type="none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6272784" y="2249424"/>
            <a:ext cx="1572768" cy="2011680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0160">
            <a:solidFill>
              <a:srgbClr val="7B61FF"/>
            </a:solidFill>
            <a:prstDash val="solid"/>
          </a:ln>
          <a:effectLst>
            <a:outerShdw sx="100000" sy="100000" kx="0" ky="0" algn="bl" rotWithShape="0" blurRad="15240" dist="8890" dir="27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428232" y="2450592"/>
            <a:ext cx="914400" cy="256032"/>
          </a:xfrm>
          <a:prstGeom prst="roundRect">
            <a:avLst>
              <a:gd name="adj" fmla="val 28571"/>
            </a:avLst>
          </a:prstGeom>
          <a:solidFill>
            <a:srgbClr val="7B61FF">
              <a:alpha val="12000"/>
            </a:srgbClr>
          </a:solidFill>
          <a:ln w="12700">
            <a:solidFill>
              <a:srgbClr val="7B61FF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64808" y="2505456"/>
            <a:ext cx="84124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9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ROOT CAUSE</a:t>
            </a:r>
            <a:endParaRPr lang="en-US" sz="690" dirty="0"/>
          </a:p>
        </p:txBody>
      </p:sp>
      <p:sp>
        <p:nvSpPr>
          <p:cNvPr id="29" name="Text 27"/>
          <p:cNvSpPr/>
          <p:nvPr/>
        </p:nvSpPr>
        <p:spPr>
          <a:xfrm>
            <a:off x="6437376" y="2962656"/>
            <a:ext cx="124358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720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80/tcp rule 누락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437376" y="3630168"/>
            <a:ext cx="12435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endParaRPr lang="en-US" sz="690" dirty="0"/>
          </a:p>
        </p:txBody>
      </p:sp>
      <p:sp>
        <p:nvSpPr>
          <p:cNvPr id="31" name="Shape 29"/>
          <p:cNvSpPr/>
          <p:nvPr/>
        </p:nvSpPr>
        <p:spPr>
          <a:xfrm>
            <a:off x="7845552" y="3255264"/>
            <a:ext cx="310896" cy="0"/>
          </a:xfrm>
          <a:prstGeom prst="line">
            <a:avLst/>
          </a:prstGeom>
          <a:noFill/>
          <a:ln w="22860">
            <a:solidFill>
              <a:srgbClr val="7B61FF"/>
            </a:solidFill>
            <a:prstDash val="solid"/>
            <a:headEnd type="none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8156448" y="2249424"/>
            <a:ext cx="1572768" cy="2011680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0160">
            <a:solidFill>
              <a:srgbClr val="1BA99A"/>
            </a:solidFill>
            <a:prstDash val="solid"/>
          </a:ln>
          <a:effectLst>
            <a:outerShdw sx="100000" sy="100000" kx="0" ky="0" algn="bl" rotWithShape="0" blurRad="15240" dist="8890" dir="270000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8311896" y="2450592"/>
            <a:ext cx="914400" cy="256032"/>
          </a:xfrm>
          <a:prstGeom prst="roundRect">
            <a:avLst>
              <a:gd name="adj" fmla="val 28571"/>
            </a:avLst>
          </a:prstGeom>
          <a:solidFill>
            <a:srgbClr val="1BA99A">
              <a:alpha val="12000"/>
            </a:srgbClr>
          </a:solidFill>
          <a:ln w="12700">
            <a:solidFill>
              <a:srgbClr val="1BA99A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348472" y="2505456"/>
            <a:ext cx="84124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9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ACTION</a:t>
            </a:r>
            <a:endParaRPr lang="en-US" sz="690" dirty="0"/>
          </a:p>
        </p:txBody>
      </p:sp>
      <p:sp>
        <p:nvSpPr>
          <p:cNvPr id="35" name="Text 33"/>
          <p:cNvSpPr/>
          <p:nvPr/>
        </p:nvSpPr>
        <p:spPr>
          <a:xfrm>
            <a:off x="8321040" y="2962656"/>
            <a:ext cx="124358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720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SG rule 수정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8321040" y="3630168"/>
            <a:ext cx="12435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endParaRPr lang="en-US" sz="690" dirty="0"/>
          </a:p>
        </p:txBody>
      </p:sp>
      <p:sp>
        <p:nvSpPr>
          <p:cNvPr id="37" name="Shape 35"/>
          <p:cNvSpPr/>
          <p:nvPr/>
        </p:nvSpPr>
        <p:spPr>
          <a:xfrm>
            <a:off x="9729216" y="3255264"/>
            <a:ext cx="310896" cy="0"/>
          </a:xfrm>
          <a:prstGeom prst="line">
            <a:avLst/>
          </a:prstGeom>
          <a:noFill/>
          <a:ln w="22860">
            <a:solidFill>
              <a:srgbClr val="1BA99A"/>
            </a:solidFill>
            <a:prstDash val="solid"/>
            <a:headEnd type="none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10040112" y="2249424"/>
            <a:ext cx="1572768" cy="2011680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0160">
            <a:solidFill>
              <a:srgbClr val="2FA66A"/>
            </a:solidFill>
            <a:prstDash val="solid"/>
          </a:ln>
          <a:effectLst>
            <a:outerShdw sx="100000" sy="100000" kx="0" ky="0" algn="bl" rotWithShape="0" blurRad="15240" dist="8890" dir="2700000">
              <a:srgbClr val="000000">
                <a:alpha val="1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10195560" y="2450592"/>
            <a:ext cx="914400" cy="256032"/>
          </a:xfrm>
          <a:prstGeom prst="roundRect">
            <a:avLst>
              <a:gd name="adj" fmla="val 28571"/>
            </a:avLst>
          </a:prstGeom>
          <a:solidFill>
            <a:srgbClr val="2FA66A">
              <a:alpha val="12000"/>
            </a:srgbClr>
          </a:solidFill>
          <a:ln w="12700">
            <a:solidFill>
              <a:srgbClr val="2FA66A">
                <a:alpha val="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0232136" y="2505456"/>
            <a:ext cx="84124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9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PREVENT</a:t>
            </a:r>
            <a:endParaRPr lang="en-US" sz="690" dirty="0"/>
          </a:p>
        </p:txBody>
      </p:sp>
      <p:sp>
        <p:nvSpPr>
          <p:cNvPr id="41" name="Text 39"/>
          <p:cNvSpPr/>
          <p:nvPr/>
        </p:nvSpPr>
        <p:spPr>
          <a:xfrm>
            <a:off x="10204704" y="2962656"/>
            <a:ext cx="124358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720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checklist / test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10204704" y="3630168"/>
            <a:ext cx="12435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90" dirty="0">
                <a:solidFill>
                  <a:srgbClr val="6B778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자동화/문서화로</a:t>
            </a:r>
            <a:endParaRPr lang="en-US" sz="690" dirty="0"/>
          </a:p>
          <a:p>
            <a:pPr algn="ctr" indent="0" marL="0">
              <a:buNone/>
            </a:pPr>
            <a:r>
              <a:rPr lang="en-US" sz="690" dirty="0">
                <a:solidFill>
                  <a:srgbClr val="6B778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같은 오류를 막습니다.</a:t>
            </a:r>
            <a:endParaRPr lang="en-US" sz="690" dirty="0"/>
          </a:p>
        </p:txBody>
      </p:sp>
      <p:sp>
        <p:nvSpPr>
          <p:cNvPr id="43" name="Shape 41"/>
          <p:cNvSpPr/>
          <p:nvPr/>
        </p:nvSpPr>
        <p:spPr>
          <a:xfrm>
            <a:off x="1188720" y="4800600"/>
            <a:ext cx="9738360" cy="658368"/>
          </a:xfrm>
          <a:prstGeom prst="roundRect">
            <a:avLst>
              <a:gd name="adj" fmla="val 13889"/>
            </a:avLst>
          </a:prstGeom>
          <a:solidFill>
            <a:srgbClr val="0B2035"/>
          </a:solidFill>
          <a:ln w="10160">
            <a:solidFill>
              <a:srgbClr val="0B2035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417320" y="5020056"/>
            <a:ext cx="9281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Evidence = 명령 + 실제 출력 + 시각 + Repository / Branch / Commit</a:t>
            </a:r>
            <a:endParaRPr lang="en-US" sz="880" dirty="0"/>
          </a:p>
        </p:txBody>
      </p:sp>
      <p:sp>
        <p:nvSpPr>
          <p:cNvPr id="45" name="Shape 43"/>
          <p:cNvSpPr/>
          <p:nvPr/>
        </p:nvSpPr>
        <p:spPr>
          <a:xfrm>
            <a:off x="530352" y="6007608"/>
            <a:ext cx="11119104" cy="347472"/>
          </a:xfrm>
          <a:prstGeom prst="roundRect">
            <a:avLst>
              <a:gd name="adj" fmla="val 15789"/>
            </a:avLst>
          </a:prstGeom>
          <a:solidFill>
            <a:srgbClr val="FDEDEC"/>
          </a:solidFill>
          <a:ln w="12700">
            <a:solidFill>
              <a:srgbClr val="FDEDE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76656" y="6108192"/>
            <a:ext cx="10835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D95D5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가장 흔한 감점 포인트: “고쳤다”만 말하고, 어떤 근거로 원인을 확정했는지 보여주지 않는 것.</a:t>
            </a:r>
            <a:endParaRPr lang="en-US" sz="76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28816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A0AAB6"/>
                </a:solidFill>
                <a:latin typeface="Noto Sans CJK KR"/>
                <a:ea typeface="Noto Sans CJK KR"/>
                <a:cs typeface="Noto Sans CJK KR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21208"/>
            <a:ext cx="8595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720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보안 다이어그램은 “신뢰 경계(Trust Boundary)”를 먼저 그린 뒤 통신을 배치합니다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12064" y="1005840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B778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인증(Authentication)과 인가(Authorization), Secret, IAM, 네트워크 정책을 한 프레임에 정리합니다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10168128" y="557784"/>
            <a:ext cx="1481328" cy="329184"/>
          </a:xfrm>
          <a:prstGeom prst="roundRect">
            <a:avLst>
              <a:gd name="adj" fmla="val 22222"/>
            </a:avLst>
          </a:prstGeom>
          <a:solidFill>
            <a:srgbClr val="0B2035"/>
          </a:solidFill>
          <a:ln w="12700">
            <a:solidFill>
              <a:srgbClr val="0B203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232136" y="630936"/>
            <a:ext cx="13533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SECURITY</a:t>
            </a:r>
            <a:endParaRPr lang="en-US" sz="780" dirty="0"/>
          </a:p>
        </p:txBody>
      </p:sp>
      <p:sp>
        <p:nvSpPr>
          <p:cNvPr id="6" name="Shape 4"/>
          <p:cNvSpPr/>
          <p:nvPr/>
        </p:nvSpPr>
        <p:spPr>
          <a:xfrm>
            <a:off x="521208" y="1389888"/>
            <a:ext cx="1325880" cy="256032"/>
          </a:xfrm>
          <a:prstGeom prst="roundRect">
            <a:avLst>
              <a:gd name="adj" fmla="val 28571"/>
            </a:avLst>
          </a:prstGeom>
          <a:solidFill>
            <a:srgbClr val="2F80ED">
              <a:alpha val="12000"/>
            </a:srgbClr>
          </a:solidFill>
          <a:ln w="12700">
            <a:solidFill>
              <a:srgbClr val="2F80ED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57784" y="1444752"/>
            <a:ext cx="125272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9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12 SECURITY</a:t>
            </a:r>
            <a:endParaRPr lang="en-US" sz="690" dirty="0"/>
          </a:p>
        </p:txBody>
      </p:sp>
      <p:sp>
        <p:nvSpPr>
          <p:cNvPr id="8" name="Shape 6"/>
          <p:cNvSpPr/>
          <p:nvPr/>
        </p:nvSpPr>
        <p:spPr>
          <a:xfrm>
            <a:off x="731520" y="1828800"/>
            <a:ext cx="2743200" cy="3337560"/>
          </a:xfrm>
          <a:prstGeom prst="roundRect">
            <a:avLst>
              <a:gd name="adj" fmla="val 4000"/>
            </a:avLst>
          </a:prstGeom>
          <a:solidFill>
            <a:srgbClr val="EAF3FF"/>
          </a:solidFill>
          <a:ln w="13970">
            <a:solidFill>
              <a:srgbClr val="A9CCF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60120" y="1993392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2F80ED">
              <a:alpha val="12000"/>
            </a:srgbClr>
          </a:solidFill>
          <a:ln w="12700">
            <a:solidFill>
              <a:srgbClr val="2F80ED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96696" y="2048256"/>
            <a:ext cx="106984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9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UNTRUSTED</a:t>
            </a:r>
            <a:endParaRPr lang="en-US" sz="690" dirty="0"/>
          </a:p>
        </p:txBody>
      </p:sp>
      <p:sp>
        <p:nvSpPr>
          <p:cNvPr id="11" name="Shape 9"/>
          <p:cNvSpPr/>
          <p:nvPr/>
        </p:nvSpPr>
        <p:spPr>
          <a:xfrm>
            <a:off x="1143000" y="2743200"/>
            <a:ext cx="1920240" cy="786384"/>
          </a:xfrm>
          <a:prstGeom prst="roundRect">
            <a:avLst>
              <a:gd name="adj" fmla="val 11628"/>
            </a:avLst>
          </a:prstGeom>
          <a:solidFill>
            <a:srgbClr val="FFFFFF"/>
          </a:solidFill>
          <a:ln w="10160">
            <a:solidFill>
              <a:srgbClr val="2F80E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271016" y="2880360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71016" y="2926080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U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828800" y="2862072"/>
            <a:ext cx="1115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720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Browser / User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828800" y="3090672"/>
            <a:ext cx="1115568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6B778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No server secret</a:t>
            </a:r>
            <a:endParaRPr lang="en-US" sz="740" dirty="0"/>
          </a:p>
        </p:txBody>
      </p:sp>
      <p:sp>
        <p:nvSpPr>
          <p:cNvPr id="16" name="Shape 14"/>
          <p:cNvSpPr/>
          <p:nvPr/>
        </p:nvSpPr>
        <p:spPr>
          <a:xfrm>
            <a:off x="3886200" y="1828800"/>
            <a:ext cx="4663440" cy="3337560"/>
          </a:xfrm>
          <a:prstGeom prst="roundRect">
            <a:avLst>
              <a:gd name="adj" fmla="val 3288"/>
            </a:avLst>
          </a:prstGeom>
          <a:solidFill>
            <a:srgbClr val="F6F9FC"/>
          </a:solidFill>
          <a:ln w="20320">
            <a:solidFill>
              <a:srgbClr val="12314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114800" y="1993392"/>
            <a:ext cx="1024128" cy="256032"/>
          </a:xfrm>
          <a:prstGeom prst="roundRect">
            <a:avLst>
              <a:gd name="adj" fmla="val 28571"/>
            </a:avLst>
          </a:prstGeom>
          <a:solidFill>
            <a:srgbClr val="12314E">
              <a:alpha val="12000"/>
            </a:srgbClr>
          </a:solidFill>
          <a:ln w="12700">
            <a:solidFill>
              <a:srgbClr val="12314E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51376" y="2048256"/>
            <a:ext cx="95097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9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TRUSTED</a:t>
            </a:r>
            <a:endParaRPr lang="en-US" sz="690" dirty="0"/>
          </a:p>
        </p:txBody>
      </p:sp>
      <p:sp>
        <p:nvSpPr>
          <p:cNvPr id="19" name="Shape 17"/>
          <p:cNvSpPr/>
          <p:nvPr/>
        </p:nvSpPr>
        <p:spPr>
          <a:xfrm>
            <a:off x="4297680" y="2743200"/>
            <a:ext cx="1600200" cy="786384"/>
          </a:xfrm>
          <a:prstGeom prst="roundRect">
            <a:avLst>
              <a:gd name="adj" fmla="val 11628"/>
            </a:avLst>
          </a:prstGeom>
          <a:solidFill>
            <a:srgbClr val="FFFFFF"/>
          </a:solidFill>
          <a:ln w="10160">
            <a:solidFill>
              <a:srgbClr val="12314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425696" y="2880360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12314E"/>
          </a:solidFill>
          <a:ln w="12700">
            <a:solidFill>
              <a:srgbClr val="12314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425696" y="2926080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API</a:t>
            </a:r>
            <a:endParaRPr lang="en-US" sz="860" dirty="0"/>
          </a:p>
        </p:txBody>
      </p:sp>
      <p:sp>
        <p:nvSpPr>
          <p:cNvPr id="22" name="Text 20"/>
          <p:cNvSpPr/>
          <p:nvPr/>
        </p:nvSpPr>
        <p:spPr>
          <a:xfrm>
            <a:off x="4983480" y="2862072"/>
            <a:ext cx="7955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720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API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983480" y="3090672"/>
            <a:ext cx="795528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6B778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Auth check</a:t>
            </a:r>
            <a:endParaRPr lang="en-US" sz="740" dirty="0"/>
          </a:p>
        </p:txBody>
      </p:sp>
      <p:sp>
        <p:nvSpPr>
          <p:cNvPr id="24" name="Shape 22"/>
          <p:cNvSpPr/>
          <p:nvPr/>
        </p:nvSpPr>
        <p:spPr>
          <a:xfrm>
            <a:off x="6355080" y="2743200"/>
            <a:ext cx="1719072" cy="786384"/>
          </a:xfrm>
          <a:prstGeom prst="roundRect">
            <a:avLst>
              <a:gd name="adj" fmla="val 11628"/>
            </a:avLst>
          </a:prstGeom>
          <a:solidFill>
            <a:srgbClr val="FFFFFF"/>
          </a:solidFill>
          <a:ln w="10160">
            <a:solidFill>
              <a:srgbClr val="7B61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83096" y="2880360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83096" y="2926080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SVC</a:t>
            </a:r>
            <a:endParaRPr lang="en-US" sz="860" dirty="0"/>
          </a:p>
        </p:txBody>
      </p:sp>
      <p:sp>
        <p:nvSpPr>
          <p:cNvPr id="27" name="Text 25"/>
          <p:cNvSpPr/>
          <p:nvPr/>
        </p:nvSpPr>
        <p:spPr>
          <a:xfrm>
            <a:off x="7040880" y="286207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720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Service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7040880" y="3090672"/>
            <a:ext cx="91440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6B778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Policy / owner</a:t>
            </a:r>
            <a:endParaRPr lang="en-US" sz="740" dirty="0"/>
          </a:p>
        </p:txBody>
      </p:sp>
      <p:sp>
        <p:nvSpPr>
          <p:cNvPr id="29" name="Shape 27"/>
          <p:cNvSpPr/>
          <p:nvPr/>
        </p:nvSpPr>
        <p:spPr>
          <a:xfrm>
            <a:off x="5285232" y="3977640"/>
            <a:ext cx="1755648" cy="786384"/>
          </a:xfrm>
          <a:prstGeom prst="roundRect">
            <a:avLst>
              <a:gd name="adj" fmla="val 11628"/>
            </a:avLst>
          </a:prstGeom>
          <a:solidFill>
            <a:srgbClr val="FFFFFF"/>
          </a:solidFill>
          <a:ln w="10160">
            <a:solidFill>
              <a:srgbClr val="D95D5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413248" y="4114800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D95D58"/>
          </a:solidFill>
          <a:ln w="12700">
            <a:solidFill>
              <a:srgbClr val="D95D5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13248" y="4160520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KEY</a:t>
            </a:r>
            <a:endParaRPr lang="en-US" sz="860" dirty="0"/>
          </a:p>
        </p:txBody>
      </p:sp>
      <p:sp>
        <p:nvSpPr>
          <p:cNvPr id="32" name="Text 30"/>
          <p:cNvSpPr/>
          <p:nvPr/>
        </p:nvSpPr>
        <p:spPr>
          <a:xfrm>
            <a:off x="5971032" y="4096512"/>
            <a:ext cx="9509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720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Secret Store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5971032" y="4325112"/>
            <a:ext cx="95097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6B778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Key / Token</a:t>
            </a:r>
            <a:endParaRPr lang="en-US" sz="740" dirty="0"/>
          </a:p>
        </p:txBody>
      </p:sp>
      <p:sp>
        <p:nvSpPr>
          <p:cNvPr id="34" name="Shape 32"/>
          <p:cNvSpPr/>
          <p:nvPr/>
        </p:nvSpPr>
        <p:spPr>
          <a:xfrm>
            <a:off x="8915400" y="1828800"/>
            <a:ext cx="2423160" cy="3337560"/>
          </a:xfrm>
          <a:prstGeom prst="roundRect">
            <a:avLst>
              <a:gd name="adj" fmla="val 4528"/>
            </a:avLst>
          </a:prstGeom>
          <a:solidFill>
            <a:srgbClr val="E8F8F5"/>
          </a:solidFill>
          <a:ln w="13970">
            <a:solidFill>
              <a:srgbClr val="1BA99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144000" y="1993392"/>
            <a:ext cx="960120" cy="256032"/>
          </a:xfrm>
          <a:prstGeom prst="roundRect">
            <a:avLst>
              <a:gd name="adj" fmla="val 28571"/>
            </a:avLst>
          </a:prstGeom>
          <a:solidFill>
            <a:srgbClr val="1BA99A">
              <a:alpha val="12000"/>
            </a:srgbClr>
          </a:solidFill>
          <a:ln w="12700">
            <a:solidFill>
              <a:srgbClr val="1BA99A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180576" y="2048256"/>
            <a:ext cx="88696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9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DATA ZONE</a:t>
            </a:r>
            <a:endParaRPr lang="en-US" sz="690" dirty="0"/>
          </a:p>
        </p:txBody>
      </p:sp>
      <p:sp>
        <p:nvSpPr>
          <p:cNvPr id="37" name="Shape 35"/>
          <p:cNvSpPr/>
          <p:nvPr/>
        </p:nvSpPr>
        <p:spPr>
          <a:xfrm>
            <a:off x="9217152" y="2743200"/>
            <a:ext cx="1828800" cy="786384"/>
          </a:xfrm>
          <a:prstGeom prst="roundRect">
            <a:avLst>
              <a:gd name="adj" fmla="val 11628"/>
            </a:avLst>
          </a:prstGeom>
          <a:solidFill>
            <a:srgbClr val="FFFFFF"/>
          </a:solidFill>
          <a:ln w="10160">
            <a:solidFill>
              <a:srgbClr val="1BA99A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9345168" y="2880360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1BA99A"/>
          </a:solidFill>
          <a:ln w="12700">
            <a:solidFill>
              <a:srgbClr val="1BA99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345168" y="2926080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DB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9902952" y="2862072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720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Database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9902952" y="3090672"/>
            <a:ext cx="1024128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6B778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Owner / FK</a:t>
            </a:r>
            <a:endParaRPr lang="en-US" sz="740" dirty="0"/>
          </a:p>
        </p:txBody>
      </p:sp>
      <p:sp>
        <p:nvSpPr>
          <p:cNvPr id="42" name="Shape 40"/>
          <p:cNvSpPr/>
          <p:nvPr/>
        </p:nvSpPr>
        <p:spPr>
          <a:xfrm>
            <a:off x="3063240" y="3136392"/>
            <a:ext cx="1234440" cy="0"/>
          </a:xfrm>
          <a:prstGeom prst="line">
            <a:avLst/>
          </a:prstGeom>
          <a:noFill/>
          <a:ln w="25400">
            <a:solidFill>
              <a:srgbClr val="2F80ED"/>
            </a:solidFill>
            <a:prstDash val="solid"/>
            <a:headEnd type="none"/>
            <a:tailEnd type="triangle"/>
          </a:ln>
        </p:spPr>
      </p:sp>
      <p:sp>
        <p:nvSpPr>
          <p:cNvPr id="43" name="Shape 41"/>
          <p:cNvSpPr/>
          <p:nvPr/>
        </p:nvSpPr>
        <p:spPr>
          <a:xfrm>
            <a:off x="3401568" y="2670048"/>
            <a:ext cx="868680" cy="256032"/>
          </a:xfrm>
          <a:prstGeom prst="roundRect">
            <a:avLst>
              <a:gd name="adj" fmla="val 21429"/>
            </a:avLst>
          </a:prstGeom>
          <a:solidFill>
            <a:srgbClr val="EAF3FF"/>
          </a:solidFill>
          <a:ln w="6350">
            <a:solidFill>
              <a:srgbClr val="D7DEE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438144" y="2724912"/>
            <a:ext cx="7955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0E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HTTPS</a:t>
            </a:r>
            <a:endParaRPr lang="en-US" sz="680" dirty="0"/>
          </a:p>
        </p:txBody>
      </p:sp>
      <p:sp>
        <p:nvSpPr>
          <p:cNvPr id="45" name="Shape 43"/>
          <p:cNvSpPr/>
          <p:nvPr/>
        </p:nvSpPr>
        <p:spPr>
          <a:xfrm>
            <a:off x="5897880" y="3136392"/>
            <a:ext cx="457200" cy="0"/>
          </a:xfrm>
          <a:prstGeom prst="line">
            <a:avLst/>
          </a:prstGeom>
          <a:noFill/>
          <a:ln w="22860">
            <a:solidFill>
              <a:srgbClr val="12314E"/>
            </a:solidFill>
            <a:prstDash val="solid"/>
            <a:headEnd type="none"/>
            <a:tailEnd type="triangle"/>
          </a:ln>
        </p:spPr>
      </p:sp>
      <p:sp>
        <p:nvSpPr>
          <p:cNvPr id="46" name="Shape 44"/>
          <p:cNvSpPr/>
          <p:nvPr/>
        </p:nvSpPr>
        <p:spPr>
          <a:xfrm>
            <a:off x="5907024" y="2670048"/>
            <a:ext cx="868680" cy="256032"/>
          </a:xfrm>
          <a:prstGeom prst="roundRect">
            <a:avLst>
              <a:gd name="adj" fmla="val 21429"/>
            </a:avLst>
          </a:prstGeom>
          <a:solidFill>
            <a:srgbClr val="F0EDFF"/>
          </a:solidFill>
          <a:ln w="6350">
            <a:solidFill>
              <a:srgbClr val="D7DEE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943600" y="2724912"/>
            <a:ext cx="7955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7B61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AuthZ</a:t>
            </a:r>
            <a:endParaRPr lang="en-US" sz="680" dirty="0"/>
          </a:p>
        </p:txBody>
      </p:sp>
      <p:sp>
        <p:nvSpPr>
          <p:cNvPr id="48" name="Shape 46"/>
          <p:cNvSpPr/>
          <p:nvPr/>
        </p:nvSpPr>
        <p:spPr>
          <a:xfrm>
            <a:off x="8074152" y="3136392"/>
            <a:ext cx="1143000" cy="0"/>
          </a:xfrm>
          <a:prstGeom prst="line">
            <a:avLst/>
          </a:prstGeom>
          <a:noFill/>
          <a:ln w="22860">
            <a:solidFill>
              <a:srgbClr val="1BA99A"/>
            </a:solidFill>
            <a:prstDash val="solid"/>
            <a:headEnd type="none"/>
            <a:tailEnd type="triangle"/>
          </a:ln>
        </p:spPr>
      </p:sp>
      <p:sp>
        <p:nvSpPr>
          <p:cNvPr id="49" name="Shape 47"/>
          <p:cNvSpPr/>
          <p:nvPr/>
        </p:nvSpPr>
        <p:spPr>
          <a:xfrm>
            <a:off x="6080760" y="3977640"/>
            <a:ext cx="0" cy="-448056"/>
          </a:xfrm>
          <a:prstGeom prst="line">
            <a:avLst/>
          </a:prstGeom>
          <a:noFill/>
          <a:ln w="19050">
            <a:solidFill>
              <a:srgbClr val="D95D58"/>
            </a:solidFill>
            <a:prstDash val="solid"/>
            <a:headEnd type="none"/>
            <a:tailEnd type="triangle"/>
          </a:ln>
        </p:spPr>
      </p:sp>
      <p:sp>
        <p:nvSpPr>
          <p:cNvPr id="50" name="Shape 48"/>
          <p:cNvSpPr/>
          <p:nvPr/>
        </p:nvSpPr>
        <p:spPr>
          <a:xfrm>
            <a:off x="5458968" y="5029200"/>
            <a:ext cx="1536192" cy="256032"/>
          </a:xfrm>
          <a:prstGeom prst="roundRect">
            <a:avLst>
              <a:gd name="adj" fmla="val 21429"/>
            </a:avLst>
          </a:prstGeom>
          <a:solidFill>
            <a:srgbClr val="FDEDEC"/>
          </a:solidFill>
          <a:ln w="6350">
            <a:solidFill>
              <a:srgbClr val="D7DEE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495544" y="5084064"/>
            <a:ext cx="14630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5D5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Secret never to client</a:t>
            </a:r>
            <a:endParaRPr lang="en-US" sz="680" dirty="0"/>
          </a:p>
        </p:txBody>
      </p:sp>
      <p:sp>
        <p:nvSpPr>
          <p:cNvPr id="52" name="Shape 50"/>
          <p:cNvSpPr/>
          <p:nvPr/>
        </p:nvSpPr>
        <p:spPr>
          <a:xfrm>
            <a:off x="530352" y="6007608"/>
            <a:ext cx="11119104" cy="347472"/>
          </a:xfrm>
          <a:prstGeom prst="roundRect">
            <a:avLst>
              <a:gd name="adj" fmla="val 15789"/>
            </a:avLst>
          </a:prstGeom>
          <a:solidFill>
            <a:srgbClr val="FDEDEC"/>
          </a:solidFill>
          <a:ln w="12700">
            <a:solidFill>
              <a:srgbClr val="FDEDEC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76656" y="6108192"/>
            <a:ext cx="10835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D95D5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색상만으로 보안을 표현하지 말고, 경계 박스 + 라벨 + 허용 방향을 함께 표시해 접근 제어 논리를 명확히 합니다.</a:t>
            </a:r>
            <a:endParaRPr lang="en-US" sz="76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28816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A0AAB6"/>
                </a:solidFill>
                <a:latin typeface="Noto Sans CJK KR"/>
                <a:ea typeface="Noto Sans CJK KR"/>
                <a:cs typeface="Noto Sans CJK KR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21208"/>
            <a:ext cx="8595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720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Before → After는 “무엇이 좋아졌는지”를 구조적 차이와 근거로 설명합니다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12064" y="1005840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B778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리팩터링·성능 개선·UX 개선을 “예뻐졌다”가 아니라 측정 가능한 변화로 표현합니다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10168128" y="557784"/>
            <a:ext cx="1481328" cy="329184"/>
          </a:xfrm>
          <a:prstGeom prst="roundRect">
            <a:avLst>
              <a:gd name="adj" fmla="val 22222"/>
            </a:avLst>
          </a:prstGeom>
          <a:solidFill>
            <a:srgbClr val="0B2035"/>
          </a:solidFill>
          <a:ln w="12700">
            <a:solidFill>
              <a:srgbClr val="0B203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232136" y="630936"/>
            <a:ext cx="13533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BEFORE / AFTER</a:t>
            </a:r>
            <a:endParaRPr lang="en-US" sz="780" dirty="0"/>
          </a:p>
        </p:txBody>
      </p:sp>
      <p:sp>
        <p:nvSpPr>
          <p:cNvPr id="6" name="Shape 4"/>
          <p:cNvSpPr/>
          <p:nvPr/>
        </p:nvSpPr>
        <p:spPr>
          <a:xfrm>
            <a:off x="521208" y="1389888"/>
            <a:ext cx="1325880" cy="256032"/>
          </a:xfrm>
          <a:prstGeom prst="roundRect">
            <a:avLst>
              <a:gd name="adj" fmla="val 28571"/>
            </a:avLst>
          </a:prstGeom>
          <a:solidFill>
            <a:srgbClr val="2F80ED">
              <a:alpha val="12000"/>
            </a:srgbClr>
          </a:solidFill>
          <a:ln w="12700">
            <a:solidFill>
              <a:srgbClr val="2F80ED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57784" y="1444752"/>
            <a:ext cx="125272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9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13 IMPROVEMENT</a:t>
            </a:r>
            <a:endParaRPr lang="en-US" sz="690" dirty="0"/>
          </a:p>
        </p:txBody>
      </p:sp>
      <p:sp>
        <p:nvSpPr>
          <p:cNvPr id="8" name="Shape 6"/>
          <p:cNvSpPr/>
          <p:nvPr/>
        </p:nvSpPr>
        <p:spPr>
          <a:xfrm>
            <a:off x="685800" y="1874520"/>
            <a:ext cx="5074920" cy="356616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10160">
            <a:solidFill>
              <a:srgbClr val="D95D5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96112" y="208483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95D58">
              <a:alpha val="12000"/>
            </a:srgbClr>
          </a:solidFill>
          <a:ln w="12700">
            <a:solidFill>
              <a:srgbClr val="D95D58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2688" y="2139696"/>
            <a:ext cx="79552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9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BEFORE</a:t>
            </a:r>
            <a:endParaRPr lang="en-US" sz="690" dirty="0"/>
          </a:p>
        </p:txBody>
      </p:sp>
      <p:sp>
        <p:nvSpPr>
          <p:cNvPr id="11" name="Text 9"/>
          <p:cNvSpPr/>
          <p:nvPr/>
        </p:nvSpPr>
        <p:spPr>
          <a:xfrm>
            <a:off x="896112" y="26060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0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한 파일에 모든 책임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1097280" y="3246120"/>
            <a:ext cx="1444752" cy="621792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0160">
            <a:solidFill>
              <a:srgbClr val="D95D5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225296" y="3383280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D95D58"/>
          </a:solidFill>
          <a:ln w="12700">
            <a:solidFill>
              <a:srgbClr val="D95D5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25296" y="3429000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783080" y="336499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720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CLI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1783080" y="3593592"/>
            <a:ext cx="640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6B778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입력</a:t>
            </a:r>
            <a:endParaRPr lang="en-US" sz="740" dirty="0"/>
          </a:p>
        </p:txBody>
      </p:sp>
      <p:sp>
        <p:nvSpPr>
          <p:cNvPr id="17" name="Shape 15"/>
          <p:cNvSpPr/>
          <p:nvPr/>
        </p:nvSpPr>
        <p:spPr>
          <a:xfrm>
            <a:off x="2788920" y="3246120"/>
            <a:ext cx="1444752" cy="621792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0160">
            <a:solidFill>
              <a:srgbClr val="D95D5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916936" y="3383280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D95D58"/>
          </a:solidFill>
          <a:ln w="12700">
            <a:solidFill>
              <a:srgbClr val="D95D5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916936" y="3429000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474720" y="336499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720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Logic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474720" y="3593592"/>
            <a:ext cx="640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6B778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처리</a:t>
            </a:r>
            <a:endParaRPr lang="en-US" sz="740" dirty="0"/>
          </a:p>
        </p:txBody>
      </p:sp>
      <p:sp>
        <p:nvSpPr>
          <p:cNvPr id="22" name="Shape 20"/>
          <p:cNvSpPr/>
          <p:nvPr/>
        </p:nvSpPr>
        <p:spPr>
          <a:xfrm>
            <a:off x="4480560" y="3246120"/>
            <a:ext cx="960120" cy="621792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0160">
            <a:solidFill>
              <a:srgbClr val="D95D5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08576" y="3383280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D95D58"/>
          </a:solidFill>
          <a:ln w="12700">
            <a:solidFill>
              <a:srgbClr val="D95D5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08576" y="3429000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166360" y="3364992"/>
            <a:ext cx="155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720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File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166360" y="3593592"/>
            <a:ext cx="15544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6B778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저장</a:t>
            </a:r>
            <a:endParaRPr lang="en-US" sz="740" dirty="0"/>
          </a:p>
        </p:txBody>
      </p:sp>
      <p:sp>
        <p:nvSpPr>
          <p:cNvPr id="27" name="Shape 25"/>
          <p:cNvSpPr/>
          <p:nvPr/>
        </p:nvSpPr>
        <p:spPr>
          <a:xfrm>
            <a:off x="2542032" y="3557016"/>
            <a:ext cx="246888" cy="0"/>
          </a:xfrm>
          <a:prstGeom prst="line">
            <a:avLst/>
          </a:prstGeom>
          <a:noFill/>
          <a:ln w="17780">
            <a:solidFill>
              <a:srgbClr val="D95D58"/>
            </a:solidFill>
            <a:prstDash val="solid"/>
            <a:headEnd type="none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4233672" y="3557016"/>
            <a:ext cx="246888" cy="0"/>
          </a:xfrm>
          <a:prstGeom prst="line">
            <a:avLst/>
          </a:prstGeom>
          <a:noFill/>
          <a:ln w="17780">
            <a:solidFill>
              <a:srgbClr val="D95D58"/>
            </a:solidFill>
            <a:prstDash val="solid"/>
            <a:headEnd type="none"/>
            <a:tailEnd type="triangle"/>
          </a:ln>
        </p:spPr>
      </p:sp>
      <p:sp>
        <p:nvSpPr>
          <p:cNvPr id="29" name="Text 27"/>
          <p:cNvSpPr/>
          <p:nvPr/>
        </p:nvSpPr>
        <p:spPr>
          <a:xfrm>
            <a:off x="1078992" y="4315968"/>
            <a:ext cx="4297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D95D5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오류 처리 중복 · 테스트 어려움 · 변경 영향 큼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6400800" y="1874520"/>
            <a:ext cx="5074920" cy="356616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10160">
            <a:solidFill>
              <a:srgbClr val="2FA66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611112" y="20848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2FA66A">
              <a:alpha val="12000"/>
            </a:srgbClr>
          </a:solidFill>
          <a:ln w="12700">
            <a:solidFill>
              <a:srgbClr val="2FA66A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647688" y="2139696"/>
            <a:ext cx="76809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9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AFTER</a:t>
            </a:r>
            <a:endParaRPr lang="en-US" sz="690" dirty="0"/>
          </a:p>
        </p:txBody>
      </p:sp>
      <p:sp>
        <p:nvSpPr>
          <p:cNvPr id="33" name="Text 31"/>
          <p:cNvSpPr/>
          <p:nvPr/>
        </p:nvSpPr>
        <p:spPr>
          <a:xfrm>
            <a:off x="6611112" y="26060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0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책임 분리 + 검증 가능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6720840" y="3246120"/>
            <a:ext cx="1051560" cy="621792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0160">
            <a:solidFill>
              <a:srgbClr val="2F80ED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848856" y="3383280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848856" y="3429000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7406640" y="3364992"/>
            <a:ext cx="246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720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CLI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7406640" y="3593592"/>
            <a:ext cx="24688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6B778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입력</a:t>
            </a:r>
            <a:endParaRPr lang="en-US" sz="740" dirty="0"/>
          </a:p>
        </p:txBody>
      </p:sp>
      <p:sp>
        <p:nvSpPr>
          <p:cNvPr id="39" name="Shape 37"/>
          <p:cNvSpPr/>
          <p:nvPr/>
        </p:nvSpPr>
        <p:spPr>
          <a:xfrm>
            <a:off x="8019288" y="3246120"/>
            <a:ext cx="1051560" cy="621792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0160">
            <a:solidFill>
              <a:srgbClr val="7B61F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147304" y="3383280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147304" y="3429000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8705088" y="3364992"/>
            <a:ext cx="246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720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Service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8705088" y="3593592"/>
            <a:ext cx="24688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6B778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규칙</a:t>
            </a:r>
            <a:endParaRPr lang="en-US" sz="740" dirty="0"/>
          </a:p>
        </p:txBody>
      </p:sp>
      <p:sp>
        <p:nvSpPr>
          <p:cNvPr id="44" name="Shape 42"/>
          <p:cNvSpPr/>
          <p:nvPr/>
        </p:nvSpPr>
        <p:spPr>
          <a:xfrm>
            <a:off x="9317736" y="3246120"/>
            <a:ext cx="1051560" cy="621792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0160">
            <a:solidFill>
              <a:srgbClr val="1BA99A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9445752" y="3383280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1BA99A"/>
          </a:solidFill>
          <a:ln w="12700">
            <a:solidFill>
              <a:srgbClr val="1BA99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9445752" y="3429000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10003536" y="3364992"/>
            <a:ext cx="246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720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Repo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10003536" y="3593592"/>
            <a:ext cx="24688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6B778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저장</a:t>
            </a:r>
            <a:endParaRPr lang="en-US" sz="740" dirty="0"/>
          </a:p>
        </p:txBody>
      </p:sp>
      <p:sp>
        <p:nvSpPr>
          <p:cNvPr id="49" name="Shape 47"/>
          <p:cNvSpPr/>
          <p:nvPr/>
        </p:nvSpPr>
        <p:spPr>
          <a:xfrm>
            <a:off x="10616184" y="3246120"/>
            <a:ext cx="594360" cy="621792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0160">
            <a:solidFill>
              <a:srgbClr val="2FA66A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0744200" y="3383280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A66A"/>
          </a:solidFill>
          <a:ln w="12700">
            <a:solidFill>
              <a:srgbClr val="2FA66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0744200" y="3429000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4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11301984" y="3364992"/>
            <a:ext cx="-210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720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Log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7772400" y="3557016"/>
            <a:ext cx="246888" cy="0"/>
          </a:xfrm>
          <a:prstGeom prst="line">
            <a:avLst/>
          </a:prstGeom>
          <a:noFill/>
          <a:ln w="17780">
            <a:solidFill>
              <a:srgbClr val="2FA66A"/>
            </a:solidFill>
            <a:prstDash val="solid"/>
            <a:headEnd type="none"/>
            <a:tailEnd type="triangle"/>
          </a:ln>
        </p:spPr>
      </p:sp>
      <p:sp>
        <p:nvSpPr>
          <p:cNvPr id="54" name="Shape 52"/>
          <p:cNvSpPr/>
          <p:nvPr/>
        </p:nvSpPr>
        <p:spPr>
          <a:xfrm>
            <a:off x="9070848" y="3557016"/>
            <a:ext cx="246888" cy="0"/>
          </a:xfrm>
          <a:prstGeom prst="line">
            <a:avLst/>
          </a:prstGeom>
          <a:noFill/>
          <a:ln w="17780">
            <a:solidFill>
              <a:srgbClr val="2FA66A"/>
            </a:solidFill>
            <a:prstDash val="solid"/>
            <a:headEnd type="none"/>
            <a:tailEnd type="triangle"/>
          </a:ln>
        </p:spPr>
      </p:sp>
      <p:sp>
        <p:nvSpPr>
          <p:cNvPr id="55" name="Shape 53"/>
          <p:cNvSpPr/>
          <p:nvPr/>
        </p:nvSpPr>
        <p:spPr>
          <a:xfrm>
            <a:off x="10369296" y="3557016"/>
            <a:ext cx="246888" cy="0"/>
          </a:xfrm>
          <a:prstGeom prst="line">
            <a:avLst/>
          </a:prstGeom>
          <a:noFill/>
          <a:ln w="17780">
            <a:solidFill>
              <a:srgbClr val="2FA66A"/>
            </a:solidFill>
            <a:prstDash val="solid"/>
            <a:headEnd type="none"/>
            <a:tailEnd type="triangle"/>
          </a:ln>
        </p:spPr>
      </p:sp>
      <p:sp>
        <p:nvSpPr>
          <p:cNvPr id="56" name="Text 54"/>
          <p:cNvSpPr/>
          <p:nvPr/>
        </p:nvSpPr>
        <p:spPr>
          <a:xfrm>
            <a:off x="6748272" y="4315968"/>
            <a:ext cx="43708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2FA66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단위 테스트 가능 · 예외 처리 일관 · 변경 범위 축소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5440680" y="3291840"/>
            <a:ext cx="1097280" cy="256032"/>
          </a:xfrm>
          <a:prstGeom prst="roundRect">
            <a:avLst>
              <a:gd name="adj" fmla="val 21429"/>
            </a:avLst>
          </a:prstGeom>
          <a:solidFill>
            <a:srgbClr val="EAF3FF"/>
          </a:solidFill>
          <a:ln w="6350">
            <a:solidFill>
              <a:srgbClr val="D7DEE8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477256" y="3346704"/>
            <a:ext cx="10241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0E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IMPROVE →</a:t>
            </a:r>
            <a:endParaRPr lang="en-US" sz="680" dirty="0"/>
          </a:p>
        </p:txBody>
      </p:sp>
      <p:sp>
        <p:nvSpPr>
          <p:cNvPr id="59" name="Shape 57"/>
          <p:cNvSpPr/>
          <p:nvPr/>
        </p:nvSpPr>
        <p:spPr>
          <a:xfrm>
            <a:off x="530352" y="6007608"/>
            <a:ext cx="11119104" cy="347472"/>
          </a:xfrm>
          <a:prstGeom prst="roundRect">
            <a:avLst>
              <a:gd name="adj" fmla="val 15789"/>
            </a:avLst>
          </a:prstGeom>
          <a:solidFill>
            <a:srgbClr val="EAF7EF"/>
          </a:solidFill>
          <a:ln w="12700">
            <a:solidFill>
              <a:srgbClr val="EAF7EF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76656" y="6108192"/>
            <a:ext cx="10835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2FA66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가능하면 Before/After 아래에 실제 수치(테스트 수, 응답시간, 오류율, 파일 수 등)를 1~2개만 추가합니다.</a:t>
            </a:r>
            <a:endParaRPr lang="en-US" sz="76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28816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A0AAB6"/>
                </a:solidFill>
                <a:latin typeface="Noto Sans CJK KR"/>
                <a:ea typeface="Noto Sans CJK KR"/>
                <a:cs typeface="Noto Sans CJK KR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21208"/>
            <a:ext cx="8595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720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평가 발표의 핵심은 “요구사항이 어떤 증빙으로 닫혔는지”를 추적 가능하게 만드는 것입니다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12064" y="1005840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B778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Requirement → Implementation → Verification → Evidence → Evaluation을 한 줄로 연결합니다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10168128" y="557784"/>
            <a:ext cx="1481328" cy="329184"/>
          </a:xfrm>
          <a:prstGeom prst="roundRect">
            <a:avLst>
              <a:gd name="adj" fmla="val 22222"/>
            </a:avLst>
          </a:prstGeom>
          <a:solidFill>
            <a:srgbClr val="0B2035"/>
          </a:solidFill>
          <a:ln w="12700">
            <a:solidFill>
              <a:srgbClr val="0B203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232136" y="630936"/>
            <a:ext cx="13533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TRACEABILITY</a:t>
            </a:r>
            <a:endParaRPr lang="en-US" sz="780" dirty="0"/>
          </a:p>
        </p:txBody>
      </p:sp>
      <p:sp>
        <p:nvSpPr>
          <p:cNvPr id="6" name="Shape 4"/>
          <p:cNvSpPr/>
          <p:nvPr/>
        </p:nvSpPr>
        <p:spPr>
          <a:xfrm>
            <a:off x="521208" y="1389888"/>
            <a:ext cx="1325880" cy="256032"/>
          </a:xfrm>
          <a:prstGeom prst="roundRect">
            <a:avLst>
              <a:gd name="adj" fmla="val 28571"/>
            </a:avLst>
          </a:prstGeom>
          <a:solidFill>
            <a:srgbClr val="2F80ED">
              <a:alpha val="12000"/>
            </a:srgbClr>
          </a:solidFill>
          <a:ln w="12700">
            <a:solidFill>
              <a:srgbClr val="2F80ED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57784" y="1444752"/>
            <a:ext cx="125272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9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14 EVIDENCE</a:t>
            </a:r>
            <a:endParaRPr lang="en-US" sz="690" dirty="0"/>
          </a:p>
        </p:txBody>
      </p:sp>
      <p:sp>
        <p:nvSpPr>
          <p:cNvPr id="8" name="Shape 6"/>
          <p:cNvSpPr/>
          <p:nvPr/>
        </p:nvSpPr>
        <p:spPr>
          <a:xfrm>
            <a:off x="548640" y="2267712"/>
            <a:ext cx="1572768" cy="2240280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0160">
            <a:solidFill>
              <a:srgbClr val="12314E"/>
            </a:solidFill>
            <a:prstDash val="solid"/>
          </a:ln>
          <a:effectLst>
            <a:outerShdw sx="100000" sy="100000" kx="0" ky="0" algn="bl" rotWithShape="0" blurRad="15240" dist="8890" dir="27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85800" y="2468880"/>
            <a:ext cx="969264" cy="256032"/>
          </a:xfrm>
          <a:prstGeom prst="roundRect">
            <a:avLst>
              <a:gd name="adj" fmla="val 28571"/>
            </a:avLst>
          </a:prstGeom>
          <a:solidFill>
            <a:srgbClr val="12314E">
              <a:alpha val="12000"/>
            </a:srgbClr>
          </a:solidFill>
          <a:ln w="12700">
            <a:solidFill>
              <a:srgbClr val="12314E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22376" y="2523744"/>
            <a:ext cx="89611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9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MISSION</a:t>
            </a:r>
            <a:endParaRPr lang="en-US" sz="690" dirty="0"/>
          </a:p>
        </p:txBody>
      </p:sp>
      <p:sp>
        <p:nvSpPr>
          <p:cNvPr id="11" name="Text 9"/>
          <p:cNvSpPr/>
          <p:nvPr/>
        </p:nvSpPr>
        <p:spPr>
          <a:xfrm>
            <a:off x="713232" y="3054096"/>
            <a:ext cx="12435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0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원본 요구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13232" y="3703320"/>
            <a:ext cx="12435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2121408" y="3383280"/>
            <a:ext cx="329184" cy="0"/>
          </a:xfrm>
          <a:prstGeom prst="line">
            <a:avLst/>
          </a:prstGeom>
          <a:noFill/>
          <a:ln w="22860">
            <a:solidFill>
              <a:srgbClr val="12314E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2450592" y="2267712"/>
            <a:ext cx="1572768" cy="2240280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0160">
            <a:solidFill>
              <a:srgbClr val="2F80ED"/>
            </a:solidFill>
            <a:prstDash val="solid"/>
          </a:ln>
          <a:effectLst>
            <a:outerShdw sx="100000" sy="100000" kx="0" ky="0" algn="bl" rotWithShape="0" blurRad="15240" dist="8890" dir="27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587752" y="2468880"/>
            <a:ext cx="969264" cy="256032"/>
          </a:xfrm>
          <a:prstGeom prst="roundRect">
            <a:avLst>
              <a:gd name="adj" fmla="val 28571"/>
            </a:avLst>
          </a:prstGeom>
          <a:solidFill>
            <a:srgbClr val="2F80ED">
              <a:alpha val="12000"/>
            </a:srgbClr>
          </a:solidFill>
          <a:ln w="12700">
            <a:solidFill>
              <a:srgbClr val="2F80ED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624328" y="2523744"/>
            <a:ext cx="89611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9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REQ-ID</a:t>
            </a:r>
            <a:endParaRPr lang="en-US" sz="690" dirty="0"/>
          </a:p>
        </p:txBody>
      </p:sp>
      <p:sp>
        <p:nvSpPr>
          <p:cNvPr id="17" name="Text 15"/>
          <p:cNvSpPr/>
          <p:nvPr/>
        </p:nvSpPr>
        <p:spPr>
          <a:xfrm>
            <a:off x="2615184" y="3054096"/>
            <a:ext cx="12435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0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필수 항목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615184" y="3703320"/>
            <a:ext cx="12435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6B778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REQ-B1-1-03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4023360" y="3383280"/>
            <a:ext cx="329184" cy="0"/>
          </a:xfrm>
          <a:prstGeom prst="line">
            <a:avLst/>
          </a:prstGeom>
          <a:noFill/>
          <a:ln w="22860">
            <a:solidFill>
              <a:srgbClr val="2F80ED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4352544" y="2267712"/>
            <a:ext cx="1572768" cy="2240280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0160">
            <a:solidFill>
              <a:srgbClr val="7B61FF"/>
            </a:solidFill>
            <a:prstDash val="solid"/>
          </a:ln>
          <a:effectLst>
            <a:outerShdw sx="100000" sy="100000" kx="0" ky="0" algn="bl" rotWithShape="0" blurRad="15240" dist="8890" dir="27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489704" y="2468880"/>
            <a:ext cx="969264" cy="256032"/>
          </a:xfrm>
          <a:prstGeom prst="roundRect">
            <a:avLst>
              <a:gd name="adj" fmla="val 28571"/>
            </a:avLst>
          </a:prstGeom>
          <a:solidFill>
            <a:srgbClr val="7B61FF">
              <a:alpha val="12000"/>
            </a:srgbClr>
          </a:solidFill>
          <a:ln w="12700">
            <a:solidFill>
              <a:srgbClr val="7B61FF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26280" y="2523744"/>
            <a:ext cx="89611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9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IMPLEMENT</a:t>
            </a:r>
            <a:endParaRPr lang="en-US" sz="690" dirty="0"/>
          </a:p>
        </p:txBody>
      </p:sp>
      <p:sp>
        <p:nvSpPr>
          <p:cNvPr id="23" name="Text 21"/>
          <p:cNvSpPr/>
          <p:nvPr/>
        </p:nvSpPr>
        <p:spPr>
          <a:xfrm>
            <a:off x="4517136" y="3054096"/>
            <a:ext cx="12435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0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코드 / 설정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17136" y="3703320"/>
            <a:ext cx="12435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6B778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monitor.sh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5925312" y="3383280"/>
            <a:ext cx="329184" cy="0"/>
          </a:xfrm>
          <a:prstGeom prst="line">
            <a:avLst/>
          </a:prstGeom>
          <a:noFill/>
          <a:ln w="22860">
            <a:solidFill>
              <a:srgbClr val="7B61FF"/>
            </a:solidFill>
            <a:prstDash val="solid"/>
            <a:headEnd type="none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6254496" y="2267712"/>
            <a:ext cx="1572768" cy="2240280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0160">
            <a:solidFill>
              <a:srgbClr val="1BA99A"/>
            </a:solidFill>
            <a:prstDash val="solid"/>
          </a:ln>
          <a:effectLst>
            <a:outerShdw sx="100000" sy="100000" kx="0" ky="0" algn="bl" rotWithShape="0" blurRad="15240" dist="8890" dir="27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391656" y="2468880"/>
            <a:ext cx="969264" cy="256032"/>
          </a:xfrm>
          <a:prstGeom prst="roundRect">
            <a:avLst>
              <a:gd name="adj" fmla="val 28571"/>
            </a:avLst>
          </a:prstGeom>
          <a:solidFill>
            <a:srgbClr val="1BA99A">
              <a:alpha val="12000"/>
            </a:srgbClr>
          </a:solidFill>
          <a:ln w="12700">
            <a:solidFill>
              <a:srgbClr val="1BA99A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28232" y="2523744"/>
            <a:ext cx="89611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9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VERIFY</a:t>
            </a:r>
            <a:endParaRPr lang="en-US" sz="690" dirty="0"/>
          </a:p>
        </p:txBody>
      </p:sp>
      <p:sp>
        <p:nvSpPr>
          <p:cNvPr id="29" name="Text 27"/>
          <p:cNvSpPr/>
          <p:nvPr/>
        </p:nvSpPr>
        <p:spPr>
          <a:xfrm>
            <a:off x="6419088" y="3054096"/>
            <a:ext cx="12435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0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테스트 / 실행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419088" y="3703320"/>
            <a:ext cx="12435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6B778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ss / log / cron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7827264" y="3383280"/>
            <a:ext cx="329184" cy="0"/>
          </a:xfrm>
          <a:prstGeom prst="line">
            <a:avLst/>
          </a:prstGeom>
          <a:noFill/>
          <a:ln w="22860">
            <a:solidFill>
              <a:srgbClr val="1BA99A"/>
            </a:solidFill>
            <a:prstDash val="solid"/>
            <a:headEnd type="none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8156448" y="2267712"/>
            <a:ext cx="1572768" cy="2240280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0160">
            <a:solidFill>
              <a:srgbClr val="2FA66A"/>
            </a:solidFill>
            <a:prstDash val="solid"/>
          </a:ln>
          <a:effectLst>
            <a:outerShdw sx="100000" sy="100000" kx="0" ky="0" algn="bl" rotWithShape="0" blurRad="15240" dist="8890" dir="270000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8293608" y="2468880"/>
            <a:ext cx="969264" cy="256032"/>
          </a:xfrm>
          <a:prstGeom prst="roundRect">
            <a:avLst>
              <a:gd name="adj" fmla="val 28571"/>
            </a:avLst>
          </a:prstGeom>
          <a:solidFill>
            <a:srgbClr val="2FA66A">
              <a:alpha val="12000"/>
            </a:srgbClr>
          </a:solidFill>
          <a:ln w="12700">
            <a:solidFill>
              <a:srgbClr val="2FA66A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330184" y="2523744"/>
            <a:ext cx="89611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9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EVIDENCE</a:t>
            </a:r>
            <a:endParaRPr lang="en-US" sz="690" dirty="0"/>
          </a:p>
        </p:txBody>
      </p:sp>
      <p:sp>
        <p:nvSpPr>
          <p:cNvPr id="35" name="Text 33"/>
          <p:cNvSpPr/>
          <p:nvPr/>
        </p:nvSpPr>
        <p:spPr>
          <a:xfrm>
            <a:off x="8321040" y="3054096"/>
            <a:ext cx="12435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0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로그 / 캡처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8321040" y="3703320"/>
            <a:ext cx="12435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6B778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evidence/...</a:t>
            </a:r>
            <a:endParaRPr lang="en-US" sz="700" dirty="0"/>
          </a:p>
        </p:txBody>
      </p:sp>
      <p:sp>
        <p:nvSpPr>
          <p:cNvPr id="37" name="Shape 35"/>
          <p:cNvSpPr/>
          <p:nvPr/>
        </p:nvSpPr>
        <p:spPr>
          <a:xfrm>
            <a:off x="9729216" y="3383280"/>
            <a:ext cx="329184" cy="0"/>
          </a:xfrm>
          <a:prstGeom prst="line">
            <a:avLst/>
          </a:prstGeom>
          <a:noFill/>
          <a:ln w="22860">
            <a:solidFill>
              <a:srgbClr val="2FA66A"/>
            </a:solidFill>
            <a:prstDash val="solid"/>
            <a:headEnd type="none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10058400" y="2267712"/>
            <a:ext cx="1572768" cy="2240280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0160">
            <a:solidFill>
              <a:srgbClr val="F3A61D"/>
            </a:solidFill>
            <a:prstDash val="solid"/>
          </a:ln>
          <a:effectLst>
            <a:outerShdw sx="100000" sy="100000" kx="0" ky="0" algn="bl" rotWithShape="0" blurRad="15240" dist="8890" dir="2700000">
              <a:srgbClr val="000000">
                <a:alpha val="1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10195560" y="2468880"/>
            <a:ext cx="969264" cy="256032"/>
          </a:xfrm>
          <a:prstGeom prst="roundRect">
            <a:avLst>
              <a:gd name="adj" fmla="val 28571"/>
            </a:avLst>
          </a:prstGeom>
          <a:solidFill>
            <a:srgbClr val="F3A61D">
              <a:alpha val="12000"/>
            </a:srgbClr>
          </a:solidFill>
          <a:ln w="12700">
            <a:solidFill>
              <a:srgbClr val="F3A61D">
                <a:alpha val="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0232136" y="2523744"/>
            <a:ext cx="89611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9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EVALUATE</a:t>
            </a:r>
            <a:endParaRPr lang="en-US" sz="690" dirty="0"/>
          </a:p>
        </p:txBody>
      </p:sp>
      <p:sp>
        <p:nvSpPr>
          <p:cNvPr id="41" name="Text 39"/>
          <p:cNvSpPr/>
          <p:nvPr/>
        </p:nvSpPr>
        <p:spPr>
          <a:xfrm>
            <a:off x="10222992" y="3054096"/>
            <a:ext cx="12435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0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설명 / Q&amp;A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10222992" y="3703320"/>
            <a:ext cx="12435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6B778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왜 이렇게 설계?</a:t>
            </a:r>
            <a:endParaRPr lang="en-US" sz="700" dirty="0"/>
          </a:p>
        </p:txBody>
      </p:sp>
      <p:sp>
        <p:nvSpPr>
          <p:cNvPr id="43" name="Shape 41"/>
          <p:cNvSpPr/>
          <p:nvPr/>
        </p:nvSpPr>
        <p:spPr>
          <a:xfrm>
            <a:off x="1828800" y="4919472"/>
            <a:ext cx="8503920" cy="566928"/>
          </a:xfrm>
          <a:prstGeom prst="roundRect">
            <a:avLst>
              <a:gd name="adj" fmla="val 16129"/>
            </a:avLst>
          </a:prstGeom>
          <a:solidFill>
            <a:srgbClr val="0B2035"/>
          </a:solidFill>
          <a:ln w="10160">
            <a:solidFill>
              <a:srgbClr val="0B2035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057400" y="5111496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1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평가자 관점: “이 기능이 있다는 주장”보다 “요구사항 → 실제 결과 → 증빙”이 연결되어 있는지가 중요합니다.</a:t>
            </a:r>
            <a:endParaRPr lang="en-US" sz="810" dirty="0"/>
          </a:p>
        </p:txBody>
      </p:sp>
      <p:sp>
        <p:nvSpPr>
          <p:cNvPr id="45" name="Shape 43"/>
          <p:cNvSpPr/>
          <p:nvPr/>
        </p:nvSpPr>
        <p:spPr>
          <a:xfrm>
            <a:off x="530352" y="6007608"/>
            <a:ext cx="11119104" cy="347472"/>
          </a:xfrm>
          <a:prstGeom prst="roundRect">
            <a:avLst>
              <a:gd name="adj" fmla="val 15789"/>
            </a:avLst>
          </a:prstGeom>
          <a:solidFill>
            <a:srgbClr val="EAF7EF"/>
          </a:solidFill>
          <a:ln w="12700">
            <a:solidFill>
              <a:srgbClr val="EAF7E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76656" y="6108192"/>
            <a:ext cx="10835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2FA66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이 템플릿은 각 미션의 최종 Verification Dashboard 바로 앞 또는 뒤에 배치하는 것을 권장합니다.</a:t>
            </a:r>
            <a:endParaRPr lang="en-US" sz="76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28816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A0AAB6"/>
                </a:solidFill>
                <a:latin typeface="Noto Sans CJK KR"/>
                <a:ea typeface="Noto Sans CJK KR"/>
                <a:cs typeface="Noto Sans CJK KR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21208"/>
            <a:ext cx="8595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720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연구 파이프라인은 “질문 → 방법 → 실험 → 평가 → 결론”의 논리를 보여줍니다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12064" y="1005840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B778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석·박사·연구원·학회 발표에서 미션 결과를 연구형 스토리로 확장할 때 사용합니다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10168128" y="557784"/>
            <a:ext cx="1481328" cy="329184"/>
          </a:xfrm>
          <a:prstGeom prst="roundRect">
            <a:avLst>
              <a:gd name="adj" fmla="val 22222"/>
            </a:avLst>
          </a:prstGeom>
          <a:solidFill>
            <a:srgbClr val="0B2035"/>
          </a:solidFill>
          <a:ln w="12700">
            <a:solidFill>
              <a:srgbClr val="0B203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232136" y="630936"/>
            <a:ext cx="13533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RESEARCH PIPELINE</a:t>
            </a:r>
            <a:endParaRPr lang="en-US" sz="780" dirty="0"/>
          </a:p>
        </p:txBody>
      </p:sp>
      <p:sp>
        <p:nvSpPr>
          <p:cNvPr id="6" name="Shape 4"/>
          <p:cNvSpPr/>
          <p:nvPr/>
        </p:nvSpPr>
        <p:spPr>
          <a:xfrm>
            <a:off x="521208" y="1389888"/>
            <a:ext cx="1325880" cy="256032"/>
          </a:xfrm>
          <a:prstGeom prst="roundRect">
            <a:avLst>
              <a:gd name="adj" fmla="val 28571"/>
            </a:avLst>
          </a:prstGeom>
          <a:solidFill>
            <a:srgbClr val="2F80ED">
              <a:alpha val="12000"/>
            </a:srgbClr>
          </a:solidFill>
          <a:ln w="12700">
            <a:solidFill>
              <a:srgbClr val="2F80ED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57784" y="1444752"/>
            <a:ext cx="125272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9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15 RESEARCH</a:t>
            </a:r>
            <a:endParaRPr lang="en-US" sz="690" dirty="0"/>
          </a:p>
        </p:txBody>
      </p:sp>
      <p:sp>
        <p:nvSpPr>
          <p:cNvPr id="8" name="Shape 6"/>
          <p:cNvSpPr/>
          <p:nvPr/>
        </p:nvSpPr>
        <p:spPr>
          <a:xfrm>
            <a:off x="603504" y="2240280"/>
            <a:ext cx="1572768" cy="2249424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0160">
            <a:solidFill>
              <a:srgbClr val="2F80ED"/>
            </a:solidFill>
            <a:prstDash val="solid"/>
          </a:ln>
          <a:effectLst>
            <a:outerShdw sx="100000" sy="100000" kx="0" ky="0" algn="bl" rotWithShape="0" blurRad="15240" dist="8890" dir="27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106424" y="2487168"/>
            <a:ext cx="566928" cy="566928"/>
          </a:xfrm>
          <a:prstGeom prst="ellipse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06424" y="2651760"/>
            <a:ext cx="5669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758952" y="3273552"/>
            <a:ext cx="1261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1720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QUESTION</a:t>
            </a:r>
            <a:endParaRPr lang="en-US" sz="930" dirty="0"/>
          </a:p>
        </p:txBody>
      </p:sp>
      <p:sp>
        <p:nvSpPr>
          <p:cNvPr id="12" name="Text 10"/>
          <p:cNvSpPr/>
          <p:nvPr/>
        </p:nvSpPr>
        <p:spPr>
          <a:xfrm>
            <a:off x="758952" y="3712464"/>
            <a:ext cx="1261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6B778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무엇을 알고 싶은가?</a:t>
            </a:r>
            <a:endParaRPr lang="en-US" sz="720" dirty="0"/>
          </a:p>
        </p:txBody>
      </p:sp>
      <p:sp>
        <p:nvSpPr>
          <p:cNvPr id="13" name="Shape 11"/>
          <p:cNvSpPr/>
          <p:nvPr/>
        </p:nvSpPr>
        <p:spPr>
          <a:xfrm>
            <a:off x="2176272" y="3383280"/>
            <a:ext cx="310896" cy="0"/>
          </a:xfrm>
          <a:prstGeom prst="line">
            <a:avLst/>
          </a:prstGeom>
          <a:noFill/>
          <a:ln w="20320">
            <a:solidFill>
              <a:srgbClr val="2F80ED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2487168" y="2240280"/>
            <a:ext cx="1572768" cy="2249424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0160">
            <a:solidFill>
              <a:srgbClr val="1BA99A"/>
            </a:solidFill>
            <a:prstDash val="solid"/>
          </a:ln>
          <a:effectLst>
            <a:outerShdw sx="100000" sy="100000" kx="0" ky="0" algn="bl" rotWithShape="0" blurRad="15240" dist="8890" dir="27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990088" y="2487168"/>
            <a:ext cx="566928" cy="566928"/>
          </a:xfrm>
          <a:prstGeom prst="ellipse">
            <a:avLst/>
          </a:prstGeom>
          <a:solidFill>
            <a:srgbClr val="1BA99A"/>
          </a:solidFill>
          <a:ln w="12700">
            <a:solidFill>
              <a:srgbClr val="1BA99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990088" y="2651760"/>
            <a:ext cx="5669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2642616" y="3273552"/>
            <a:ext cx="1261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1720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DATA</a:t>
            </a:r>
            <a:endParaRPr lang="en-US" sz="930" dirty="0"/>
          </a:p>
        </p:txBody>
      </p:sp>
      <p:sp>
        <p:nvSpPr>
          <p:cNvPr id="18" name="Text 16"/>
          <p:cNvSpPr/>
          <p:nvPr/>
        </p:nvSpPr>
        <p:spPr>
          <a:xfrm>
            <a:off x="2642616" y="3712464"/>
            <a:ext cx="1261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6B778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무엇을 관찰하는가?</a:t>
            </a:r>
            <a:endParaRPr lang="en-US" sz="720" dirty="0"/>
          </a:p>
        </p:txBody>
      </p:sp>
      <p:sp>
        <p:nvSpPr>
          <p:cNvPr id="19" name="Shape 17"/>
          <p:cNvSpPr/>
          <p:nvPr/>
        </p:nvSpPr>
        <p:spPr>
          <a:xfrm>
            <a:off x="4059936" y="3383280"/>
            <a:ext cx="310896" cy="0"/>
          </a:xfrm>
          <a:prstGeom prst="line">
            <a:avLst/>
          </a:prstGeom>
          <a:noFill/>
          <a:ln w="20320">
            <a:solidFill>
              <a:srgbClr val="1BA99A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4370832" y="2240280"/>
            <a:ext cx="1572768" cy="2249424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0160">
            <a:solidFill>
              <a:srgbClr val="7B61FF"/>
            </a:solidFill>
            <a:prstDash val="solid"/>
          </a:ln>
          <a:effectLst>
            <a:outerShdw sx="100000" sy="100000" kx="0" ky="0" algn="bl" rotWithShape="0" blurRad="15240" dist="8890" dir="27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73752" y="2487168"/>
            <a:ext cx="566928" cy="566928"/>
          </a:xfrm>
          <a:prstGeom prst="ellipse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73752" y="2651760"/>
            <a:ext cx="5669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526280" y="3273552"/>
            <a:ext cx="1261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1720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METHOD</a:t>
            </a:r>
            <a:endParaRPr lang="en-US" sz="930" dirty="0"/>
          </a:p>
        </p:txBody>
      </p:sp>
      <p:sp>
        <p:nvSpPr>
          <p:cNvPr id="24" name="Text 22"/>
          <p:cNvSpPr/>
          <p:nvPr/>
        </p:nvSpPr>
        <p:spPr>
          <a:xfrm>
            <a:off x="4526280" y="3712464"/>
            <a:ext cx="1261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6B778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어떻게 해결하는가?</a:t>
            </a:r>
            <a:endParaRPr lang="en-US" sz="720" dirty="0"/>
          </a:p>
        </p:txBody>
      </p:sp>
      <p:sp>
        <p:nvSpPr>
          <p:cNvPr id="25" name="Shape 23"/>
          <p:cNvSpPr/>
          <p:nvPr/>
        </p:nvSpPr>
        <p:spPr>
          <a:xfrm>
            <a:off x="5943600" y="3383280"/>
            <a:ext cx="310896" cy="0"/>
          </a:xfrm>
          <a:prstGeom prst="line">
            <a:avLst/>
          </a:prstGeom>
          <a:noFill/>
          <a:ln w="20320">
            <a:solidFill>
              <a:srgbClr val="7B61FF"/>
            </a:solidFill>
            <a:prstDash val="solid"/>
            <a:headEnd type="none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6254496" y="2240280"/>
            <a:ext cx="1572768" cy="2249424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0160">
            <a:solidFill>
              <a:srgbClr val="F3A61D"/>
            </a:solidFill>
            <a:prstDash val="solid"/>
          </a:ln>
          <a:effectLst>
            <a:outerShdw sx="100000" sy="100000" kx="0" ky="0" algn="bl" rotWithShape="0" blurRad="15240" dist="8890" dir="27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757416" y="2487168"/>
            <a:ext cx="566928" cy="566928"/>
          </a:xfrm>
          <a:prstGeom prst="ellipse">
            <a:avLst/>
          </a:prstGeom>
          <a:solidFill>
            <a:srgbClr val="F3A61D"/>
          </a:solidFill>
          <a:ln w="12700">
            <a:solidFill>
              <a:srgbClr val="F3A61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757416" y="2651760"/>
            <a:ext cx="5669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4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6409944" y="3273552"/>
            <a:ext cx="1261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1720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EXPERIMENT</a:t>
            </a:r>
            <a:endParaRPr lang="en-US" sz="930" dirty="0"/>
          </a:p>
        </p:txBody>
      </p:sp>
      <p:sp>
        <p:nvSpPr>
          <p:cNvPr id="30" name="Text 28"/>
          <p:cNvSpPr/>
          <p:nvPr/>
        </p:nvSpPr>
        <p:spPr>
          <a:xfrm>
            <a:off x="6409944" y="3712464"/>
            <a:ext cx="1261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6B778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어떻게 검증하는가?</a:t>
            </a:r>
            <a:endParaRPr lang="en-US" sz="720" dirty="0"/>
          </a:p>
        </p:txBody>
      </p:sp>
      <p:sp>
        <p:nvSpPr>
          <p:cNvPr id="31" name="Shape 29"/>
          <p:cNvSpPr/>
          <p:nvPr/>
        </p:nvSpPr>
        <p:spPr>
          <a:xfrm>
            <a:off x="7827264" y="3383280"/>
            <a:ext cx="310896" cy="0"/>
          </a:xfrm>
          <a:prstGeom prst="line">
            <a:avLst/>
          </a:prstGeom>
          <a:noFill/>
          <a:ln w="20320">
            <a:solidFill>
              <a:srgbClr val="F3A61D"/>
            </a:solidFill>
            <a:prstDash val="solid"/>
            <a:headEnd type="none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8138160" y="2240280"/>
            <a:ext cx="1572768" cy="2249424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0160">
            <a:solidFill>
              <a:srgbClr val="D95D58"/>
            </a:solidFill>
            <a:prstDash val="solid"/>
          </a:ln>
          <a:effectLst>
            <a:outerShdw sx="100000" sy="100000" kx="0" ky="0" algn="bl" rotWithShape="0" blurRad="15240" dist="8890" dir="270000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8641080" y="2487168"/>
            <a:ext cx="566928" cy="566928"/>
          </a:xfrm>
          <a:prstGeom prst="ellipse">
            <a:avLst/>
          </a:prstGeom>
          <a:solidFill>
            <a:srgbClr val="D95D58"/>
          </a:solidFill>
          <a:ln w="12700">
            <a:solidFill>
              <a:srgbClr val="D95D5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641080" y="2651760"/>
            <a:ext cx="5669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5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8293608" y="3273552"/>
            <a:ext cx="1261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1720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METRIC</a:t>
            </a:r>
            <a:endParaRPr lang="en-US" sz="930" dirty="0"/>
          </a:p>
        </p:txBody>
      </p:sp>
      <p:sp>
        <p:nvSpPr>
          <p:cNvPr id="36" name="Text 34"/>
          <p:cNvSpPr/>
          <p:nvPr/>
        </p:nvSpPr>
        <p:spPr>
          <a:xfrm>
            <a:off x="8293608" y="3712464"/>
            <a:ext cx="1261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6B778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무엇으로 비교하는가?</a:t>
            </a:r>
            <a:endParaRPr lang="en-US" sz="720" dirty="0"/>
          </a:p>
        </p:txBody>
      </p:sp>
      <p:sp>
        <p:nvSpPr>
          <p:cNvPr id="37" name="Shape 35"/>
          <p:cNvSpPr/>
          <p:nvPr/>
        </p:nvSpPr>
        <p:spPr>
          <a:xfrm>
            <a:off x="9710928" y="3383280"/>
            <a:ext cx="310896" cy="0"/>
          </a:xfrm>
          <a:prstGeom prst="line">
            <a:avLst/>
          </a:prstGeom>
          <a:noFill/>
          <a:ln w="20320">
            <a:solidFill>
              <a:srgbClr val="D95D58"/>
            </a:solidFill>
            <a:prstDash val="solid"/>
            <a:headEnd type="none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10021824" y="2240280"/>
            <a:ext cx="1572768" cy="2249424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0160">
            <a:solidFill>
              <a:srgbClr val="2FA66A"/>
            </a:solidFill>
            <a:prstDash val="solid"/>
          </a:ln>
          <a:effectLst>
            <a:outerShdw sx="100000" sy="100000" kx="0" ky="0" algn="bl" rotWithShape="0" blurRad="15240" dist="8890" dir="2700000">
              <a:srgbClr val="000000">
                <a:alpha val="1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10524744" y="2487168"/>
            <a:ext cx="566928" cy="566928"/>
          </a:xfrm>
          <a:prstGeom prst="ellipse">
            <a:avLst/>
          </a:prstGeom>
          <a:solidFill>
            <a:srgbClr val="2FA66A"/>
          </a:solidFill>
          <a:ln w="12700">
            <a:solidFill>
              <a:srgbClr val="2FA66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0524744" y="2651760"/>
            <a:ext cx="5669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6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10177272" y="3273552"/>
            <a:ext cx="1261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1720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CONCLUSION</a:t>
            </a:r>
            <a:endParaRPr lang="en-US" sz="930" dirty="0"/>
          </a:p>
        </p:txBody>
      </p:sp>
      <p:sp>
        <p:nvSpPr>
          <p:cNvPr id="42" name="Text 40"/>
          <p:cNvSpPr/>
          <p:nvPr/>
        </p:nvSpPr>
        <p:spPr>
          <a:xfrm>
            <a:off x="10177272" y="3712464"/>
            <a:ext cx="1261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6B778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무엇을 주장할 수 있는가?</a:t>
            </a:r>
            <a:endParaRPr lang="en-US" sz="720" dirty="0"/>
          </a:p>
        </p:txBody>
      </p:sp>
      <p:sp>
        <p:nvSpPr>
          <p:cNvPr id="43" name="Shape 41"/>
          <p:cNvSpPr/>
          <p:nvPr/>
        </p:nvSpPr>
        <p:spPr>
          <a:xfrm>
            <a:off x="1920240" y="4846320"/>
            <a:ext cx="8321040" cy="621792"/>
          </a:xfrm>
          <a:prstGeom prst="roundRect">
            <a:avLst>
              <a:gd name="adj" fmla="val 14706"/>
            </a:avLst>
          </a:prstGeom>
          <a:solidFill>
            <a:srgbClr val="FBFCFE"/>
          </a:solidFill>
          <a:ln w="10160">
            <a:solidFill>
              <a:srgbClr val="D7DEE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148840" y="5047488"/>
            <a:ext cx="7863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7B61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연구형 제목 예시: “ACL 기반 권한 분리가 운영 오류와 접근 위반을 어떻게 줄이는가?”</a:t>
            </a:r>
            <a:endParaRPr lang="en-US" sz="820" dirty="0"/>
          </a:p>
        </p:txBody>
      </p:sp>
      <p:sp>
        <p:nvSpPr>
          <p:cNvPr id="45" name="Shape 43"/>
          <p:cNvSpPr/>
          <p:nvPr/>
        </p:nvSpPr>
        <p:spPr>
          <a:xfrm>
            <a:off x="530352" y="6007608"/>
            <a:ext cx="11119104" cy="347472"/>
          </a:xfrm>
          <a:prstGeom prst="roundRect">
            <a:avLst>
              <a:gd name="adj" fmla="val 15789"/>
            </a:avLst>
          </a:prstGeom>
          <a:solidFill>
            <a:srgbClr val="F0EDFF"/>
          </a:solidFill>
          <a:ln w="12700">
            <a:solidFill>
              <a:srgbClr val="F0EDF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76656" y="6108192"/>
            <a:ext cx="10835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7B61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미션 발표를 학술 발표로 확장할 때는 “무엇을 만들었나”에서 “무엇을 검증했나”로 중심 질문을 바꿉니다.</a:t>
            </a:r>
            <a:endParaRPr lang="en-US" sz="76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28816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A0AAB6"/>
                </a:solidFill>
                <a:latin typeface="Noto Sans CJK KR"/>
                <a:ea typeface="Noto Sans CJK KR"/>
                <a:cs typeface="Noto Sans CJK KR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21208"/>
            <a:ext cx="8595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720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실험 설계는 비교 대상·측정 지표·통제 조건을 분리해 보여줍니다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12064" y="1005840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B778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성능·정확도·사용성·복구시간 등 “좋아졌다”는 주장을 검증 가능한 형태로 바꿉니다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10168128" y="557784"/>
            <a:ext cx="1481328" cy="329184"/>
          </a:xfrm>
          <a:prstGeom prst="roundRect">
            <a:avLst>
              <a:gd name="adj" fmla="val 22222"/>
            </a:avLst>
          </a:prstGeom>
          <a:solidFill>
            <a:srgbClr val="0B2035"/>
          </a:solidFill>
          <a:ln w="12700">
            <a:solidFill>
              <a:srgbClr val="0B203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232136" y="630936"/>
            <a:ext cx="13533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EXPERIMENT DESIGN</a:t>
            </a:r>
            <a:endParaRPr lang="en-US" sz="780" dirty="0"/>
          </a:p>
        </p:txBody>
      </p:sp>
      <p:sp>
        <p:nvSpPr>
          <p:cNvPr id="6" name="Shape 4"/>
          <p:cNvSpPr/>
          <p:nvPr/>
        </p:nvSpPr>
        <p:spPr>
          <a:xfrm>
            <a:off x="521208" y="1389888"/>
            <a:ext cx="1325880" cy="256032"/>
          </a:xfrm>
          <a:prstGeom prst="roundRect">
            <a:avLst>
              <a:gd name="adj" fmla="val 28571"/>
            </a:avLst>
          </a:prstGeom>
          <a:solidFill>
            <a:srgbClr val="2F80ED">
              <a:alpha val="12000"/>
            </a:srgbClr>
          </a:solidFill>
          <a:ln w="12700">
            <a:solidFill>
              <a:srgbClr val="2F80ED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57784" y="1444752"/>
            <a:ext cx="125272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9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16 EXPERIMENT</a:t>
            </a:r>
            <a:endParaRPr lang="en-US" sz="690" dirty="0"/>
          </a:p>
        </p:txBody>
      </p:sp>
      <p:sp>
        <p:nvSpPr>
          <p:cNvPr id="8" name="Shape 6"/>
          <p:cNvSpPr/>
          <p:nvPr/>
        </p:nvSpPr>
        <p:spPr>
          <a:xfrm>
            <a:off x="685800" y="1874520"/>
            <a:ext cx="2971800" cy="356616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0160">
            <a:solidFill>
              <a:srgbClr val="2F80ED"/>
            </a:solidFill>
            <a:prstDash val="solid"/>
          </a:ln>
          <a:effectLst>
            <a:outerShdw sx="100000" sy="100000" kx="0" ky="0" algn="bl" rotWithShape="0" blurRad="15240" dist="8890" dir="27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96112" y="2084832"/>
            <a:ext cx="960120" cy="256032"/>
          </a:xfrm>
          <a:prstGeom prst="roundRect">
            <a:avLst>
              <a:gd name="adj" fmla="val 28571"/>
            </a:avLst>
          </a:prstGeom>
          <a:solidFill>
            <a:srgbClr val="2F80ED">
              <a:alpha val="12000"/>
            </a:srgbClr>
          </a:solidFill>
          <a:ln w="12700">
            <a:solidFill>
              <a:srgbClr val="2F80ED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2688" y="2139696"/>
            <a:ext cx="88696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9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BASELINE</a:t>
            </a:r>
            <a:endParaRPr lang="en-US" sz="690" dirty="0"/>
          </a:p>
        </p:txBody>
      </p:sp>
      <p:sp>
        <p:nvSpPr>
          <p:cNvPr id="11" name="Text 9"/>
          <p:cNvSpPr/>
          <p:nvPr/>
        </p:nvSpPr>
        <p:spPr>
          <a:xfrm>
            <a:off x="896112" y="265176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0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기존 방식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96112" y="3154680"/>
            <a:ext cx="2103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3341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• 수동 점검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3341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• 단일 파일 구조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3341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• 무제한 검색</a:t>
            </a:r>
            <a:endParaRPr lang="en-US" sz="920" dirty="0"/>
          </a:p>
        </p:txBody>
      </p:sp>
      <p:sp>
        <p:nvSpPr>
          <p:cNvPr id="13" name="Shape 11"/>
          <p:cNvSpPr/>
          <p:nvPr/>
        </p:nvSpPr>
        <p:spPr>
          <a:xfrm>
            <a:off x="4608576" y="1874520"/>
            <a:ext cx="2971800" cy="356616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0160">
            <a:solidFill>
              <a:srgbClr val="1BA99A"/>
            </a:solidFill>
            <a:prstDash val="solid"/>
          </a:ln>
          <a:effectLst>
            <a:outerShdw sx="100000" sy="100000" kx="0" ky="0" algn="bl" rotWithShape="0" blurRad="15240" dist="8890" dir="27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818888" y="2084832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1BA99A">
              <a:alpha val="12000"/>
            </a:srgbClr>
          </a:solidFill>
          <a:ln w="12700">
            <a:solidFill>
              <a:srgbClr val="1BA99A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55464" y="2139696"/>
            <a:ext cx="106984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9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PROPOSED</a:t>
            </a:r>
            <a:endParaRPr lang="en-US" sz="690" dirty="0"/>
          </a:p>
        </p:txBody>
      </p:sp>
      <p:sp>
        <p:nvSpPr>
          <p:cNvPr id="16" name="Text 14"/>
          <p:cNvSpPr/>
          <p:nvPr/>
        </p:nvSpPr>
        <p:spPr>
          <a:xfrm>
            <a:off x="4818888" y="265176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0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개선 방식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818888" y="3154680"/>
            <a:ext cx="2103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3341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• 자동화 모니터링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3341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• 계층 분리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3341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• 인덱스 탐색</a:t>
            </a:r>
            <a:endParaRPr lang="en-US" sz="920" dirty="0"/>
          </a:p>
        </p:txBody>
      </p:sp>
      <p:sp>
        <p:nvSpPr>
          <p:cNvPr id="18" name="Shape 16"/>
          <p:cNvSpPr/>
          <p:nvPr/>
        </p:nvSpPr>
        <p:spPr>
          <a:xfrm>
            <a:off x="8531352" y="1874520"/>
            <a:ext cx="2971800" cy="356616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0160">
            <a:solidFill>
              <a:srgbClr val="F3A61D"/>
            </a:solidFill>
            <a:prstDash val="solid"/>
          </a:ln>
          <a:effectLst>
            <a:outerShdw sx="100000" sy="100000" kx="0" ky="0" algn="bl" rotWithShape="0" blurRad="15240" dist="8890" dir="27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741664" y="2084832"/>
            <a:ext cx="914400" cy="256032"/>
          </a:xfrm>
          <a:prstGeom prst="roundRect">
            <a:avLst>
              <a:gd name="adj" fmla="val 28571"/>
            </a:avLst>
          </a:prstGeom>
          <a:solidFill>
            <a:srgbClr val="F3A61D">
              <a:alpha val="12000"/>
            </a:srgbClr>
          </a:solidFill>
          <a:ln w="12700">
            <a:solidFill>
              <a:srgbClr val="F3A61D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778240" y="2139696"/>
            <a:ext cx="84124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9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METRICS</a:t>
            </a:r>
            <a:endParaRPr lang="en-US" sz="690" dirty="0"/>
          </a:p>
        </p:txBody>
      </p:sp>
      <p:sp>
        <p:nvSpPr>
          <p:cNvPr id="21" name="Text 19"/>
          <p:cNvSpPr/>
          <p:nvPr/>
        </p:nvSpPr>
        <p:spPr>
          <a:xfrm>
            <a:off x="8741664" y="265176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0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평가 지표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8759952" y="3182112"/>
            <a:ext cx="987552" cy="256032"/>
          </a:xfrm>
          <a:prstGeom prst="roundRect">
            <a:avLst>
              <a:gd name="adj" fmla="val 21429"/>
            </a:avLst>
          </a:prstGeom>
          <a:solidFill>
            <a:srgbClr val="F6F8FB"/>
          </a:solidFill>
          <a:ln w="6350">
            <a:solidFill>
              <a:srgbClr val="D7DEE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796528" y="3236976"/>
            <a:ext cx="914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12314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Time</a:t>
            </a:r>
            <a:endParaRPr lang="en-US" sz="680" dirty="0"/>
          </a:p>
        </p:txBody>
      </p:sp>
      <p:sp>
        <p:nvSpPr>
          <p:cNvPr id="24" name="Text 22"/>
          <p:cNvSpPr/>
          <p:nvPr/>
        </p:nvSpPr>
        <p:spPr>
          <a:xfrm>
            <a:off x="9921240" y="3246120"/>
            <a:ext cx="7315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B778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sec</a:t>
            </a:r>
            <a:endParaRPr lang="en-US" sz="760" dirty="0"/>
          </a:p>
        </p:txBody>
      </p:sp>
      <p:sp>
        <p:nvSpPr>
          <p:cNvPr id="25" name="Shape 23"/>
          <p:cNvSpPr/>
          <p:nvPr/>
        </p:nvSpPr>
        <p:spPr>
          <a:xfrm>
            <a:off x="8759952" y="3621024"/>
            <a:ext cx="987552" cy="256032"/>
          </a:xfrm>
          <a:prstGeom prst="roundRect">
            <a:avLst>
              <a:gd name="adj" fmla="val 21429"/>
            </a:avLst>
          </a:prstGeom>
          <a:solidFill>
            <a:srgbClr val="F6F8FB"/>
          </a:solidFill>
          <a:ln w="6350">
            <a:solidFill>
              <a:srgbClr val="D7DEE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796528" y="3675888"/>
            <a:ext cx="914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12314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Error</a:t>
            </a:r>
            <a:endParaRPr lang="en-US" sz="680" dirty="0"/>
          </a:p>
        </p:txBody>
      </p:sp>
      <p:sp>
        <p:nvSpPr>
          <p:cNvPr id="27" name="Text 25"/>
          <p:cNvSpPr/>
          <p:nvPr/>
        </p:nvSpPr>
        <p:spPr>
          <a:xfrm>
            <a:off x="9921240" y="3685032"/>
            <a:ext cx="7315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B778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count</a:t>
            </a:r>
            <a:endParaRPr lang="en-US" sz="760" dirty="0"/>
          </a:p>
        </p:txBody>
      </p:sp>
      <p:sp>
        <p:nvSpPr>
          <p:cNvPr id="28" name="Shape 26"/>
          <p:cNvSpPr/>
          <p:nvPr/>
        </p:nvSpPr>
        <p:spPr>
          <a:xfrm>
            <a:off x="8759952" y="4059936"/>
            <a:ext cx="987552" cy="256032"/>
          </a:xfrm>
          <a:prstGeom prst="roundRect">
            <a:avLst>
              <a:gd name="adj" fmla="val 21429"/>
            </a:avLst>
          </a:prstGeom>
          <a:solidFill>
            <a:srgbClr val="F6F8FB"/>
          </a:solidFill>
          <a:ln w="6350">
            <a:solidFill>
              <a:srgbClr val="D7DEE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796528" y="4114800"/>
            <a:ext cx="914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12314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Coverage</a:t>
            </a:r>
            <a:endParaRPr lang="en-US" sz="680" dirty="0"/>
          </a:p>
        </p:txBody>
      </p:sp>
      <p:sp>
        <p:nvSpPr>
          <p:cNvPr id="30" name="Text 28"/>
          <p:cNvSpPr/>
          <p:nvPr/>
        </p:nvSpPr>
        <p:spPr>
          <a:xfrm>
            <a:off x="9921240" y="4123944"/>
            <a:ext cx="7315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B778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%</a:t>
            </a:r>
            <a:endParaRPr lang="en-US" sz="760" dirty="0"/>
          </a:p>
        </p:txBody>
      </p:sp>
      <p:sp>
        <p:nvSpPr>
          <p:cNvPr id="31" name="Shape 29"/>
          <p:cNvSpPr/>
          <p:nvPr/>
        </p:nvSpPr>
        <p:spPr>
          <a:xfrm>
            <a:off x="8759952" y="4498848"/>
            <a:ext cx="987552" cy="256032"/>
          </a:xfrm>
          <a:prstGeom prst="roundRect">
            <a:avLst>
              <a:gd name="adj" fmla="val 21429"/>
            </a:avLst>
          </a:prstGeom>
          <a:solidFill>
            <a:srgbClr val="F6F8FB"/>
          </a:solidFill>
          <a:ln w="6350">
            <a:solidFill>
              <a:srgbClr val="D7DEE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796528" y="4553712"/>
            <a:ext cx="914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12314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Memory</a:t>
            </a:r>
            <a:endParaRPr lang="en-US" sz="680" dirty="0"/>
          </a:p>
        </p:txBody>
      </p:sp>
      <p:sp>
        <p:nvSpPr>
          <p:cNvPr id="33" name="Text 31"/>
          <p:cNvSpPr/>
          <p:nvPr/>
        </p:nvSpPr>
        <p:spPr>
          <a:xfrm>
            <a:off x="9921240" y="4562856"/>
            <a:ext cx="7315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B778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MB</a:t>
            </a:r>
            <a:endParaRPr lang="en-US" sz="760" dirty="0"/>
          </a:p>
        </p:txBody>
      </p:sp>
      <p:sp>
        <p:nvSpPr>
          <p:cNvPr id="34" name="Shape 32"/>
          <p:cNvSpPr/>
          <p:nvPr/>
        </p:nvSpPr>
        <p:spPr>
          <a:xfrm>
            <a:off x="3657600" y="3657600"/>
            <a:ext cx="950976" cy="0"/>
          </a:xfrm>
          <a:prstGeom prst="line">
            <a:avLst/>
          </a:prstGeom>
          <a:noFill/>
          <a:ln w="21590">
            <a:solidFill>
              <a:srgbClr val="2F80ED"/>
            </a:solidFill>
            <a:prstDash val="solid"/>
            <a:headEnd type="none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7580376" y="3657600"/>
            <a:ext cx="950976" cy="0"/>
          </a:xfrm>
          <a:prstGeom prst="line">
            <a:avLst/>
          </a:prstGeom>
          <a:noFill/>
          <a:ln w="21590">
            <a:solidFill>
              <a:srgbClr val="1BA99A"/>
            </a:solidFill>
            <a:prstDash val="solid"/>
            <a:headEnd type="none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530352" y="6007608"/>
            <a:ext cx="11119104" cy="347472"/>
          </a:xfrm>
          <a:prstGeom prst="roundRect">
            <a:avLst>
              <a:gd name="adj" fmla="val 15789"/>
            </a:avLst>
          </a:prstGeom>
          <a:solidFill>
            <a:srgbClr val="FFF5DD"/>
          </a:solidFill>
          <a:ln w="12700">
            <a:solidFill>
              <a:srgbClr val="FFF5D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76656" y="6108192"/>
            <a:ext cx="10835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F3A61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실험 슬라이드에는 데이터 수·반복 횟수·통제 조건을 작은 캡션으로 적어 재현 가능성(Reproducibility)을 높입니다.</a:t>
            </a:r>
            <a:endParaRPr lang="en-US" sz="76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28816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A0AAB6"/>
                </a:solidFill>
                <a:latin typeface="Noto Sans CJK KR"/>
                <a:ea typeface="Noto Sans CJK KR"/>
                <a:cs typeface="Noto Sans CJK KR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21208"/>
            <a:ext cx="8595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720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End-to-End 서비스 다이어그램은 사용자 행동과 내부 시스템 흐름을 한 번에 연결합니다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12064" y="1005840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B778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B7 Term Project에서 “서비스가 실제로 어떻게 완성되는가”를 설명하는 대표 슬라이드입니다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10168128" y="557784"/>
            <a:ext cx="1481328" cy="329184"/>
          </a:xfrm>
          <a:prstGeom prst="roundRect">
            <a:avLst>
              <a:gd name="adj" fmla="val 22222"/>
            </a:avLst>
          </a:prstGeom>
          <a:solidFill>
            <a:srgbClr val="0B2035"/>
          </a:solidFill>
          <a:ln w="12700">
            <a:solidFill>
              <a:srgbClr val="0B203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232136" y="630936"/>
            <a:ext cx="13533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END-TO-END</a:t>
            </a:r>
            <a:endParaRPr lang="en-US" sz="780" dirty="0"/>
          </a:p>
        </p:txBody>
      </p:sp>
      <p:sp>
        <p:nvSpPr>
          <p:cNvPr id="6" name="Shape 4"/>
          <p:cNvSpPr/>
          <p:nvPr/>
        </p:nvSpPr>
        <p:spPr>
          <a:xfrm>
            <a:off x="521208" y="1389888"/>
            <a:ext cx="1325880" cy="256032"/>
          </a:xfrm>
          <a:prstGeom prst="roundRect">
            <a:avLst>
              <a:gd name="adj" fmla="val 28571"/>
            </a:avLst>
          </a:prstGeom>
          <a:solidFill>
            <a:srgbClr val="2F80ED">
              <a:alpha val="12000"/>
            </a:srgbClr>
          </a:solidFill>
          <a:ln w="12700">
            <a:solidFill>
              <a:srgbClr val="2F80ED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57784" y="1444752"/>
            <a:ext cx="125272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9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17 SERVICE FLOW</a:t>
            </a:r>
            <a:endParaRPr lang="en-US" sz="690" dirty="0"/>
          </a:p>
        </p:txBody>
      </p:sp>
      <p:sp>
        <p:nvSpPr>
          <p:cNvPr id="8" name="Shape 6"/>
          <p:cNvSpPr/>
          <p:nvPr/>
        </p:nvSpPr>
        <p:spPr>
          <a:xfrm>
            <a:off x="658368" y="2743200"/>
            <a:ext cx="1481328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0160">
            <a:solidFill>
              <a:srgbClr val="2F80E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86384" y="2880360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86384" y="2926080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344168" y="2862072"/>
            <a:ext cx="676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720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USER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344168" y="3090672"/>
            <a:ext cx="6766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6B778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1. 요청</a:t>
            </a:r>
            <a:endParaRPr lang="en-US" sz="740" dirty="0"/>
          </a:p>
        </p:txBody>
      </p:sp>
      <p:sp>
        <p:nvSpPr>
          <p:cNvPr id="13" name="Shape 11"/>
          <p:cNvSpPr/>
          <p:nvPr/>
        </p:nvSpPr>
        <p:spPr>
          <a:xfrm>
            <a:off x="2139696" y="3218688"/>
            <a:ext cx="393192" cy="0"/>
          </a:xfrm>
          <a:prstGeom prst="line">
            <a:avLst/>
          </a:prstGeom>
          <a:noFill/>
          <a:ln w="22860">
            <a:solidFill>
              <a:srgbClr val="2F80ED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2532888" y="2743200"/>
            <a:ext cx="1481328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0160">
            <a:solidFill>
              <a:srgbClr val="12314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660904" y="2880360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12314E"/>
          </a:solidFill>
          <a:ln w="12700">
            <a:solidFill>
              <a:srgbClr val="12314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660904" y="2926080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218688" y="2862072"/>
            <a:ext cx="676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720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WEB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218688" y="3090672"/>
            <a:ext cx="6766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6B778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2. UI / Auth</a:t>
            </a:r>
            <a:endParaRPr lang="en-US" sz="740" dirty="0"/>
          </a:p>
        </p:txBody>
      </p:sp>
      <p:sp>
        <p:nvSpPr>
          <p:cNvPr id="19" name="Shape 17"/>
          <p:cNvSpPr/>
          <p:nvPr/>
        </p:nvSpPr>
        <p:spPr>
          <a:xfrm>
            <a:off x="4014216" y="3218688"/>
            <a:ext cx="393192" cy="0"/>
          </a:xfrm>
          <a:prstGeom prst="line">
            <a:avLst/>
          </a:prstGeom>
          <a:noFill/>
          <a:ln w="22860">
            <a:solidFill>
              <a:srgbClr val="12314E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4407408" y="2743200"/>
            <a:ext cx="1481328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0160">
            <a:solidFill>
              <a:srgbClr val="7B61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35424" y="2880360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35424" y="2926080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093208" y="2862072"/>
            <a:ext cx="676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720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API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093208" y="3090672"/>
            <a:ext cx="6766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6B778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3. Validate</a:t>
            </a:r>
            <a:endParaRPr lang="en-US" sz="740" dirty="0"/>
          </a:p>
        </p:txBody>
      </p:sp>
      <p:sp>
        <p:nvSpPr>
          <p:cNvPr id="25" name="Shape 23"/>
          <p:cNvSpPr/>
          <p:nvPr/>
        </p:nvSpPr>
        <p:spPr>
          <a:xfrm>
            <a:off x="5888736" y="3218688"/>
            <a:ext cx="393192" cy="0"/>
          </a:xfrm>
          <a:prstGeom prst="line">
            <a:avLst/>
          </a:prstGeom>
          <a:noFill/>
          <a:ln w="22860">
            <a:solidFill>
              <a:srgbClr val="7B61FF"/>
            </a:solidFill>
            <a:prstDash val="solid"/>
            <a:headEnd type="none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6281928" y="2743200"/>
            <a:ext cx="1481328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0160">
            <a:solidFill>
              <a:srgbClr val="F3A61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409944" y="2880360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F3A61D"/>
          </a:solidFill>
          <a:ln w="12700">
            <a:solidFill>
              <a:srgbClr val="F3A61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9944" y="2926080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4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967728" y="2862072"/>
            <a:ext cx="676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720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AI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967728" y="3090672"/>
            <a:ext cx="6766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6B778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4. Inference</a:t>
            </a:r>
            <a:endParaRPr lang="en-US" sz="740" dirty="0"/>
          </a:p>
        </p:txBody>
      </p:sp>
      <p:sp>
        <p:nvSpPr>
          <p:cNvPr id="31" name="Shape 29"/>
          <p:cNvSpPr/>
          <p:nvPr/>
        </p:nvSpPr>
        <p:spPr>
          <a:xfrm>
            <a:off x="7763256" y="3218688"/>
            <a:ext cx="393192" cy="0"/>
          </a:xfrm>
          <a:prstGeom prst="line">
            <a:avLst/>
          </a:prstGeom>
          <a:noFill/>
          <a:ln w="22860">
            <a:solidFill>
              <a:srgbClr val="F3A61D"/>
            </a:solidFill>
            <a:prstDash val="solid"/>
            <a:headEnd type="none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8156448" y="2743200"/>
            <a:ext cx="1481328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0160">
            <a:solidFill>
              <a:srgbClr val="1BA99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284464" y="2880360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1BA99A"/>
          </a:solidFill>
          <a:ln w="12700">
            <a:solidFill>
              <a:srgbClr val="1BA99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284464" y="2926080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5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8842248" y="2862072"/>
            <a:ext cx="676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720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DB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8842248" y="3090672"/>
            <a:ext cx="6766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6B778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5. Persist</a:t>
            </a:r>
            <a:endParaRPr lang="en-US" sz="740" dirty="0"/>
          </a:p>
        </p:txBody>
      </p:sp>
      <p:sp>
        <p:nvSpPr>
          <p:cNvPr id="37" name="Shape 35"/>
          <p:cNvSpPr/>
          <p:nvPr/>
        </p:nvSpPr>
        <p:spPr>
          <a:xfrm>
            <a:off x="9637776" y="3218688"/>
            <a:ext cx="393192" cy="0"/>
          </a:xfrm>
          <a:prstGeom prst="line">
            <a:avLst/>
          </a:prstGeom>
          <a:noFill/>
          <a:ln w="22860">
            <a:solidFill>
              <a:srgbClr val="1BA99A"/>
            </a:solidFill>
            <a:prstDash val="solid"/>
            <a:headEnd type="none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10030968" y="2743200"/>
            <a:ext cx="1481328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0160">
            <a:solidFill>
              <a:srgbClr val="2FA66A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0158984" y="2880360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A66A"/>
          </a:solidFill>
          <a:ln w="12700">
            <a:solidFill>
              <a:srgbClr val="2FA66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0158984" y="2926080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6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10716768" y="2862072"/>
            <a:ext cx="676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720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RESULT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10716768" y="3090672"/>
            <a:ext cx="6766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6B778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6. Response</a:t>
            </a:r>
            <a:endParaRPr lang="en-US" sz="740" dirty="0"/>
          </a:p>
        </p:txBody>
      </p:sp>
      <p:sp>
        <p:nvSpPr>
          <p:cNvPr id="43" name="Shape 41"/>
          <p:cNvSpPr/>
          <p:nvPr/>
        </p:nvSpPr>
        <p:spPr>
          <a:xfrm>
            <a:off x="1005840" y="4434840"/>
            <a:ext cx="10058400" cy="749808"/>
          </a:xfrm>
          <a:prstGeom prst="roundRect">
            <a:avLst>
              <a:gd name="adj" fmla="val 9756"/>
            </a:avLst>
          </a:prstGeom>
          <a:solidFill>
            <a:srgbClr val="F4F7FA"/>
          </a:solidFill>
          <a:ln w="10160">
            <a:solidFill>
              <a:srgbClr val="D7DEE8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188720" y="4663440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2FA66A">
              <a:alpha val="12000"/>
            </a:srgbClr>
          </a:solidFill>
          <a:ln w="12700">
            <a:solidFill>
              <a:srgbClr val="2FA66A">
                <a:alpha val="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225296" y="4718304"/>
            <a:ext cx="74980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9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EVIDENCE</a:t>
            </a:r>
            <a:endParaRPr lang="en-US" sz="690" dirty="0"/>
          </a:p>
        </p:txBody>
      </p:sp>
      <p:sp>
        <p:nvSpPr>
          <p:cNvPr id="46" name="Text 44"/>
          <p:cNvSpPr/>
          <p:nvPr/>
        </p:nvSpPr>
        <p:spPr>
          <a:xfrm>
            <a:off x="2240280" y="4709160"/>
            <a:ext cx="12344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3341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URL / HTTP 200</a:t>
            </a:r>
            <a:endParaRPr lang="en-US" sz="760" dirty="0"/>
          </a:p>
        </p:txBody>
      </p:sp>
      <p:sp>
        <p:nvSpPr>
          <p:cNvPr id="47" name="Text 45"/>
          <p:cNvSpPr/>
          <p:nvPr/>
        </p:nvSpPr>
        <p:spPr>
          <a:xfrm>
            <a:off x="3886200" y="4709160"/>
            <a:ext cx="1298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3341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Auth owner check</a:t>
            </a:r>
            <a:endParaRPr lang="en-US" sz="760" dirty="0"/>
          </a:p>
        </p:txBody>
      </p:sp>
      <p:sp>
        <p:nvSpPr>
          <p:cNvPr id="48" name="Text 46"/>
          <p:cNvSpPr/>
          <p:nvPr/>
        </p:nvSpPr>
        <p:spPr>
          <a:xfrm>
            <a:off x="5532120" y="4709160"/>
            <a:ext cx="1298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3341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AI response log</a:t>
            </a:r>
            <a:endParaRPr lang="en-US" sz="760" dirty="0"/>
          </a:p>
        </p:txBody>
      </p:sp>
      <p:sp>
        <p:nvSpPr>
          <p:cNvPr id="49" name="Text 47"/>
          <p:cNvSpPr/>
          <p:nvPr/>
        </p:nvSpPr>
        <p:spPr>
          <a:xfrm>
            <a:off x="7178040" y="4709160"/>
            <a:ext cx="1298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3341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DB row / ERD</a:t>
            </a:r>
            <a:endParaRPr lang="en-US" sz="760" dirty="0"/>
          </a:p>
        </p:txBody>
      </p:sp>
      <p:sp>
        <p:nvSpPr>
          <p:cNvPr id="50" name="Text 48"/>
          <p:cNvSpPr/>
          <p:nvPr/>
        </p:nvSpPr>
        <p:spPr>
          <a:xfrm>
            <a:off x="8823960" y="4709160"/>
            <a:ext cx="1298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3341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Deployed URL</a:t>
            </a:r>
            <a:endParaRPr lang="en-US" sz="760" dirty="0"/>
          </a:p>
        </p:txBody>
      </p:sp>
      <p:sp>
        <p:nvSpPr>
          <p:cNvPr id="51" name="Shape 49"/>
          <p:cNvSpPr/>
          <p:nvPr/>
        </p:nvSpPr>
        <p:spPr>
          <a:xfrm>
            <a:off x="530352" y="6007608"/>
            <a:ext cx="11119104" cy="347472"/>
          </a:xfrm>
          <a:prstGeom prst="roundRect">
            <a:avLst>
              <a:gd name="adj" fmla="val 15789"/>
            </a:avLst>
          </a:prstGeom>
          <a:solidFill>
            <a:srgbClr val="EAF7EF"/>
          </a:solidFill>
          <a:ln w="12700">
            <a:solidFill>
              <a:srgbClr val="EAF7EF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76656" y="6108192"/>
            <a:ext cx="10835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2FA66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서비스 흐름 아래에 실제 증빙 포인트를 나란히 두면 “기능 설명”과 “검증 결과”가 한 장에서 연결됩니다.</a:t>
            </a:r>
            <a:endParaRPr lang="en-US" sz="76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28816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A0AAB6"/>
                </a:solidFill>
                <a:latin typeface="Noto Sans CJK KR"/>
                <a:ea typeface="Noto Sans CJK KR"/>
                <a:cs typeface="Noto Sans CJK KR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21208"/>
            <a:ext cx="8595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720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다이어그램 스타일 가이드는 모든 미션 발표의 시각 문법을 고정합니다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12064" y="1005840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B778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색·선·경계·노드·라벨의 의미를 바꾸지 않아야 발표 전체가 하나의 시스템처럼 보입니다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10168128" y="557784"/>
            <a:ext cx="1481328" cy="329184"/>
          </a:xfrm>
          <a:prstGeom prst="roundRect">
            <a:avLst>
              <a:gd name="adj" fmla="val 22222"/>
            </a:avLst>
          </a:prstGeom>
          <a:solidFill>
            <a:srgbClr val="0B2035"/>
          </a:solidFill>
          <a:ln w="12700">
            <a:solidFill>
              <a:srgbClr val="0B203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232136" y="630936"/>
            <a:ext cx="13533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STYLE GUIDE</a:t>
            </a:r>
            <a:endParaRPr lang="en-US" sz="780" dirty="0"/>
          </a:p>
        </p:txBody>
      </p:sp>
      <p:sp>
        <p:nvSpPr>
          <p:cNvPr id="6" name="Shape 4"/>
          <p:cNvSpPr/>
          <p:nvPr/>
        </p:nvSpPr>
        <p:spPr>
          <a:xfrm>
            <a:off x="521208" y="1389888"/>
            <a:ext cx="1325880" cy="256032"/>
          </a:xfrm>
          <a:prstGeom prst="roundRect">
            <a:avLst>
              <a:gd name="adj" fmla="val 28571"/>
            </a:avLst>
          </a:prstGeom>
          <a:solidFill>
            <a:srgbClr val="2F80ED">
              <a:alpha val="12000"/>
            </a:srgbClr>
          </a:solidFill>
          <a:ln w="12700">
            <a:solidFill>
              <a:srgbClr val="2F80ED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57784" y="1444752"/>
            <a:ext cx="125272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9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18 STYLE</a:t>
            </a:r>
            <a:endParaRPr lang="en-US" sz="690" dirty="0"/>
          </a:p>
        </p:txBody>
      </p:sp>
      <p:sp>
        <p:nvSpPr>
          <p:cNvPr id="8" name="Shape 6"/>
          <p:cNvSpPr/>
          <p:nvPr/>
        </p:nvSpPr>
        <p:spPr>
          <a:xfrm>
            <a:off x="676656" y="1828800"/>
            <a:ext cx="3154680" cy="658368"/>
          </a:xfrm>
          <a:prstGeom prst="roundRect">
            <a:avLst>
              <a:gd name="adj" fmla="val 9722"/>
            </a:avLst>
          </a:prstGeom>
          <a:solidFill>
            <a:srgbClr val="EAF3FF"/>
          </a:solidFill>
          <a:ln w="10160">
            <a:solidFill>
              <a:srgbClr val="2F80E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41248" y="1975104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62456" y="2048256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Application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288536" y="1828800"/>
            <a:ext cx="3154680" cy="658368"/>
          </a:xfrm>
          <a:prstGeom prst="roundRect">
            <a:avLst>
              <a:gd name="adj" fmla="val 9722"/>
            </a:avLst>
          </a:prstGeom>
          <a:solidFill>
            <a:srgbClr val="EDF3F8"/>
          </a:solidFill>
          <a:ln w="10160">
            <a:solidFill>
              <a:srgbClr val="12314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453128" y="1975104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12314E"/>
          </a:solidFill>
          <a:ln w="12700">
            <a:solidFill>
              <a:srgbClr val="12314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74336" y="2048256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Platform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7900416" y="1828800"/>
            <a:ext cx="3154680" cy="658368"/>
          </a:xfrm>
          <a:prstGeom prst="roundRect">
            <a:avLst>
              <a:gd name="adj" fmla="val 9722"/>
            </a:avLst>
          </a:prstGeom>
          <a:solidFill>
            <a:srgbClr val="E8F8F5"/>
          </a:solidFill>
          <a:ln w="10160">
            <a:solidFill>
              <a:srgbClr val="1BA99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065008" y="1975104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1BA99A"/>
          </a:solidFill>
          <a:ln w="12700">
            <a:solidFill>
              <a:srgbClr val="1BA99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86216" y="2048256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Data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676656" y="2743200"/>
            <a:ext cx="3154680" cy="658368"/>
          </a:xfrm>
          <a:prstGeom prst="roundRect">
            <a:avLst>
              <a:gd name="adj" fmla="val 9722"/>
            </a:avLst>
          </a:prstGeom>
          <a:solidFill>
            <a:srgbClr val="FFF5DD"/>
          </a:solidFill>
          <a:ln w="10160">
            <a:solidFill>
              <a:srgbClr val="F3A61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41248" y="2889504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F3A61D"/>
          </a:solidFill>
          <a:ln w="12700">
            <a:solidFill>
              <a:srgbClr val="F3A61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362456" y="2962656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External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288536" y="2743200"/>
            <a:ext cx="3154680" cy="658368"/>
          </a:xfrm>
          <a:prstGeom prst="roundRect">
            <a:avLst>
              <a:gd name="adj" fmla="val 9722"/>
            </a:avLst>
          </a:prstGeom>
          <a:solidFill>
            <a:srgbClr val="FDEDEC"/>
          </a:solidFill>
          <a:ln w="10160">
            <a:solidFill>
              <a:srgbClr val="D95D5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453128" y="2889504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D95D58"/>
          </a:solidFill>
          <a:ln w="12700">
            <a:solidFill>
              <a:srgbClr val="D95D5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74336" y="2962656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Failure / Security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900416" y="2743200"/>
            <a:ext cx="3154680" cy="658368"/>
          </a:xfrm>
          <a:prstGeom prst="roundRect">
            <a:avLst>
              <a:gd name="adj" fmla="val 9722"/>
            </a:avLst>
          </a:prstGeom>
          <a:solidFill>
            <a:srgbClr val="EAF7EF"/>
          </a:solidFill>
          <a:ln w="10160">
            <a:solidFill>
              <a:srgbClr val="2FA66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065008" y="2889504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2FA66A"/>
          </a:solidFill>
          <a:ln w="12700">
            <a:solidFill>
              <a:srgbClr val="2FA66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586216" y="2962656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Success / Evidence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676656" y="3822192"/>
            <a:ext cx="3154680" cy="1261872"/>
          </a:xfrm>
          <a:prstGeom prst="roundRect">
            <a:avLst>
              <a:gd name="adj" fmla="val 7246"/>
            </a:avLst>
          </a:prstGeom>
          <a:solidFill>
            <a:srgbClr val="FFFFFF"/>
          </a:solidFill>
          <a:ln w="10160">
            <a:solidFill>
              <a:srgbClr val="D7DEE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77824" y="4023360"/>
            <a:ext cx="731520" cy="256032"/>
          </a:xfrm>
          <a:prstGeom prst="roundRect">
            <a:avLst>
              <a:gd name="adj" fmla="val 28571"/>
            </a:avLst>
          </a:prstGeom>
          <a:solidFill>
            <a:srgbClr val="2F80ED">
              <a:alpha val="12000"/>
            </a:srgbClr>
          </a:solidFill>
          <a:ln w="12700">
            <a:solidFill>
              <a:srgbClr val="2F80ED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14400" y="4078224"/>
            <a:ext cx="65836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9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LINES</a:t>
            </a:r>
            <a:endParaRPr lang="en-US" sz="690" dirty="0"/>
          </a:p>
        </p:txBody>
      </p:sp>
      <p:sp>
        <p:nvSpPr>
          <p:cNvPr id="29" name="Shape 27"/>
          <p:cNvSpPr/>
          <p:nvPr/>
        </p:nvSpPr>
        <p:spPr>
          <a:xfrm>
            <a:off x="914400" y="4754880"/>
            <a:ext cx="1097280" cy="0"/>
          </a:xfrm>
          <a:prstGeom prst="line">
            <a:avLst/>
          </a:prstGeom>
          <a:noFill/>
          <a:ln w="22860">
            <a:solidFill>
              <a:srgbClr val="2F80ED"/>
            </a:solidFill>
            <a:prstDash val="solid"/>
            <a:headEnd type="none"/>
            <a:tailEnd type="triangle"/>
          </a:ln>
        </p:spPr>
      </p:sp>
      <p:sp>
        <p:nvSpPr>
          <p:cNvPr id="30" name="Text 28"/>
          <p:cNvSpPr/>
          <p:nvPr/>
        </p:nvSpPr>
        <p:spPr>
          <a:xfrm>
            <a:off x="2157984" y="4663440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3341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실선 = 주 흐름</a:t>
            </a:r>
            <a:endParaRPr lang="en-US" sz="730" dirty="0"/>
          </a:p>
        </p:txBody>
      </p:sp>
      <p:sp>
        <p:nvSpPr>
          <p:cNvPr id="31" name="Shape 29"/>
          <p:cNvSpPr/>
          <p:nvPr/>
        </p:nvSpPr>
        <p:spPr>
          <a:xfrm>
            <a:off x="914400" y="5029200"/>
            <a:ext cx="1097280" cy="0"/>
          </a:xfrm>
          <a:prstGeom prst="line">
            <a:avLst/>
          </a:prstGeom>
          <a:noFill/>
          <a:ln w="19050">
            <a:solidFill>
              <a:srgbClr val="6B7785"/>
            </a:solidFill>
            <a:prstDash val="solid"/>
            <a:headEnd type="none"/>
            <a:tailEnd type="triangle"/>
          </a:ln>
        </p:spPr>
      </p:sp>
      <p:sp>
        <p:nvSpPr>
          <p:cNvPr id="32" name="Text 30"/>
          <p:cNvSpPr/>
          <p:nvPr/>
        </p:nvSpPr>
        <p:spPr>
          <a:xfrm>
            <a:off x="2157984" y="4937760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3341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점선 = 외부 / 선택</a:t>
            </a:r>
            <a:endParaRPr lang="en-US" sz="730" dirty="0"/>
          </a:p>
        </p:txBody>
      </p:sp>
      <p:sp>
        <p:nvSpPr>
          <p:cNvPr id="33" name="Shape 31"/>
          <p:cNvSpPr/>
          <p:nvPr/>
        </p:nvSpPr>
        <p:spPr>
          <a:xfrm>
            <a:off x="4151376" y="3822192"/>
            <a:ext cx="3154680" cy="1261872"/>
          </a:xfrm>
          <a:prstGeom prst="roundRect">
            <a:avLst>
              <a:gd name="adj" fmla="val 7246"/>
            </a:avLst>
          </a:prstGeom>
          <a:solidFill>
            <a:srgbClr val="FFFFFF"/>
          </a:solidFill>
          <a:ln w="10160">
            <a:solidFill>
              <a:srgbClr val="D7DEE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352544" y="4023360"/>
            <a:ext cx="914400" cy="256032"/>
          </a:xfrm>
          <a:prstGeom prst="roundRect">
            <a:avLst>
              <a:gd name="adj" fmla="val 28571"/>
            </a:avLst>
          </a:prstGeom>
          <a:solidFill>
            <a:srgbClr val="D95D58">
              <a:alpha val="12000"/>
            </a:srgbClr>
          </a:solidFill>
          <a:ln w="12700">
            <a:solidFill>
              <a:srgbClr val="D95D58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389120" y="4078224"/>
            <a:ext cx="84124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9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BOUNDARY</a:t>
            </a:r>
            <a:endParaRPr lang="en-US" sz="690" dirty="0"/>
          </a:p>
        </p:txBody>
      </p:sp>
      <p:sp>
        <p:nvSpPr>
          <p:cNvPr id="36" name="Shape 34"/>
          <p:cNvSpPr/>
          <p:nvPr/>
        </p:nvSpPr>
        <p:spPr>
          <a:xfrm>
            <a:off x="4498848" y="4480560"/>
            <a:ext cx="96012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5240">
            <a:solidFill>
              <a:srgbClr val="D95D5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32704" y="4553712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dirty="0">
                <a:solidFill>
                  <a:srgbClr val="3341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경계는 점선 박스 + 라벨</a:t>
            </a:r>
            <a:endParaRPr lang="en-US" sz="730" dirty="0"/>
          </a:p>
        </p:txBody>
      </p:sp>
      <p:sp>
        <p:nvSpPr>
          <p:cNvPr id="38" name="Shape 36"/>
          <p:cNvSpPr/>
          <p:nvPr/>
        </p:nvSpPr>
        <p:spPr>
          <a:xfrm>
            <a:off x="7626096" y="3822192"/>
            <a:ext cx="3154680" cy="1261872"/>
          </a:xfrm>
          <a:prstGeom prst="roundRect">
            <a:avLst>
              <a:gd name="adj" fmla="val 7246"/>
            </a:avLst>
          </a:prstGeom>
          <a:solidFill>
            <a:srgbClr val="FFFFFF"/>
          </a:solidFill>
          <a:ln w="10160">
            <a:solidFill>
              <a:srgbClr val="D7DEE8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827264" y="4023360"/>
            <a:ext cx="731520" cy="256032"/>
          </a:xfrm>
          <a:prstGeom prst="roundRect">
            <a:avLst>
              <a:gd name="adj" fmla="val 28571"/>
            </a:avLst>
          </a:prstGeom>
          <a:solidFill>
            <a:srgbClr val="1BA99A">
              <a:alpha val="12000"/>
            </a:srgbClr>
          </a:solidFill>
          <a:ln w="12700">
            <a:solidFill>
              <a:srgbClr val="1BA99A">
                <a:alpha val="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863840" y="4078224"/>
            <a:ext cx="65836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9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LABEL</a:t>
            </a:r>
            <a:endParaRPr lang="en-US" sz="690" dirty="0"/>
          </a:p>
        </p:txBody>
      </p:sp>
      <p:sp>
        <p:nvSpPr>
          <p:cNvPr id="41" name="Shape 39"/>
          <p:cNvSpPr/>
          <p:nvPr/>
        </p:nvSpPr>
        <p:spPr>
          <a:xfrm>
            <a:off x="7882128" y="4526280"/>
            <a:ext cx="1024128" cy="256032"/>
          </a:xfrm>
          <a:prstGeom prst="roundRect">
            <a:avLst>
              <a:gd name="adj" fmla="val 21429"/>
            </a:avLst>
          </a:prstGeom>
          <a:solidFill>
            <a:srgbClr val="EAF3FF"/>
          </a:solidFill>
          <a:ln w="6350">
            <a:solidFill>
              <a:srgbClr val="D7DEE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918704" y="4581144"/>
            <a:ext cx="9509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0E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HTTPS</a:t>
            </a:r>
            <a:endParaRPr lang="en-US" sz="680" dirty="0"/>
          </a:p>
        </p:txBody>
      </p:sp>
      <p:sp>
        <p:nvSpPr>
          <p:cNvPr id="43" name="Shape 41"/>
          <p:cNvSpPr/>
          <p:nvPr/>
        </p:nvSpPr>
        <p:spPr>
          <a:xfrm>
            <a:off x="9034272" y="4526280"/>
            <a:ext cx="1097280" cy="256032"/>
          </a:xfrm>
          <a:prstGeom prst="roundRect">
            <a:avLst>
              <a:gd name="adj" fmla="val 21429"/>
            </a:avLst>
          </a:prstGeom>
          <a:solidFill>
            <a:srgbClr val="F0EDFF"/>
          </a:solidFill>
          <a:ln w="6350">
            <a:solidFill>
              <a:srgbClr val="D7DEE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9070848" y="4581144"/>
            <a:ext cx="10241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7B61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AuthZ</a:t>
            </a:r>
            <a:endParaRPr lang="en-US" sz="680" dirty="0"/>
          </a:p>
        </p:txBody>
      </p:sp>
      <p:sp>
        <p:nvSpPr>
          <p:cNvPr id="45" name="Text 43"/>
          <p:cNvSpPr/>
          <p:nvPr/>
        </p:nvSpPr>
        <p:spPr>
          <a:xfrm>
            <a:off x="7909560" y="4937760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dirty="0">
                <a:solidFill>
                  <a:srgbClr val="3341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조건·프로토콜은 화살표 옆 라벨</a:t>
            </a:r>
            <a:endParaRPr lang="en-US" sz="730" dirty="0"/>
          </a:p>
        </p:txBody>
      </p:sp>
      <p:sp>
        <p:nvSpPr>
          <p:cNvPr id="46" name="Shape 44"/>
          <p:cNvSpPr/>
          <p:nvPr/>
        </p:nvSpPr>
        <p:spPr>
          <a:xfrm>
            <a:off x="530352" y="6007608"/>
            <a:ext cx="11119104" cy="347472"/>
          </a:xfrm>
          <a:prstGeom prst="roundRect">
            <a:avLst>
              <a:gd name="adj" fmla="val 15789"/>
            </a:avLst>
          </a:prstGeom>
          <a:solidFill>
            <a:srgbClr val="EAF3FF"/>
          </a:solidFill>
          <a:ln w="12700">
            <a:solidFill>
              <a:srgbClr val="EAF3F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76656" y="6108192"/>
            <a:ext cx="10835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2F80E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접근성: 색상만으로 의미를 구분하지 말고 텍스트 라벨·경계·선 형태를 함께 사용합니다.</a:t>
            </a:r>
            <a:endParaRPr lang="en-US" sz="76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28816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A0AAB6"/>
                </a:solidFill>
                <a:latin typeface="Noto Sans CJK KR"/>
                <a:ea typeface="Noto Sans CJK KR"/>
                <a:cs typeface="Noto Sans CJK KR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21208"/>
            <a:ext cx="8595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720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다이어그램 생성 프롬프트는 “목적 + 독자 + 구조 + 증빙 + 디자인 규칙”으로 작성합니다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12064" y="1005840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B778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새 미션 발표를 만들 때 아래 프롬프트를 복사해 다이어그램 초안을 설계합니다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10168128" y="557784"/>
            <a:ext cx="1481328" cy="329184"/>
          </a:xfrm>
          <a:prstGeom prst="roundRect">
            <a:avLst>
              <a:gd name="adj" fmla="val 22222"/>
            </a:avLst>
          </a:prstGeom>
          <a:solidFill>
            <a:srgbClr val="0B2035"/>
          </a:solidFill>
          <a:ln w="12700">
            <a:solidFill>
              <a:srgbClr val="0B203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232136" y="630936"/>
            <a:ext cx="13533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MASTER PROMPT</a:t>
            </a:r>
            <a:endParaRPr lang="en-US" sz="780" dirty="0"/>
          </a:p>
        </p:txBody>
      </p:sp>
      <p:sp>
        <p:nvSpPr>
          <p:cNvPr id="6" name="Shape 4"/>
          <p:cNvSpPr/>
          <p:nvPr/>
        </p:nvSpPr>
        <p:spPr>
          <a:xfrm>
            <a:off x="521208" y="1389888"/>
            <a:ext cx="1325880" cy="256032"/>
          </a:xfrm>
          <a:prstGeom prst="roundRect">
            <a:avLst>
              <a:gd name="adj" fmla="val 28571"/>
            </a:avLst>
          </a:prstGeom>
          <a:solidFill>
            <a:srgbClr val="2F80ED">
              <a:alpha val="12000"/>
            </a:srgbClr>
          </a:solidFill>
          <a:ln w="12700">
            <a:solidFill>
              <a:srgbClr val="2F80ED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57784" y="1444752"/>
            <a:ext cx="125272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9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19 PROMPT</a:t>
            </a:r>
            <a:endParaRPr lang="en-US" sz="690" dirty="0"/>
          </a:p>
        </p:txBody>
      </p:sp>
      <p:sp>
        <p:nvSpPr>
          <p:cNvPr id="8" name="Shape 6"/>
          <p:cNvSpPr/>
          <p:nvPr/>
        </p:nvSpPr>
        <p:spPr>
          <a:xfrm>
            <a:off x="658368" y="1783080"/>
            <a:ext cx="7543800" cy="4160520"/>
          </a:xfrm>
          <a:prstGeom prst="roundRect">
            <a:avLst>
              <a:gd name="adj" fmla="val 2198"/>
            </a:avLst>
          </a:prstGeom>
          <a:solidFill>
            <a:srgbClr val="071827"/>
          </a:solidFill>
          <a:ln w="10160">
            <a:solidFill>
              <a:srgbClr val="07182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048256"/>
            <a:ext cx="7059168" cy="3611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DDE8F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[역할] 기술 발표 시각화 설계자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DE8F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[대상] 코디세이 {MISSION_ID} 평가 / 학부 / 대학원 / 학회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DE8F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[목표] 평가자가 10초 안에 구조와 핵심 판단을 이해하도록 한다.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DE8F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[입력]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DE8F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- 공식 요구사항: {REQ}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DE8F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- 구현 구조: {ARCH}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DE8F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- 실제 검증: {VERIFY}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DE8F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- 증빙: {EVIDENCE}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DE8F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[출력]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DE8F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1. 가장 적합한 다이어그램 유형 1개 선택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DE8F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2. 노드 4~7개, 한 노드 한 책임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DE8F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3. 실선=주 흐름, 점선=외부/선택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DE8F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4. 보안/외부 경계 분리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DE8F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5. 제목은 결론형 문장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DE8F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6. 하단에 검증·Evidence 1줄 연결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DE8F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7. 16:9 PowerPoint 편집 가능한 벡터 구성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8503920" y="1783080"/>
            <a:ext cx="2999232" cy="4160520"/>
          </a:xfrm>
          <a:prstGeom prst="roundRect">
            <a:avLst>
              <a:gd name="adj" fmla="val 3049"/>
            </a:avLst>
          </a:prstGeom>
          <a:solidFill>
            <a:srgbClr val="FFFFFF"/>
          </a:solidFill>
          <a:ln w="10160">
            <a:solidFill>
              <a:srgbClr val="2F80ED"/>
            </a:solidFill>
            <a:prstDash val="solid"/>
          </a:ln>
          <a:effectLst>
            <a:outerShdw sx="100000" sy="100000" kx="0" ky="0" algn="bl" rotWithShape="0" blurRad="15240" dist="8890" dir="27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8732520" y="2011680"/>
            <a:ext cx="1051560" cy="256032"/>
          </a:xfrm>
          <a:prstGeom prst="roundRect">
            <a:avLst>
              <a:gd name="adj" fmla="val 28571"/>
            </a:avLst>
          </a:prstGeom>
          <a:solidFill>
            <a:srgbClr val="2F80ED">
              <a:alpha val="12000"/>
            </a:srgbClr>
          </a:solidFill>
          <a:ln w="12700">
            <a:solidFill>
              <a:srgbClr val="2F80ED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769096" y="2066544"/>
            <a:ext cx="97840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9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CHECKLIST</a:t>
            </a:r>
            <a:endParaRPr lang="en-US" sz="690" dirty="0"/>
          </a:p>
        </p:txBody>
      </p:sp>
      <p:sp>
        <p:nvSpPr>
          <p:cNvPr id="13" name="Text 11"/>
          <p:cNvSpPr/>
          <p:nvPr/>
        </p:nvSpPr>
        <p:spPr>
          <a:xfrm>
            <a:off x="8759952" y="2596896"/>
            <a:ext cx="2331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10" b="1" dirty="0">
                <a:solidFill>
                  <a:srgbClr val="1720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□ 한 장 한 메시지</a:t>
            </a:r>
            <a:endParaRPr lang="en-US" sz="810" dirty="0"/>
          </a:p>
        </p:txBody>
      </p:sp>
      <p:sp>
        <p:nvSpPr>
          <p:cNvPr id="14" name="Text 12"/>
          <p:cNvSpPr/>
          <p:nvPr/>
        </p:nvSpPr>
        <p:spPr>
          <a:xfrm>
            <a:off x="8759952" y="2953512"/>
            <a:ext cx="2331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10" b="1" dirty="0">
                <a:solidFill>
                  <a:srgbClr val="1720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□ 제목이 결론</a:t>
            </a:r>
            <a:endParaRPr lang="en-US" sz="810" dirty="0"/>
          </a:p>
        </p:txBody>
      </p:sp>
      <p:sp>
        <p:nvSpPr>
          <p:cNvPr id="15" name="Text 13"/>
          <p:cNvSpPr/>
          <p:nvPr/>
        </p:nvSpPr>
        <p:spPr>
          <a:xfrm>
            <a:off x="8759952" y="3310128"/>
            <a:ext cx="2331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10" dirty="0">
                <a:solidFill>
                  <a:srgbClr val="3341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□ 노드 4~7개</a:t>
            </a:r>
            <a:endParaRPr lang="en-US" sz="810" dirty="0"/>
          </a:p>
        </p:txBody>
      </p:sp>
      <p:sp>
        <p:nvSpPr>
          <p:cNvPr id="16" name="Text 14"/>
          <p:cNvSpPr/>
          <p:nvPr/>
        </p:nvSpPr>
        <p:spPr>
          <a:xfrm>
            <a:off x="8759952" y="3666744"/>
            <a:ext cx="2331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10" dirty="0">
                <a:solidFill>
                  <a:srgbClr val="3341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□ 책임 1줄</a:t>
            </a:r>
            <a:endParaRPr lang="en-US" sz="810" dirty="0"/>
          </a:p>
        </p:txBody>
      </p:sp>
      <p:sp>
        <p:nvSpPr>
          <p:cNvPr id="17" name="Text 15"/>
          <p:cNvSpPr/>
          <p:nvPr/>
        </p:nvSpPr>
        <p:spPr>
          <a:xfrm>
            <a:off x="8759952" y="4023360"/>
            <a:ext cx="2331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10" dirty="0">
                <a:solidFill>
                  <a:srgbClr val="3341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□ 흐름 방향 명확</a:t>
            </a:r>
            <a:endParaRPr lang="en-US" sz="810" dirty="0"/>
          </a:p>
        </p:txBody>
      </p:sp>
      <p:sp>
        <p:nvSpPr>
          <p:cNvPr id="18" name="Text 16"/>
          <p:cNvSpPr/>
          <p:nvPr/>
        </p:nvSpPr>
        <p:spPr>
          <a:xfrm>
            <a:off x="8759952" y="4379976"/>
            <a:ext cx="2331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10" dirty="0">
                <a:solidFill>
                  <a:srgbClr val="3341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□ 경계/외부 구분</a:t>
            </a:r>
            <a:endParaRPr lang="en-US" sz="810" dirty="0"/>
          </a:p>
        </p:txBody>
      </p:sp>
      <p:sp>
        <p:nvSpPr>
          <p:cNvPr id="19" name="Text 17"/>
          <p:cNvSpPr/>
          <p:nvPr/>
        </p:nvSpPr>
        <p:spPr>
          <a:xfrm>
            <a:off x="8759952" y="4736592"/>
            <a:ext cx="2331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10" dirty="0">
                <a:solidFill>
                  <a:srgbClr val="3341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□ Evidence 연결</a:t>
            </a:r>
            <a:endParaRPr lang="en-US" sz="810" dirty="0"/>
          </a:p>
        </p:txBody>
      </p:sp>
      <p:sp>
        <p:nvSpPr>
          <p:cNvPr id="20" name="Text 18"/>
          <p:cNvSpPr/>
          <p:nvPr/>
        </p:nvSpPr>
        <p:spPr>
          <a:xfrm>
            <a:off x="8759952" y="5093208"/>
            <a:ext cx="2331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10" dirty="0">
                <a:solidFill>
                  <a:srgbClr val="3341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□ 색 외 라벨 제공</a:t>
            </a:r>
            <a:endParaRPr lang="en-US" sz="810" dirty="0"/>
          </a:p>
        </p:txBody>
      </p:sp>
      <p:sp>
        <p:nvSpPr>
          <p:cNvPr id="21" name="Shape 19"/>
          <p:cNvSpPr/>
          <p:nvPr/>
        </p:nvSpPr>
        <p:spPr>
          <a:xfrm>
            <a:off x="530352" y="6007608"/>
            <a:ext cx="11119104" cy="347472"/>
          </a:xfrm>
          <a:prstGeom prst="roundRect">
            <a:avLst>
              <a:gd name="adj" fmla="val 15789"/>
            </a:avLst>
          </a:prstGeom>
          <a:solidFill>
            <a:srgbClr val="FFF5DD"/>
          </a:solidFill>
          <a:ln w="12700">
            <a:solidFill>
              <a:srgbClr val="FFF5D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6656" y="6108192"/>
            <a:ext cx="10835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F3A61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운영 원칙: 다이어그램은 실제 구현과 Evidence를 과장하지 않으며, 공식 Mission / Evaluation을 항상 우선합니다.</a:t>
            </a:r>
            <a:endParaRPr lang="en-US" sz="76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28816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A0AAB6"/>
                </a:solidFill>
                <a:latin typeface="Noto Sans CJK KR"/>
                <a:ea typeface="Noto Sans CJK KR"/>
                <a:cs typeface="Noto Sans CJK KR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K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K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Codyssey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Codyssey Technical Diagram Library</dc:title>
  <dc:subject>Codyssey Technical Diagram Library</dc:subject>
  <dc:creator>OpenAI</dc:creator>
  <cp:lastModifiedBy>OpenAI</cp:lastModifiedBy>
  <cp:revision>1</cp:revision>
  <dcterms:created xsi:type="dcterms:W3CDTF">2026-09-27T09:25:13Z</dcterms:created>
  <dcterms:modified xsi:type="dcterms:W3CDTF">2026-09-27T09:25:13Z</dcterms:modified>
</cp:coreProperties>
</file>