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109728" cy="534924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" y="768096"/>
            <a:ext cx="2057400" cy="310896"/>
          </a:xfrm>
          <a:prstGeom prst="roundRect">
            <a:avLst/>
          </a:prstGeom>
          <a:solidFill>
            <a:srgbClr val="163758"/>
          </a:solidFill>
          <a:ln w="12700">
            <a:solidFill>
              <a:srgbClr val="1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818388"/>
            <a:ext cx="19476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C9FF"/>
                </a:solidFill>
                <a:latin typeface="Noto Sans CJK KR"/>
              </a:rPr>
              <a:t>CODYSSEY · AI/SW 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481328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Noto Sans CJK KR"/>
              </a:rPr>
              <a:t>[B?-?] 미션 평가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87752"/>
            <a:ext cx="8961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E6"/>
                </a:solidFill>
                <a:latin typeface="Noto Sans CJK KR"/>
              </a:rPr>
              <a:t>평가자가 짧은 시간 안에 요구사항 충족과 실제 검증 근거를 판단할 수 있는 발표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8046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A89D"/>
                </a:solidFill>
                <a:latin typeface="Noto Sans CJK KR"/>
              </a:rPr>
              <a:t>Requirement → Design → Verification →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9418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2C8"/>
                </a:solidFill>
                <a:latin typeface="Noto Sans CJK KR"/>
              </a:rPr>
              <a:t>발표자  [이름]   ·   Repository  [URL]   ·   Date  [YYYY-MM-DD]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236208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894AE"/>
                </a:solidFill>
                <a:latin typeface="Noto Sans CJK K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핵심 결론을 먼저 제시한다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57281"/>
                </a:solidFill>
                <a:latin typeface="Noto Sans CJK KR"/>
              </a:rPr>
              <a:t>평가자는 첫 60초 안에 ‘무엇을 만들었고, 어떻게 검증했는가’를 이해할 수 있어야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82296" cy="221284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[공식 요구 핵심 1문장]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2011680"/>
            <a:ext cx="82296" cy="221284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[내 구현의 핵심 접근 1문장]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011680"/>
            <a:ext cx="82296" cy="221284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[자동/실환경 검증 결과 요약]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2011680"/>
            <a:ext cx="82296" cy="221284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[내가 설명할 수 있게 된 핵심 개념]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45152"/>
            <a:ext cx="108813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84632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9A89D"/>
                </a:solidFill>
                <a:latin typeface="Noto Sans CJK KR"/>
              </a:rPr>
              <a:t>한 문장 핵심 주장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7712" y="4782312"/>
            <a:ext cx="882396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222D"/>
                </a:solidFill>
                <a:latin typeface="Noto Sans CJK KR"/>
              </a:rPr>
              <a:t>“[미션의 핵심 요구를 실제 실행과 추적 가능한 증빙으로 충족했다.]”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발표 논리는 요구사항에서 증빙까지 한 방향으로 흐른다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공식 요구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8568" y="2971800"/>
            <a:ext cx="182880" cy="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설계 선택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59936" y="2971800"/>
            <a:ext cx="182880" cy="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88536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구현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1304" y="2971800"/>
            <a:ext cx="182880" cy="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89904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검증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62672" y="2971800"/>
            <a:ext cx="182880" cy="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891272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증빙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2971800"/>
            <a:ext cx="182880" cy="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92640" y="2057400"/>
            <a:ext cx="15727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22402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0ED"/>
                </a:solidFill>
                <a:latin typeface="Noto Sans CJK K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670048"/>
            <a:ext cx="12435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22D"/>
                </a:solidFill>
                <a:latin typeface="Noto Sans CJK KR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3154680"/>
            <a:ext cx="12435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학습·Q&amp;A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공식 미션을 ‘평가 가능한 요구사항’으로 다시 정리한다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57281"/>
                </a:solidFill>
                <a:latin typeface="Noto Sans CJK KR"/>
              </a:rPr>
              <a:t>Source of Truth: Mission PDF → Evaluation → 실제 Repository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82296" cy="14813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MISSION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[학습자가 최종적으로 할 수 있어야 하는 것]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1847088"/>
            <a:ext cx="82296" cy="14813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FINAL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[필수 결과물과 제출물]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1847088"/>
            <a:ext cx="82296" cy="14813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[제약조건·금지사항·환경 조건]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94176"/>
            <a:ext cx="10378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3192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발표에서 반드시 답할 3가지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877056"/>
            <a:ext cx="7726679" cy="1143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무엇을 구현해야 했는가?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내 구현은 어디에서 그 요구를 충족하는가?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실제로 동작했다는 근거는 무엇인가?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REQUIREMENT →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요구사항마다 구현·검증·증빙을 1:1로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96012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6"/>
            <a:ext cx="8321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8488" y="1828800"/>
            <a:ext cx="274320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6" y="1956816"/>
            <a:ext cx="26151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Requirement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237744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956816"/>
            <a:ext cx="22494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828800"/>
            <a:ext cx="219456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136" y="1956816"/>
            <a:ext cx="206654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3688" y="1828800"/>
            <a:ext cx="210312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956816"/>
            <a:ext cx="1975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359152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505456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" y="235915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82496" y="2505456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[필수 기능]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359152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2505456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[파일/함수]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359152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2505456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[테스트 명령]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33688" y="2359152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2505456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[로그/캡처]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962656"/>
            <a:ext cx="960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108960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18488" y="2962656"/>
            <a:ext cx="274320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82496" y="3108960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[제약 조건]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8" y="2962656"/>
            <a:ext cx="237744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108960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[설정/정책]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2962656"/>
            <a:ext cx="219456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3108960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[정적/실행 검증]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3688" y="2962656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7696" y="3108960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[설정 증빙]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566160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3712464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18488" y="3566160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82496" y="3712464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[오류 처리]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1688" y="3566160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3712464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[예외/복구]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3566160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3712464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[실패 시나리오]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3688" y="3566160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712464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[Before/After]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169664"/>
            <a:ext cx="960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4315968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18488" y="4169664"/>
            <a:ext cx="274320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82496" y="4315968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[문서/설명]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61688" y="4169664"/>
            <a:ext cx="237744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25696" y="4315968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[README/Guide]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9128" y="4169664"/>
            <a:ext cx="219456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3136" y="4315968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[링크 점검]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169664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97696" y="4315968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[문서 위치]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773168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" y="4919472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18488" y="4773168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82496" y="4919472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[배포/협업]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1688" y="4773168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25696" y="4919472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[URL/PR]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9128" y="4773168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03136" y="4919472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[외부 접속/리뷰]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33688" y="4773168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97696" y="4919472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[URL/PR 링크]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5596128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A66A"/>
                </a:solidFill>
                <a:latin typeface="Noto Sans CJK KR"/>
              </a:rPr>
              <a:t>TIP · PASS를 먼저 쓰지 말고 Evidence가 존재하는지부터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PROBLEM →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문제 → 원인 → 목표를 한 장에서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82296" cy="205740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[관찰한 문제 / 공식 미션의 문제 상황]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999232"/>
            <a:ext cx="548640" cy="0"/>
          </a:xfrm>
          <a:prstGeom prst="line">
            <a:avLst/>
          </a:prstGeom>
          <a:ln w="27940">
            <a:solidFill>
              <a:srgbClr val="F3A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98848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965960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ROOT CAUSE /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[왜 문제가 발생하는가 / 무엇이 부족한가]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99248" y="2999232"/>
            <a:ext cx="548640" cy="0"/>
          </a:xfrm>
          <a:prstGeom prst="line">
            <a:avLst/>
          </a:prstGeom>
          <a:ln w="2794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2752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965960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[이번 구현에서 달성할 검증 가능한 목표]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45152"/>
            <a:ext cx="88696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목표는 ‘좋아 보이는 기능’이 아니라 평가 가능한 상태로 작성한다.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9692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예: ‘안정성을 높인다’ → ‘실패 입력에서 비정상 종료 없이 명시적 오류를 반환한다’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해결책은 기능 목록이 아니라 전체 사용자·시스템 흐름으로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사용자/이벤트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1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08375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91255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19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5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핵심 로직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82894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78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58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9822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8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저장/상태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597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15781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98661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5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1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검증/로그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0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19484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4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28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12B47"/>
                </a:solidFill>
                <a:latin typeface="Noto Sans CJK KR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4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결과/화면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4315968"/>
            <a:ext cx="10424160" cy="1170432"/>
          </a:xfrm>
          <a:prstGeom prst="roundRect">
            <a:avLst/>
          </a:prstGeom>
          <a:solidFill>
            <a:srgbClr val="E9F8F6"/>
          </a:solidFill>
          <a:ln w="12700">
            <a:solidFill>
              <a:srgbClr val="E9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55371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핵심 설계 선택(Why)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489704"/>
            <a:ext cx="77906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22D"/>
                </a:solidFill>
                <a:latin typeface="Noto Sans CJK KR"/>
              </a:rPr>
              <a:t>[선택한 구조]를 사용한 이유는 [평가 요구 / 유지보수 / 검증 가능성] 때문이다.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컴포넌트의 책임과 데이터 흐름을 동시에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12B47"/>
                </a:solidFill>
                <a:latin typeface="Noto Sans CJK KR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UI / CLI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F80ED"/>
                </a:solidFill>
                <a:latin typeface="Noto Sans CJK KR"/>
              </a:rPr>
              <a:t>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Router / Command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38928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9A89D"/>
                </a:solidFill>
                <a:latin typeface="Noto Sans CJK KR"/>
              </a:rPr>
              <a:t>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Service /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51776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3A61D"/>
                </a:solidFill>
                <a:latin typeface="Noto Sans CJK K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Repository / 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64624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FA66A"/>
                </a:solidFill>
                <a:latin typeface="Noto Sans CJK KR"/>
              </a:rPr>
              <a:t>EXTERNAL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API / OS /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206240"/>
            <a:ext cx="101498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각 박스에는 ‘무엇을 하는가’보다 ‘어떤 책임을 갖는가’를 작성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화살표에는 Request / Response / Event / Data 등 흐름의 의미를 표기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평가 질문: ‘왜 이렇게 분리했나요?’에 바로 답할 수 있도록 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기술 스택은 이름보다 선택 이유와 역할을 중심으로 정리한다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1"/>
            <a:ext cx="257860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84831"/>
            <a:ext cx="82296" cy="2395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49423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231135"/>
            <a:ext cx="1737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06623"/>
            <a:ext cx="2121408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Python / JS / SQL
[왜 이 언어인가]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084831"/>
            <a:ext cx="257860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2084831"/>
            <a:ext cx="82296" cy="2395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249423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231135"/>
            <a:ext cx="1737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706623"/>
            <a:ext cx="2121408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FastAPI / React
[어떤 책임인가]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084831"/>
            <a:ext cx="257860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2084831"/>
            <a:ext cx="82296" cy="2395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249423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231135"/>
            <a:ext cx="1737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06623"/>
            <a:ext cx="2121408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SQLite / PostgreSQL
[어떤 데이터 요구인가]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2" y="2084831"/>
            <a:ext cx="257860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25712" y="2084831"/>
            <a:ext cx="82296" cy="2395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249423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31135"/>
            <a:ext cx="1737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706623"/>
            <a:ext cx="2121408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Git / GitHub / Test
[어떻게 검증·협업하는가]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983480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5D58"/>
                </a:solidFill>
                <a:latin typeface="Noto Sans CJK KR"/>
              </a:rPr>
              <a:t>Avoid · 로고만 나열하는 ‘기술 스택 슬라이드’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983480"/>
            <a:ext cx="5120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A66A"/>
                </a:solidFill>
                <a:latin typeface="Noto Sans CJK KR"/>
              </a:rPr>
              <a:t>Prefer · ‘요구사항 → 기술 선택 → 책임 → 검증 방식’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핵심 코드 10~18줄만 보여주고 설계 의도를 설명한다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6766560" cy="3931920"/>
          </a:xfrm>
          <a:prstGeom prst="round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6172200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9E7F5"/>
                </a:solidFill>
                <a:latin typeface="Aptos Mono"/>
              </a:rPr>
              <a:t>01  def [core_function](input):
02      # 핵심 전제 / invariant
03      validated = validate(input)
04      result = service.execute(validated)
05      evidence.log(result)
06      return result
# [실제 코드 10~18줄 삽입]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1847088"/>
            <a:ext cx="358444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62672" y="1847088"/>
            <a:ext cx="82296" cy="11155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8704" y="1993392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4" y="2468880"/>
            <a:ext cx="31272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[이 로직이 필요한 이유]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3145536"/>
            <a:ext cx="358444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62672" y="3145536"/>
            <a:ext cx="82296" cy="111556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3291840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3767328"/>
            <a:ext cx="31272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[입력·출력·예외 계약]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4443984"/>
            <a:ext cx="3584448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62672" y="4443984"/>
            <a:ext cx="82296" cy="1335024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4590288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5065776"/>
            <a:ext cx="312724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[어떤 테스트로 검증했는가]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CORE LOGIC /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하나의 핵심 기능을 입력부터 결과까지 추적한다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011680"/>
            <a:ext cx="658368" cy="69494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21945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671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671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[사용자 입력 / 요청]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7066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29260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926080"/>
            <a:ext cx="658368" cy="694944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31089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815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815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[검증·파싱·상태 변경]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6210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38404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840480"/>
            <a:ext cx="658368" cy="694944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0233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9959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9959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[핵심 알고리즘 / 비즈니스 로직]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45354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47548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754880"/>
            <a:ext cx="658368" cy="694944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3392" y="49377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103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9103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[저장·응답·로그]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데모는 ‘성공 장면’이 아니라 평가 시나리오 순서로 설계한다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실행/접속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4600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입력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0832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기능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8464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27064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064" y="2212848"/>
            <a:ext cx="82296" cy="196596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예외 1개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54696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83296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2212848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정상 결과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10928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39528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9528" y="2212848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7896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로그/DB/PR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892040"/>
            <a:ext cx="9418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데모 실패 대비: 동일 시나리오의 캡처·로그·테스트 결과를 부록에 준비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DEMO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스크린샷마다 ‘무엇을 증명하는가’를 명시한다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629400" cy="3840480"/>
          </a:xfrm>
          <a:prstGeom prst="roundRect">
            <a:avLst/>
          </a:prstGeom>
          <a:solidFill>
            <a:srgbClr val="E8ED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5669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57281"/>
                </a:solidFill>
                <a:latin typeface="Noto Sans CJK KR"/>
              </a:rPr>
              <a:t>[실제 화면 / 터미널 / 로그 / PR 캡처]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74519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82296" cy="164592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020823"/>
            <a:ext cx="3218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 CAPTION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496311"/>
            <a:ext cx="320040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이 캡처는 [요구사항 R-??]가 [실제 환경]에서 [정상 결과]임을 증명한다.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70332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703320"/>
            <a:ext cx="82296" cy="1280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849624"/>
            <a:ext cx="3218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4325112"/>
            <a:ext cx="3200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Repository / Branch / Commit / Runtime / Executed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5230368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5D58"/>
                </a:solidFill>
                <a:latin typeface="Noto Sans CJK KR"/>
              </a:rPr>
              <a:t>Secret·Token·개인정보는 캡처 전에 제거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테스트는 ‘무엇을 실패하게 해봤는가’까지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56816"/>
            <a:ext cx="82296" cy="2057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STATIC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Syntax / Lint
[정적 오류]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1956816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Function / Class
[핵심 로직]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956816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CLI / HTTP / DB
[연결 흐름]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956816"/>
            <a:ext cx="82296" cy="205740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실환경 / 외부 접속
[자동화 불가 항목]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70832"/>
            <a:ext cx="10469880" cy="109728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E9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1772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A66A"/>
                </a:solidFill>
                <a:latin typeface="Noto Sans CJK KR"/>
              </a:rPr>
              <a:t>최소 실패 시나리오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553712"/>
            <a:ext cx="8183879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[잘못된 입력] · [없는 데이터] · [권한 없음] · [외부 API 실패] 중 미션에 맞는 항목을 실제로 검증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VERIFICATION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검증 상태를 한눈에 읽을 수 있는 대시보드로 요약한다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80ED"/>
                </a:solidFill>
                <a:latin typeface="Noto Sans CJK KR"/>
              </a:rPr>
              <a:t>[12 / 12]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Mapped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AUTOMATED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A66A"/>
                </a:solidFill>
                <a:latin typeface="Noto Sans CJK KR"/>
              </a:rPr>
              <a:t>[28 / 28]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A89D"/>
                </a:solidFill>
                <a:latin typeface="Noto Sans CJK KR"/>
              </a:rPr>
              <a:t>[MAC-V / WIN-V]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Actual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BLOCKER / MAJOR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A61D"/>
                </a:solidFill>
                <a:latin typeface="Noto Sans CJK KR"/>
              </a:rPr>
              <a:t>[0 / 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43400"/>
            <a:ext cx="9875520" cy="1143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IMPLEMENTED ≠ TESTED ≠ PASS — 상태를 섞지 않는다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NEEDS-RUNTIME은 실제 환경 검증 전까지 별도 표시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예상 출력과 실제 출력은 명확히 구분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RESULTS / 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변경의 효과는 Before &amp; After 또는 정량 결과로 증명한다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074920" cy="3337560"/>
          </a:xfrm>
          <a:prstGeom prst="roundRect">
            <a:avLst/>
          </a:prstGeom>
          <a:solidFill>
            <a:srgbClr val="FCEDEC"/>
          </a:solidFill>
          <a:ln w="12700">
            <a:solidFill>
              <a:srgbClr val="F0C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2519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[문제 상태 / 수치]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[실패 로그 / 사용자 증상]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[원인 가설]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74519"/>
            <a:ext cx="5074920" cy="333756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C4E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743200"/>
            <a:ext cx="42519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[조치 후 상태 / 수치]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[성공 로그 / 정상 결과]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[남은 한계]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3520440"/>
            <a:ext cx="502920" cy="0"/>
          </a:xfrm>
          <a:prstGeom prst="line">
            <a:avLst/>
          </a:prstGeom>
          <a:ln w="3048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문제 해결은 증상 → 가설 → 검증 → 조치 → 재발방지로 기록한다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2139696"/>
            <a:ext cx="82296" cy="205740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[관측된 현상]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9504" y="2139696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[원인 가설]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2139696"/>
            <a:ext cx="82296" cy="2057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[로그/명령 검증]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862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8624" y="2139696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[최소 조치]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7318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73184" y="2139696"/>
            <a:ext cx="82296" cy="205740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[재발 방지]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800600"/>
            <a:ext cx="10058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22D"/>
                </a:solidFill>
                <a:latin typeface="Noto Sans CJK KR"/>
              </a:rPr>
              <a:t>평가 질문 대비: “처음부터 답을 알고 있었나요?” → 증거를 통해 가설을 좁힌 과정을 설명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95D58"/>
                </a:solidFill>
                <a:latin typeface="Noto Sans CJK KR"/>
              </a:rPr>
              <a:t>SECURITY /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보안과 신뢰성은 ‘막았다’가 아니라 경계와 실패 처리를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D95D58"/>
                </a:solidFill>
                <a:latin typeface="Noto Sans CJK K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Authentication
[누구인가]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65960"/>
            <a:ext cx="82296" cy="196596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Authorization / ACL
[무엇을 할 수 있나]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82296" cy="196596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API Key / Token
[노출 방지]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965960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Timeout / Error
[비정상 종료 방지]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81728"/>
            <a:ext cx="9601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검증 예: 비로그인 접근 · 잘못된 권한 · Key 미설정 · API timeout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COLLABORATION /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협업은 결과 파일보다 Issue·PR·Review의 추적 가능한 흐름으로 증명한다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작업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96312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격리 작업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의미 있는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What / Why / 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331720"/>
            <a:ext cx="82296" cy="162763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피드백 반영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48088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48088" y="2331720"/>
            <a:ext cx="82296" cy="162763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main 통합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663440"/>
            <a:ext cx="9509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필수 증빙 예: PR 링크 · 리뷰 코멘트 · 충돌 해결 기록 · git log --graph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학습성과는 ‘사용했다’가 아니라 코드 근거로 설명할 수 있는가로 평가한다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65960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965960"/>
            <a:ext cx="82296" cy="13533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112264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[핵심 개념]을 내 코드로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965960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965960"/>
            <a:ext cx="82296" cy="1353312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3055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112264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87752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왜 이 구조/자료구조/패턴을 선택했는지 말할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575304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575304"/>
            <a:ext cx="82296" cy="1353312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739896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721608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97096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입력 → 내부 처리 → 결과 흐름을 추적할 수 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75304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75304"/>
            <a:ext cx="82296" cy="135331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39896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3721608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97096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실패 상황과 복구/예외 처리를 설명할 수 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38928"/>
            <a:ext cx="10058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9A89D"/>
                </a:solidFill>
                <a:latin typeface="Noto Sans CJK KR"/>
              </a:rPr>
              <a:t>발표자는 ‘정의’보다 ‘내 구현에서 어디에 있고 어떻게 동작하는가’를 우선 설명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EVALUATION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평가 질문은 Why·How·Evidence의 세 축으로 준비한다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0195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06654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1683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08483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왜 이 방법을 선택했나요?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61518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[대안 비교 + 요구사항 연결]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0195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206654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1683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8896" y="208483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실제로 어떻게 동작하나요?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61518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[코드/흐름 근거]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68503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" y="384962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9991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386791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동작했다는 근거는 무엇인가요?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439826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[테스트/로그/URL/PR]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68503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27648" y="384962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89991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86791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어떤 한계가 있나요?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439826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[현재 범위와 고도화 분리]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LIMITATIONS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현재 미션 통과 범위와 후속 고도화를 명확히 분리한다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49377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5D58"/>
                </a:solidFill>
                <a:latin typeface="Noto Sans CJK KR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88920"/>
            <a:ext cx="42062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[공식 범위 밖이라 구현하지 않은 항목]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[현재 데이터/환경의 제약]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[검증에서 남은 실제 리스크]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56816"/>
            <a:ext cx="4937760" cy="3154680"/>
          </a:xfrm>
          <a:prstGeom prst="roundRect">
            <a:avLst/>
          </a:prstGeom>
          <a:solidFill>
            <a:srgbClr val="E9F8F6"/>
          </a:solidFill>
          <a:ln w="12700">
            <a:solidFill>
              <a:srgbClr val="C7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212848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9A89D"/>
                </a:solidFill>
                <a:latin typeface="Noto Sans CJK KR"/>
              </a:rPr>
              <a:t>NEXT — ADVANCED /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2788920"/>
            <a:ext cx="42062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[성능 / 보안 / 확장성 고도화]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[추가 테스트 / CI / 관측성]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[연구·포트폴리오 확장]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777240"/>
            <a:ext cx="1325880" cy="310896"/>
          </a:xfrm>
          <a:prstGeom prst="roundRect">
            <a:avLst/>
          </a:prstGeom>
          <a:solidFill>
            <a:srgbClr val="163758"/>
          </a:solidFill>
          <a:ln w="12700">
            <a:solidFill>
              <a:srgbClr val="1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827532"/>
            <a:ext cx="12161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C9FF"/>
                </a:solidFill>
                <a:latin typeface="Noto Sans CJK K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2412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요구사항을 구현했고, 실제 검증과 증빙으로 설명할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88920"/>
            <a:ext cx="9144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9A89D"/>
                </a:solidFill>
                <a:latin typeface="Noto Sans CJK KR"/>
              </a:rPr>
              <a:t>[미션 핵심 결론 1문장]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566928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Requirement — [핵심 요구]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Implementation — [핵심 구현]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Verification — [핵심 검증]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Evidence — [핵심 증빙]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3886200"/>
            <a:ext cx="1828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Noto Sans CJK KR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2636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4AE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Linux/OS · 관제·권한·장애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시스템 구성도 / 권한표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monitor.sh / cron 흐름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로그 타임라인 / Before &amp; After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왜 최소 권한이 필요한가?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장애 원인을 어떤 증거로 좁혔나?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실행 환경과 Evidence는 추적 가능한가?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SSH/UFW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LOG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Python/CLI · 유지보수 가능한 작은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CLI 명령 흐름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Model–Repository–Service–CLI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Generator / Decorator / Type Hint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왜 스트리밍이 필요한가?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공통 관심사를 왜 분리했나?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타입 계약이 어떤 오류를 줄이는가?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REPORT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Git 협업 · Issue에서 Merge까지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Issue→Branch→PR→Review→Merge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충돌 마커 / 해결 과정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팀원별 PR·Review 증빙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왜 GitHub Flow인가?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충돌은 왜 발생했나?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리뷰 반영 흔적은 어디에 있나?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ISSUE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PR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MERGE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자료구조·알고리즘 · 내부 동작을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노드·포인터·버킷 구조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연산 전/후 상태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시간복잡도와 불변조건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왜 O(1)인가?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어떤 자료구조가 병목을 해결하나?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최악/평균 복잡도는?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28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414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0245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731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OPERATION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562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048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COMPLEXITY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Web/Frontend · Event → State →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반응형 화면 비교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Component tree / DOM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Loading·Error·Empty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상태는 어디에 두었나?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리렌더링은 언제 일어나나?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실패 UI는 일관적인가?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28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414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0245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731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FETCH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5622" y="4773168"/>
            <a:ext cx="243001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0486" y="4823460"/>
            <a:ext cx="232029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RENDER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DB/Backend · 관계와 요청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ERD / PK·FK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Request→Router→Service→Repository→DB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인증·인가 / 상태 변경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왜 이 관계인가?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무결성은 어떻게 보장하나?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비즈니스 로직은 어느 계층인가?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REPOSITORY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DB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Cloud · 네트워크 경계와 최소 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VPC/Subnet/Route/IGW/EC2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외부→서비스 트래픽 흐름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Security Group / IAM 경계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외부 요청이 어떻게 도달하나?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SG와 IAM 차이는?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과금 리소스는 정리했나?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INTERNET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IGW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SUBNET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EC2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APP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AI API · Prompt → API →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git diff 입력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Prompt 구조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API 파라미터 / 오류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결과 품질을 어떻게 제어했나?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Key는 어떻게 보호했나?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실패 시 어떻게 복구하나?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DIFF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773168"/>
            <a:ext cx="1929384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823460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OUTPUT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DOMAIN-SPECIFIC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Term Project · End-to-End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0312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필수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사용자→Web→API→AI→DB→Cloud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ERD / API 명세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팀 역할 / PR / 배포 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074920" cy="3474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핵심 평가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297680" cy="19202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사용자별 데이터는 어떻게 분리되나?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AI 실패 시 서비스는?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배포된 전체 흐름이 동작하나?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489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975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245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731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0012" y="4773168"/>
            <a:ext cx="1595628" cy="31089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4876" y="4823460"/>
            <a:ext cx="14859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CLOUD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ACADEMIC / RESEARCH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연구·학회 발표에서는 문제의 Gap과 검증 설계를 더 깊게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9933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39696"/>
            <a:ext cx="82296" cy="224028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286000"/>
            <a:ext cx="11521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PROBLEM /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536192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기존 접근의 한계
[왜 필요한가]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39696"/>
            <a:ext cx="19933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139696"/>
            <a:ext cx="82296" cy="2240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9816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286000"/>
            <a:ext cx="11521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761488"/>
            <a:ext cx="1536192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제안 방법 / 구현
[무엇을 했나]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2139696"/>
            <a:ext cx="19933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2139696"/>
            <a:ext cx="82296" cy="224028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286000"/>
            <a:ext cx="11521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761488"/>
            <a:ext cx="1536192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실험·검증 설계
[어떻게 확인했나]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2139696"/>
            <a:ext cx="19933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4" y="2139696"/>
            <a:ext cx="82296" cy="224028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286000"/>
            <a:ext cx="11521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761488"/>
            <a:ext cx="1536192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정량·정성 결과
[무엇이 달라졌나]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6336" y="2139696"/>
            <a:ext cx="19933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46336" y="2139696"/>
            <a:ext cx="82296" cy="224028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4704" y="2286000"/>
            <a:ext cx="11521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2761488"/>
            <a:ext cx="1536192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일반화·제약
[어디까지 말할 수 있나]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37760"/>
            <a:ext cx="9875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80ED"/>
                </a:solidFill>
                <a:latin typeface="Noto Sans CJK KR"/>
              </a:rPr>
              <a:t>학부/미션 평가의 근거를 유지하되, 대안 비교·재현성·일반화 가능성을 추가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STYLE GUIDE / MASTER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모든 미션 발표에 동일한 시각 언어와 작성 규칙을 사용한다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517904" cy="658368"/>
          </a:xfrm>
          <a:prstGeom prst="round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#081B2F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874519"/>
            <a:ext cx="1517904" cy="658368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#2F80ED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74519"/>
            <a:ext cx="1517904" cy="658368"/>
          </a:xfrm>
          <a:prstGeom prst="round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#19A89D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874519"/>
            <a:ext cx="1517904" cy="658368"/>
          </a:xfrm>
          <a:prstGeom prst="round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#F3A61D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1874519"/>
            <a:ext cx="1517904" cy="658368"/>
          </a:xfrm>
          <a:prstGeom prst="round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#D95D58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874519"/>
            <a:ext cx="1517904" cy="658368"/>
          </a:xfrm>
          <a:prstGeom prst="round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#2FA66A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5468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3154680"/>
            <a:ext cx="82296" cy="11155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30098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TITLE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7647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제목만 읽어도 발표 논리가 이어지는 ‘주장형 제목’을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6752" y="315468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16752" y="3154680"/>
            <a:ext cx="82296" cy="111556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330098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77647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PASS에는 실제 실행·테스트·로그·URL·PR 등 추적 가능한 근거를 연결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48056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4480560"/>
            <a:ext cx="82296" cy="111556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62686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LANGUAGE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0235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영문 용어는 한글(English, 약어)로 첫 등장에 병기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448056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16752" y="4480560"/>
            <a:ext cx="82296" cy="111556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462686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PROMPT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510235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Mission → Repository → Test → Evidence를 입력으로 사용하고 일반 지식이 공식 요구를 바꾸지 않게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