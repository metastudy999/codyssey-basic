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640080"/>
            <a:ext cx="109728" cy="5349240"/>
          </a:xfrm>
          <a:prstGeom prst="rect">
            <a:avLst/>
          </a:prstGeom>
          <a:solidFill>
            <a:srgbClr val="19A89D"/>
          </a:solidFill>
          <a:ln w="12700">
            <a:solidFill>
              <a:srgbClr val="19A8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78992" y="768096"/>
            <a:ext cx="2057400" cy="310896"/>
          </a:xfrm>
          <a:prstGeom prst="roundRect">
            <a:avLst/>
          </a:prstGeom>
          <a:solidFill>
            <a:srgbClr val="163758"/>
          </a:solidFill>
          <a:ln w="12700">
            <a:solidFill>
              <a:srgbClr val="1637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33856" y="818388"/>
            <a:ext cx="1947672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8BC9FF"/>
                </a:solidFill>
                <a:latin typeface="Noto Sans CJK KR"/>
              </a:rPr>
              <a:t>CODYSSEY · AI/SW BASIC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" y="1481328"/>
            <a:ext cx="9875520" cy="10515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100" b="1">
                <a:solidFill>
                  <a:srgbClr val="FFFFFF"/>
                </a:solidFill>
                <a:latin typeface="Noto Sans CJK KR"/>
              </a:rPr>
              <a:t>[B?-?] 미션 평가 발표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587752"/>
            <a:ext cx="8961120" cy="6400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C7D6E6"/>
                </a:solidFill>
                <a:latin typeface="Noto Sans CJK KR"/>
              </a:rPr>
              <a:t>평가자가 짧은 시간 안에 요구사항 충족과 실제 검증 근거를 판단할 수 있는 발표 구조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886200"/>
            <a:ext cx="8046720" cy="4114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9A89D"/>
                </a:solidFill>
                <a:latin typeface="Noto Sans CJK KR"/>
              </a:rPr>
              <a:t>Requirement → Design → Verification → Evidence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892040"/>
            <a:ext cx="9418320" cy="3657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9DB2C8"/>
                </a:solidFill>
                <a:latin typeface="Noto Sans CJK KR"/>
              </a:rPr>
              <a:t>발표자  [이름]   ·   Repository  [URL]   ·   Date  [YYYY-MM-DD]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35640" y="6236208"/>
            <a:ext cx="64008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7894AE"/>
                </a:solidFill>
                <a:latin typeface="Noto Sans CJK KR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109728"/>
          </a:xfrm>
          <a:prstGeom prst="rect">
            <a:avLst/>
          </a:prstGeom>
          <a:solidFill>
            <a:srgbClr val="19A89D"/>
          </a:solidFill>
          <a:ln w="12700">
            <a:solidFill>
              <a:srgbClr val="19A8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228600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9A89D"/>
                </a:solidFill>
                <a:latin typeface="Noto Sans CJK KR"/>
              </a:rPr>
              <a:t>EXECUTIVE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21792"/>
            <a:ext cx="1069848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6222D"/>
                </a:solidFill>
                <a:latin typeface="Noto Sans CJK KR"/>
              </a:rPr>
              <a:t>핵심 결론을 먼저 제시한다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" y="1261872"/>
            <a:ext cx="10607040" cy="34747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657281"/>
                </a:solidFill>
                <a:latin typeface="Noto Sans CJK KR"/>
              </a:rPr>
              <a:t>평가자는 첫 60초 안에 ‘무엇을 만들었고, 어떻게 검증했는가’를 이해할 수 있어야 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556248"/>
            <a:ext cx="43891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>
                <a:solidFill>
                  <a:srgbClr val="657281"/>
                </a:solidFill>
                <a:latin typeface="Noto Sans CJK KR"/>
              </a:rPr>
              <a:t>CODYSSEY BASIC · MISSION EVALUATION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82528" y="6492240"/>
            <a:ext cx="502920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1">
                <a:solidFill>
                  <a:srgbClr val="19A89D"/>
                </a:solidFill>
                <a:latin typeface="Noto Sans CJK KR"/>
              </a:rPr>
              <a:t>02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011680"/>
            <a:ext cx="2633472" cy="22128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2011680"/>
            <a:ext cx="82296" cy="2212848"/>
          </a:xfrm>
          <a:prstGeom prst="rect">
            <a:avLst/>
          </a:prstGeom>
          <a:solidFill>
            <a:srgbClr val="2F80ED"/>
          </a:solidFill>
          <a:ln w="12700">
            <a:solidFill>
              <a:srgbClr val="2F8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2176272"/>
            <a:ext cx="438912" cy="34747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F80ED"/>
                </a:solidFill>
                <a:latin typeface="Noto Sans CJK KR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16736" y="2157984"/>
            <a:ext cx="1792224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6222D"/>
                </a:solidFill>
                <a:latin typeface="Noto Sans CJK KR"/>
              </a:rPr>
              <a:t>MISSION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633472"/>
            <a:ext cx="2176272" cy="144475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57281"/>
                </a:solidFill>
                <a:latin typeface="Noto Sans CJK KR"/>
              </a:rPr>
              <a:t>[공식 요구 핵심 1문장]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93008" y="2011680"/>
            <a:ext cx="2633472" cy="22128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93008" y="2011680"/>
            <a:ext cx="82296" cy="2212848"/>
          </a:xfrm>
          <a:prstGeom prst="rect">
            <a:avLst/>
          </a:prstGeom>
          <a:solidFill>
            <a:srgbClr val="19A89D"/>
          </a:solidFill>
          <a:ln w="12700">
            <a:solidFill>
              <a:srgbClr val="19A8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12464" y="2176272"/>
            <a:ext cx="438912" cy="34747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9A89D"/>
                </a:solidFill>
                <a:latin typeface="Noto Sans CJK KR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51376" y="2157984"/>
            <a:ext cx="1792224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6222D"/>
                </a:solidFill>
                <a:latin typeface="Noto Sans CJK KR"/>
              </a:rPr>
              <a:t>SOLUTION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40" y="2633472"/>
            <a:ext cx="2176272" cy="144475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57281"/>
                </a:solidFill>
                <a:latin typeface="Noto Sans CJK KR"/>
              </a:rPr>
              <a:t>[내 구현의 핵심 접근 1문장]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27648" y="2011680"/>
            <a:ext cx="2633472" cy="22128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27648" y="2011680"/>
            <a:ext cx="82296" cy="2212848"/>
          </a:xfrm>
          <a:prstGeom prst="rect">
            <a:avLst/>
          </a:prstGeom>
          <a:solidFill>
            <a:srgbClr val="2FA66A"/>
          </a:solidFill>
          <a:ln w="12700">
            <a:solidFill>
              <a:srgbClr val="2FA6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47104" y="2176272"/>
            <a:ext cx="438912" cy="34747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FA66A"/>
                </a:solidFill>
                <a:latin typeface="Noto Sans CJK KR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86016" y="2157984"/>
            <a:ext cx="1792224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6222D"/>
                </a:solidFill>
                <a:latin typeface="Noto Sans CJK KR"/>
              </a:rPr>
              <a:t>VERIFICATION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0" y="2633472"/>
            <a:ext cx="2176272" cy="144475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57281"/>
                </a:solidFill>
                <a:latin typeface="Noto Sans CJK KR"/>
              </a:rPr>
              <a:t>[자동/실환경 검증 결과 요약]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162288" y="2011680"/>
            <a:ext cx="2633472" cy="22128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62288" y="2011680"/>
            <a:ext cx="82296" cy="2212848"/>
          </a:xfrm>
          <a:prstGeom prst="rect">
            <a:avLst/>
          </a:prstGeom>
          <a:solidFill>
            <a:srgbClr val="F3A61D"/>
          </a:solidFill>
          <a:ln w="12700">
            <a:solidFill>
              <a:srgbClr val="F3A6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381744" y="2176272"/>
            <a:ext cx="438912" cy="34747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3A61D"/>
                </a:solidFill>
                <a:latin typeface="Noto Sans CJK KR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820656" y="2157984"/>
            <a:ext cx="1792224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6222D"/>
                </a:solidFill>
                <a:latin typeface="Noto Sans CJK KR"/>
              </a:rPr>
              <a:t>LEARNING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18320" y="2633472"/>
            <a:ext cx="2176272" cy="144475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57281"/>
                </a:solidFill>
                <a:latin typeface="Noto Sans CJK KR"/>
              </a:rPr>
              <a:t>[내가 설명할 수 있게 된 핵심 개념]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645152"/>
            <a:ext cx="10881360" cy="11338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96112" y="4846320"/>
            <a:ext cx="141732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9A89D"/>
                </a:solidFill>
                <a:latin typeface="Noto Sans CJK KR"/>
              </a:rPr>
              <a:t>한 문장 핵심 주장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267712" y="4782312"/>
            <a:ext cx="8823960" cy="49377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6222D"/>
                </a:solidFill>
                <a:latin typeface="Noto Sans CJK KR"/>
              </a:rPr>
              <a:t>“[미션의 핵심 요구를 실제 실행과 추적 가능한 증빙으로 충족했다.]”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109728"/>
          </a:xfrm>
          <a:prstGeom prst="rect">
            <a:avLst/>
          </a:prstGeom>
          <a:solidFill>
            <a:srgbClr val="2F80ED"/>
          </a:solidFill>
          <a:ln w="12700">
            <a:solidFill>
              <a:srgbClr val="2F8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228600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2F80ED"/>
                </a:solidFill>
                <a:latin typeface="Noto Sans CJK KR"/>
              </a:rP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21792"/>
            <a:ext cx="1069848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6222D"/>
                </a:solidFill>
                <a:latin typeface="Noto Sans CJK KR"/>
              </a:rPr>
              <a:t>발표 논리는 요구사항에서 증빙까지 한 방향으로 흐른다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56248"/>
            <a:ext cx="43891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>
                <a:solidFill>
                  <a:srgbClr val="657281"/>
                </a:solidFill>
                <a:latin typeface="Noto Sans CJK KR"/>
              </a:rPr>
              <a:t>CODYSSEY BASIC · MISSION EVALUATION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82528" y="6492240"/>
            <a:ext cx="502920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1">
                <a:solidFill>
                  <a:srgbClr val="2F80ED"/>
                </a:solidFill>
                <a:latin typeface="Noto Sans CJK KR"/>
              </a:rPr>
              <a:t>03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057400"/>
            <a:ext cx="1572768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2240280"/>
            <a:ext cx="41148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2F80ED"/>
                </a:solidFill>
                <a:latin typeface="Noto Sans CJK KR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" y="2670048"/>
            <a:ext cx="1243584" cy="3200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6222D"/>
                </a:solidFill>
                <a:latin typeface="Noto Sans CJK KR"/>
              </a:rPr>
              <a:t>MISSION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3154680"/>
            <a:ext cx="1243584" cy="4114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57281"/>
                </a:solidFill>
                <a:latin typeface="Noto Sans CJK KR"/>
              </a:rPr>
              <a:t>공식 요구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258568" y="2971800"/>
            <a:ext cx="182880" cy="0"/>
          </a:xfrm>
          <a:prstGeom prst="line">
            <a:avLst/>
          </a:prstGeom>
          <a:ln w="20320">
            <a:solidFill>
              <a:srgbClr val="19A8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2487168" y="2057400"/>
            <a:ext cx="1572768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51760" y="2240280"/>
            <a:ext cx="41148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2F80ED"/>
                </a:solidFill>
                <a:latin typeface="Noto Sans CJK KR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51760" y="2670048"/>
            <a:ext cx="1243584" cy="3200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6222D"/>
                </a:solidFill>
                <a:latin typeface="Noto Sans CJK KR"/>
              </a:rPr>
              <a:t>DESIGN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51760" y="3154680"/>
            <a:ext cx="1243584" cy="4114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57281"/>
                </a:solidFill>
                <a:latin typeface="Noto Sans CJK KR"/>
              </a:rPr>
              <a:t>설계 선택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059936" y="2971800"/>
            <a:ext cx="182880" cy="0"/>
          </a:xfrm>
          <a:prstGeom prst="line">
            <a:avLst/>
          </a:prstGeom>
          <a:ln w="20320">
            <a:solidFill>
              <a:srgbClr val="19A8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4288536" y="2057400"/>
            <a:ext cx="1572768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53128" y="2240280"/>
            <a:ext cx="41148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2F80ED"/>
                </a:solidFill>
                <a:latin typeface="Noto Sans CJK KR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53128" y="2670048"/>
            <a:ext cx="1243584" cy="3200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6222D"/>
                </a:solidFill>
                <a:latin typeface="Noto Sans CJK KR"/>
              </a:rPr>
              <a:t>BUILD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53128" y="3154680"/>
            <a:ext cx="1243584" cy="4114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57281"/>
                </a:solidFill>
                <a:latin typeface="Noto Sans CJK KR"/>
              </a:rPr>
              <a:t>구현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861304" y="2971800"/>
            <a:ext cx="182880" cy="0"/>
          </a:xfrm>
          <a:prstGeom prst="line">
            <a:avLst/>
          </a:prstGeom>
          <a:ln w="20320">
            <a:solidFill>
              <a:srgbClr val="19A8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6089904" y="2057400"/>
            <a:ext cx="1572768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54496" y="2240280"/>
            <a:ext cx="41148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2F80ED"/>
                </a:solidFill>
                <a:latin typeface="Noto Sans CJK KR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54496" y="2670048"/>
            <a:ext cx="1243584" cy="3200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6222D"/>
                </a:solidFill>
                <a:latin typeface="Noto Sans CJK KR"/>
              </a:rPr>
              <a:t>VERIFY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54496" y="3154680"/>
            <a:ext cx="1243584" cy="4114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57281"/>
                </a:solidFill>
                <a:latin typeface="Noto Sans CJK KR"/>
              </a:rPr>
              <a:t>검증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662672" y="2971800"/>
            <a:ext cx="182880" cy="0"/>
          </a:xfrm>
          <a:prstGeom prst="line">
            <a:avLst/>
          </a:prstGeom>
          <a:ln w="20320">
            <a:solidFill>
              <a:srgbClr val="19A8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7891272" y="2057400"/>
            <a:ext cx="1572768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55864" y="2240280"/>
            <a:ext cx="41148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2F80ED"/>
                </a:solidFill>
                <a:latin typeface="Noto Sans CJK KR"/>
              </a:rPr>
              <a:t>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55864" y="2670048"/>
            <a:ext cx="1243584" cy="3200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6222D"/>
                </a:solidFill>
                <a:latin typeface="Noto Sans CJK KR"/>
              </a:rPr>
              <a:t>EVIDENCE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55864" y="3154680"/>
            <a:ext cx="1243584" cy="4114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57281"/>
                </a:solidFill>
                <a:latin typeface="Noto Sans CJK KR"/>
              </a:rPr>
              <a:t>증빙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9464040" y="2971800"/>
            <a:ext cx="182880" cy="0"/>
          </a:xfrm>
          <a:prstGeom prst="line">
            <a:avLst/>
          </a:prstGeom>
          <a:ln w="20320">
            <a:solidFill>
              <a:srgbClr val="19A8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9692640" y="2057400"/>
            <a:ext cx="1572768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857232" y="2240280"/>
            <a:ext cx="41148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2F80ED"/>
                </a:solidFill>
                <a:latin typeface="Noto Sans CJK KR"/>
              </a:rPr>
              <a:t>06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857232" y="2670048"/>
            <a:ext cx="1243584" cy="3200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6222D"/>
                </a:solidFill>
                <a:latin typeface="Noto Sans CJK KR"/>
              </a:rPr>
              <a:t>EXPLAIN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857232" y="3154680"/>
            <a:ext cx="1243584" cy="4114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57281"/>
                </a:solidFill>
                <a:latin typeface="Noto Sans CJK KR"/>
              </a:rPr>
              <a:t>학습·Q&amp;A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109728"/>
          </a:xfrm>
          <a:prstGeom prst="rect">
            <a:avLst/>
          </a:prstGeom>
          <a:solidFill>
            <a:srgbClr val="2F80ED"/>
          </a:solidFill>
          <a:ln w="12700">
            <a:solidFill>
              <a:srgbClr val="2F8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228600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2F80ED"/>
                </a:solidFill>
                <a:latin typeface="Noto Sans CJK KR"/>
              </a:rPr>
              <a:t>MISSION BRIEF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21792"/>
            <a:ext cx="1069848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6222D"/>
                </a:solidFill>
                <a:latin typeface="Noto Sans CJK KR"/>
              </a:rPr>
              <a:t>공식 미션을 ‘평가 가능한 요구사항’으로 다시 정리한다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" y="1261872"/>
            <a:ext cx="10607040" cy="34747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657281"/>
                </a:solidFill>
                <a:latin typeface="Noto Sans CJK KR"/>
              </a:rPr>
              <a:t>Source of Truth: Mission PDF → Evaluation → 실제 Repository / Evidence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556248"/>
            <a:ext cx="43891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>
                <a:solidFill>
                  <a:srgbClr val="657281"/>
                </a:solidFill>
                <a:latin typeface="Noto Sans CJK KR"/>
              </a:rPr>
              <a:t>CODYSSEY BASIC · MISSION EVALUATION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82528" y="6492240"/>
            <a:ext cx="502920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1">
                <a:solidFill>
                  <a:srgbClr val="2F80ED"/>
                </a:solidFill>
                <a:latin typeface="Noto Sans CJK KR"/>
              </a:rPr>
              <a:t>04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847088"/>
            <a:ext cx="3337560" cy="14813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1847088"/>
            <a:ext cx="82296" cy="1481328"/>
          </a:xfrm>
          <a:prstGeom prst="rect">
            <a:avLst/>
          </a:prstGeom>
          <a:solidFill>
            <a:srgbClr val="2F80ED"/>
          </a:solidFill>
          <a:ln w="12700">
            <a:solidFill>
              <a:srgbClr val="2F8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993392"/>
            <a:ext cx="2898648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6222D"/>
                </a:solidFill>
                <a:latin typeface="Noto Sans CJK KR"/>
              </a:rPr>
              <a:t>MISSION OBJECTIVE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68880"/>
            <a:ext cx="2880360" cy="7132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57281"/>
                </a:solidFill>
                <a:latin typeface="Noto Sans CJK KR"/>
              </a:rPr>
              <a:t>[학습자가 최종적으로 할 수 있어야 하는 것]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78808" y="1847088"/>
            <a:ext cx="3337560" cy="14813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78808" y="1847088"/>
            <a:ext cx="82296" cy="1481328"/>
          </a:xfrm>
          <a:prstGeom prst="rect">
            <a:avLst/>
          </a:prstGeom>
          <a:solidFill>
            <a:srgbClr val="19A89D"/>
          </a:solidFill>
          <a:ln w="12700">
            <a:solidFill>
              <a:srgbClr val="19A8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34840" y="1993392"/>
            <a:ext cx="2898648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6222D"/>
                </a:solidFill>
                <a:latin typeface="Noto Sans CJK KR"/>
              </a:rPr>
              <a:t>FINAL OUTPUT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34840" y="2468880"/>
            <a:ext cx="2880360" cy="7132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57281"/>
                </a:solidFill>
                <a:latin typeface="Noto Sans CJK KR"/>
              </a:rPr>
              <a:t>[필수 결과물과 제출물]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699248" y="1847088"/>
            <a:ext cx="3337560" cy="14813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699248" y="1847088"/>
            <a:ext cx="82296" cy="1481328"/>
          </a:xfrm>
          <a:prstGeom prst="rect">
            <a:avLst/>
          </a:prstGeom>
          <a:solidFill>
            <a:srgbClr val="F3A61D"/>
          </a:solidFill>
          <a:ln w="12700">
            <a:solidFill>
              <a:srgbClr val="F3A6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55280" y="1993392"/>
            <a:ext cx="2898648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6222D"/>
                </a:solidFill>
                <a:latin typeface="Noto Sans CJK KR"/>
              </a:rPr>
              <a:t>CONSTRAINTS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55280" y="2468880"/>
            <a:ext cx="2880360" cy="7132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57281"/>
                </a:solidFill>
                <a:latin typeface="Noto Sans CJK KR"/>
              </a:rPr>
              <a:t>[제약조건·금지사항·환경 조건]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3694176"/>
            <a:ext cx="1037844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6112" y="3931920"/>
            <a:ext cx="1920240" cy="3200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6222D"/>
                </a:solidFill>
                <a:latin typeface="Noto Sans CJK KR"/>
              </a:rPr>
              <a:t>발표에서 반드시 답할 3가지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61488" y="3877056"/>
            <a:ext cx="7726679" cy="1143000"/>
          </a:xfrm>
          <a:prstGeom prst="rect">
            <a:avLst/>
          </a:prstGeom>
          <a:noFill/>
        </p:spPr>
        <p:txBody>
          <a:bodyPr wrap="square" lIns="54864" rIns="36576" tIns="18288" bIns="18288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16222D"/>
                </a:solidFill>
                <a:latin typeface="Noto Sans CJK KR"/>
              </a:defRPr>
            </a:pPr>
            <a:r>
              <a:t>• 무엇을 구현해야 했는가?</a:t>
            </a:r>
          </a:p>
          <a:p>
            <a:pPr>
              <a:spcAft>
                <a:spcPts val="600"/>
              </a:spcAft>
              <a:defRPr sz="1200">
                <a:solidFill>
                  <a:srgbClr val="16222D"/>
                </a:solidFill>
                <a:latin typeface="Noto Sans CJK KR"/>
              </a:defRPr>
            </a:pPr>
            <a:r>
              <a:t>• 내 구현은 어디에서 그 요구를 충족하는가?</a:t>
            </a:r>
          </a:p>
          <a:p>
            <a:pPr>
              <a:spcAft>
                <a:spcPts val="600"/>
              </a:spcAft>
              <a:defRPr sz="1200">
                <a:solidFill>
                  <a:srgbClr val="16222D"/>
                </a:solidFill>
                <a:latin typeface="Noto Sans CJK KR"/>
              </a:defRPr>
            </a:pPr>
            <a:r>
              <a:t>• 실제로 동작했다는 근거는 무엇인가?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109728"/>
          </a:xfrm>
          <a:prstGeom prst="rect">
            <a:avLst/>
          </a:prstGeom>
          <a:solidFill>
            <a:srgbClr val="2FA66A"/>
          </a:solidFill>
          <a:ln w="12700">
            <a:solidFill>
              <a:srgbClr val="2FA6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228600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2FA66A"/>
                </a:solidFill>
                <a:latin typeface="Noto Sans CJK KR"/>
              </a:rPr>
              <a:t>REQUIREMENT → EVIDENCE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21792"/>
            <a:ext cx="1069848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6222D"/>
                </a:solidFill>
                <a:latin typeface="Noto Sans CJK KR"/>
              </a:rPr>
              <a:t>요구사항마다 구현·검증·증빙을 1:1로 연결한다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56248"/>
            <a:ext cx="43891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>
                <a:solidFill>
                  <a:srgbClr val="657281"/>
                </a:solidFill>
                <a:latin typeface="Noto Sans CJK KR"/>
              </a:rPr>
              <a:t>CODYSSEY BASIC · MISSION EVALUATION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82528" y="6492240"/>
            <a:ext cx="502920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1">
                <a:solidFill>
                  <a:srgbClr val="2FA66A"/>
                </a:solidFill>
                <a:latin typeface="Noto Sans CJK KR"/>
              </a:rPr>
              <a:t>05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828800"/>
            <a:ext cx="960120" cy="530352"/>
          </a:xfrm>
          <a:prstGeom prst="rect">
            <a:avLst/>
          </a:prstGeom>
          <a:solidFill>
            <a:srgbClr val="081B2F"/>
          </a:solidFill>
          <a:ln w="12700">
            <a:solidFill>
              <a:srgbClr val="081B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2376" y="1956816"/>
            <a:ext cx="832104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Noto Sans CJK KR"/>
              </a:rPr>
              <a:t>ID</a:t>
            </a:r>
          </a:p>
        </p:txBody>
      </p:sp>
      <p:sp>
        <p:nvSpPr>
          <p:cNvPr id="9" name="Rectangle 8"/>
          <p:cNvSpPr/>
          <p:nvPr/>
        </p:nvSpPr>
        <p:spPr>
          <a:xfrm>
            <a:off x="1618488" y="1828800"/>
            <a:ext cx="2743200" cy="530352"/>
          </a:xfrm>
          <a:prstGeom prst="rect">
            <a:avLst/>
          </a:prstGeom>
          <a:solidFill>
            <a:srgbClr val="081B2F"/>
          </a:solidFill>
          <a:ln w="12700">
            <a:solidFill>
              <a:srgbClr val="081B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82496" y="1956816"/>
            <a:ext cx="2615184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Noto Sans CJK KR"/>
              </a:rPr>
              <a:t>Requirement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61688" y="1828800"/>
            <a:ext cx="2377440" cy="530352"/>
          </a:xfrm>
          <a:prstGeom prst="rect">
            <a:avLst/>
          </a:prstGeom>
          <a:solidFill>
            <a:srgbClr val="081B2F"/>
          </a:solidFill>
          <a:ln w="12700">
            <a:solidFill>
              <a:srgbClr val="081B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25696" y="1956816"/>
            <a:ext cx="2249424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Noto Sans CJK KR"/>
              </a:rPr>
              <a:t>Implementation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739128" y="1828800"/>
            <a:ext cx="2194560" cy="530352"/>
          </a:xfrm>
          <a:prstGeom prst="rect">
            <a:avLst/>
          </a:prstGeom>
          <a:solidFill>
            <a:srgbClr val="081B2F"/>
          </a:solidFill>
          <a:ln w="12700">
            <a:solidFill>
              <a:srgbClr val="081B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03136" y="1956816"/>
            <a:ext cx="2066543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Noto Sans CJK KR"/>
              </a:rPr>
              <a:t>Verification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933688" y="1828800"/>
            <a:ext cx="2103120" cy="530352"/>
          </a:xfrm>
          <a:prstGeom prst="rect">
            <a:avLst/>
          </a:prstGeom>
          <a:solidFill>
            <a:srgbClr val="081B2F"/>
          </a:solidFill>
          <a:ln w="12700">
            <a:solidFill>
              <a:srgbClr val="081B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97696" y="1956816"/>
            <a:ext cx="1975103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Noto Sans CJK KR"/>
              </a:rPr>
              <a:t>Evidence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2359152"/>
            <a:ext cx="96012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2376" y="2505456"/>
            <a:ext cx="832104" cy="2468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6222D"/>
                </a:solidFill>
                <a:latin typeface="Noto Sans CJK KR"/>
              </a:rPr>
              <a:t>R-01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618488" y="2359152"/>
            <a:ext cx="274320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682496" y="2505456"/>
            <a:ext cx="2615184" cy="2468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6222D"/>
                </a:solidFill>
                <a:latin typeface="Noto Sans CJK KR"/>
              </a:rPr>
              <a:t>[필수 기능]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61688" y="2359152"/>
            <a:ext cx="237744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25696" y="2505456"/>
            <a:ext cx="2249424" cy="2468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6222D"/>
                </a:solidFill>
                <a:latin typeface="Noto Sans CJK KR"/>
              </a:rPr>
              <a:t>[파일/함수]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739128" y="2359152"/>
            <a:ext cx="219456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03136" y="2505456"/>
            <a:ext cx="2066543" cy="2468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6222D"/>
                </a:solidFill>
                <a:latin typeface="Noto Sans CJK KR"/>
              </a:rPr>
              <a:t>[테스트 명령]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933688" y="2359152"/>
            <a:ext cx="210312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97696" y="2505456"/>
            <a:ext cx="1975103" cy="2468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6222D"/>
                </a:solidFill>
                <a:latin typeface="Noto Sans CJK KR"/>
              </a:rPr>
              <a:t>[로그/캡처]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" y="2962656"/>
            <a:ext cx="960120" cy="603504"/>
          </a:xfrm>
          <a:prstGeom prst="rect">
            <a:avLst/>
          </a:prstGeom>
          <a:solidFill>
            <a:srgbClr val="F2F5F8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22376" y="3108960"/>
            <a:ext cx="832104" cy="2468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6222D"/>
                </a:solidFill>
                <a:latin typeface="Noto Sans CJK KR"/>
              </a:rPr>
              <a:t>R-02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618488" y="2962656"/>
            <a:ext cx="2743200" cy="603504"/>
          </a:xfrm>
          <a:prstGeom prst="rect">
            <a:avLst/>
          </a:prstGeom>
          <a:solidFill>
            <a:srgbClr val="F2F5F8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682496" y="3108960"/>
            <a:ext cx="2615184" cy="2468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6222D"/>
                </a:solidFill>
                <a:latin typeface="Noto Sans CJK KR"/>
              </a:rPr>
              <a:t>[제약 조건]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61688" y="2962656"/>
            <a:ext cx="2377440" cy="603504"/>
          </a:xfrm>
          <a:prstGeom prst="rect">
            <a:avLst/>
          </a:prstGeom>
          <a:solidFill>
            <a:srgbClr val="F2F5F8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425696" y="3108960"/>
            <a:ext cx="2249424" cy="2468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6222D"/>
                </a:solidFill>
                <a:latin typeface="Noto Sans CJK KR"/>
              </a:rPr>
              <a:t>[설정/정책]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739128" y="2962656"/>
            <a:ext cx="2194560" cy="603504"/>
          </a:xfrm>
          <a:prstGeom prst="rect">
            <a:avLst/>
          </a:prstGeom>
          <a:solidFill>
            <a:srgbClr val="F2F5F8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03136" y="3108960"/>
            <a:ext cx="2066543" cy="2468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6222D"/>
                </a:solidFill>
                <a:latin typeface="Noto Sans CJK KR"/>
              </a:rPr>
              <a:t>[정적/실행 검증]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933688" y="2962656"/>
            <a:ext cx="2103120" cy="603504"/>
          </a:xfrm>
          <a:prstGeom prst="rect">
            <a:avLst/>
          </a:prstGeom>
          <a:solidFill>
            <a:srgbClr val="F2F5F8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997696" y="3108960"/>
            <a:ext cx="1975103" cy="2468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6222D"/>
                </a:solidFill>
                <a:latin typeface="Noto Sans CJK KR"/>
              </a:rPr>
              <a:t>[설정 증빙]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8368" y="3566160"/>
            <a:ext cx="96012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22376" y="3712464"/>
            <a:ext cx="832104" cy="2468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6222D"/>
                </a:solidFill>
                <a:latin typeface="Noto Sans CJK KR"/>
              </a:rPr>
              <a:t>R-03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618488" y="3566160"/>
            <a:ext cx="274320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682496" y="3712464"/>
            <a:ext cx="2615184" cy="2468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6222D"/>
                </a:solidFill>
                <a:latin typeface="Noto Sans CJK KR"/>
              </a:rPr>
              <a:t>[오류 처리]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61688" y="3566160"/>
            <a:ext cx="237744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425696" y="3712464"/>
            <a:ext cx="2249424" cy="2468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6222D"/>
                </a:solidFill>
                <a:latin typeface="Noto Sans CJK KR"/>
              </a:rPr>
              <a:t>[예외/복구]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739128" y="3566160"/>
            <a:ext cx="219456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803136" y="3712464"/>
            <a:ext cx="2066543" cy="2468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6222D"/>
                </a:solidFill>
                <a:latin typeface="Noto Sans CJK KR"/>
              </a:rPr>
              <a:t>[실패 시나리오]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933688" y="3566160"/>
            <a:ext cx="210312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997696" y="3712464"/>
            <a:ext cx="1975103" cy="2468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6222D"/>
                </a:solidFill>
                <a:latin typeface="Noto Sans CJK KR"/>
              </a:rPr>
              <a:t>[Before/After]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58368" y="4169664"/>
            <a:ext cx="960120" cy="603504"/>
          </a:xfrm>
          <a:prstGeom prst="rect">
            <a:avLst/>
          </a:prstGeom>
          <a:solidFill>
            <a:srgbClr val="F2F5F8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22376" y="4315968"/>
            <a:ext cx="832104" cy="2468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6222D"/>
                </a:solidFill>
                <a:latin typeface="Noto Sans CJK KR"/>
              </a:rPr>
              <a:t>R-04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618488" y="4169664"/>
            <a:ext cx="2743200" cy="603504"/>
          </a:xfrm>
          <a:prstGeom prst="rect">
            <a:avLst/>
          </a:prstGeom>
          <a:solidFill>
            <a:srgbClr val="F2F5F8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682496" y="4315968"/>
            <a:ext cx="2615184" cy="2468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6222D"/>
                </a:solidFill>
                <a:latin typeface="Noto Sans CJK KR"/>
              </a:rPr>
              <a:t>[문서/설명]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361688" y="4169664"/>
            <a:ext cx="2377440" cy="603504"/>
          </a:xfrm>
          <a:prstGeom prst="rect">
            <a:avLst/>
          </a:prstGeom>
          <a:solidFill>
            <a:srgbClr val="F2F5F8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425696" y="4315968"/>
            <a:ext cx="2249424" cy="2468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6222D"/>
                </a:solidFill>
                <a:latin typeface="Noto Sans CJK KR"/>
              </a:rPr>
              <a:t>[README/Guide]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739128" y="4169664"/>
            <a:ext cx="2194560" cy="603504"/>
          </a:xfrm>
          <a:prstGeom prst="rect">
            <a:avLst/>
          </a:prstGeom>
          <a:solidFill>
            <a:srgbClr val="F2F5F8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803136" y="4315968"/>
            <a:ext cx="2066543" cy="2468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6222D"/>
                </a:solidFill>
                <a:latin typeface="Noto Sans CJK KR"/>
              </a:rPr>
              <a:t>[링크 점검]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933688" y="4169664"/>
            <a:ext cx="2103120" cy="603504"/>
          </a:xfrm>
          <a:prstGeom prst="rect">
            <a:avLst/>
          </a:prstGeom>
          <a:solidFill>
            <a:srgbClr val="F2F5F8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997696" y="4315968"/>
            <a:ext cx="1975103" cy="2468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6222D"/>
                </a:solidFill>
                <a:latin typeface="Noto Sans CJK KR"/>
              </a:rPr>
              <a:t>[문서 위치]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58368" y="4773168"/>
            <a:ext cx="96012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22376" y="4919472"/>
            <a:ext cx="832104" cy="2468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6222D"/>
                </a:solidFill>
                <a:latin typeface="Noto Sans CJK KR"/>
              </a:rPr>
              <a:t>R-05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618488" y="4773168"/>
            <a:ext cx="274320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682496" y="4919472"/>
            <a:ext cx="2615184" cy="2468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6222D"/>
                </a:solidFill>
                <a:latin typeface="Noto Sans CJK KR"/>
              </a:rPr>
              <a:t>[배포/협업]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361688" y="4773168"/>
            <a:ext cx="237744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425696" y="4919472"/>
            <a:ext cx="2249424" cy="2468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6222D"/>
                </a:solidFill>
                <a:latin typeface="Noto Sans CJK KR"/>
              </a:rPr>
              <a:t>[URL/PR]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739128" y="4773168"/>
            <a:ext cx="219456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803136" y="4919472"/>
            <a:ext cx="2066543" cy="2468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6222D"/>
                </a:solidFill>
                <a:latin typeface="Noto Sans CJK KR"/>
              </a:rPr>
              <a:t>[외부 접속/리뷰]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933688" y="4773168"/>
            <a:ext cx="210312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997696" y="4919472"/>
            <a:ext cx="1975103" cy="2468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6222D"/>
                </a:solidFill>
                <a:latin typeface="Noto Sans CJK KR"/>
              </a:rPr>
              <a:t>[URL/PR 링크]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49808" y="5596128"/>
            <a:ext cx="658368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2FA66A"/>
                </a:solidFill>
                <a:latin typeface="Noto Sans CJK KR"/>
              </a:rPr>
              <a:t>TIP · PASS를 먼저 쓰지 말고 Evidence가 존재하는지부터 확인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109728"/>
          </a:xfrm>
          <a:prstGeom prst="rect">
            <a:avLst/>
          </a:prstGeom>
          <a:solidFill>
            <a:srgbClr val="F3A61D"/>
          </a:solidFill>
          <a:ln w="12700">
            <a:solidFill>
              <a:srgbClr val="F3A6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228600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F3A61D"/>
                </a:solidFill>
                <a:latin typeface="Noto Sans CJK KR"/>
              </a:rPr>
              <a:t>PROBLEM → OBJECTIVE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21792"/>
            <a:ext cx="1069848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6222D"/>
                </a:solidFill>
                <a:latin typeface="Noto Sans CJK KR"/>
              </a:rPr>
              <a:t>문제 → 원인 → 목표를 한 장에서 연결한다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56248"/>
            <a:ext cx="43891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>
                <a:solidFill>
                  <a:srgbClr val="657281"/>
                </a:solidFill>
                <a:latin typeface="Noto Sans CJK KR"/>
              </a:rPr>
              <a:t>CODYSSEY BASIC · MISSION EVALUATION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82528" y="6492240"/>
            <a:ext cx="502920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1">
                <a:solidFill>
                  <a:srgbClr val="F3A61D"/>
                </a:solidFill>
                <a:latin typeface="Noto Sans CJK KR"/>
              </a:rPr>
              <a:t>06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965960"/>
            <a:ext cx="3154680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1965960"/>
            <a:ext cx="82296" cy="2057400"/>
          </a:xfrm>
          <a:prstGeom prst="rect">
            <a:avLst/>
          </a:prstGeom>
          <a:solidFill>
            <a:srgbClr val="D95D58"/>
          </a:solidFill>
          <a:ln w="12700">
            <a:solidFill>
              <a:srgbClr val="D95D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2112264"/>
            <a:ext cx="2715768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6222D"/>
                </a:solidFill>
                <a:latin typeface="Noto Sans CJK KR"/>
              </a:rPr>
              <a:t>PROBLEM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" y="2587752"/>
            <a:ext cx="2697480" cy="1289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57281"/>
                </a:solidFill>
                <a:latin typeface="Noto Sans CJK KR"/>
              </a:rPr>
              <a:t>[관찰한 문제 / 공식 미션의 문제 상황]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886200" y="2999232"/>
            <a:ext cx="548640" cy="0"/>
          </a:xfrm>
          <a:prstGeom prst="line">
            <a:avLst/>
          </a:prstGeom>
          <a:ln w="27940">
            <a:solidFill>
              <a:srgbClr val="F3A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4498848" y="1965960"/>
            <a:ext cx="3154680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98848" y="1965960"/>
            <a:ext cx="82296" cy="2057400"/>
          </a:xfrm>
          <a:prstGeom prst="rect">
            <a:avLst/>
          </a:prstGeom>
          <a:solidFill>
            <a:srgbClr val="F3A61D"/>
          </a:solidFill>
          <a:ln w="12700">
            <a:solidFill>
              <a:srgbClr val="F3A6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54880" y="2112264"/>
            <a:ext cx="2715768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6222D"/>
                </a:solidFill>
                <a:latin typeface="Noto Sans CJK KR"/>
              </a:rPr>
              <a:t>ROOT CAUSE / GAP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2587752"/>
            <a:ext cx="2697480" cy="1289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57281"/>
                </a:solidFill>
                <a:latin typeface="Noto Sans CJK KR"/>
              </a:rPr>
              <a:t>[왜 문제가 발생하는가 / 무엇이 부족한가]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699248" y="2999232"/>
            <a:ext cx="548640" cy="0"/>
          </a:xfrm>
          <a:prstGeom prst="line">
            <a:avLst/>
          </a:prstGeom>
          <a:ln w="27940">
            <a:solidFill>
              <a:srgbClr val="19A8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8302752" y="1965960"/>
            <a:ext cx="3154680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302752" y="1965960"/>
            <a:ext cx="82296" cy="2057400"/>
          </a:xfrm>
          <a:prstGeom prst="rect">
            <a:avLst/>
          </a:prstGeom>
          <a:solidFill>
            <a:srgbClr val="19A89D"/>
          </a:solidFill>
          <a:ln w="12700">
            <a:solidFill>
              <a:srgbClr val="19A8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58784" y="2112264"/>
            <a:ext cx="2715768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6222D"/>
                </a:solidFill>
                <a:latin typeface="Noto Sans CJK KR"/>
              </a:rPr>
              <a:t>OBJECTIVE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58784" y="2587752"/>
            <a:ext cx="2697480" cy="1289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57281"/>
                </a:solidFill>
                <a:latin typeface="Noto Sans CJK KR"/>
              </a:rPr>
              <a:t>[이번 구현에서 달성할 검증 가능한 목표]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4645152"/>
            <a:ext cx="8869680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6222D"/>
                </a:solidFill>
                <a:latin typeface="Noto Sans CJK KR"/>
              </a:rPr>
              <a:t>목표는 ‘좋아 보이는 기능’이 아니라 평가 가능한 상태로 작성한다.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5074920"/>
            <a:ext cx="9692640" cy="3200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57281"/>
                </a:solidFill>
                <a:latin typeface="Noto Sans CJK KR"/>
              </a:rPr>
              <a:t>예: ‘안정성을 높인다’ → ‘실패 입력에서 비정상 종료 없이 명시적 오류를 반환한다’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109728"/>
          </a:xfrm>
          <a:prstGeom prst="rect">
            <a:avLst/>
          </a:prstGeom>
          <a:solidFill>
            <a:srgbClr val="19A89D"/>
          </a:solidFill>
          <a:ln w="12700">
            <a:solidFill>
              <a:srgbClr val="19A8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228600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9A89D"/>
                </a:solidFill>
                <a:latin typeface="Noto Sans CJK KR"/>
              </a:rPr>
              <a:t>SOLUTION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21792"/>
            <a:ext cx="1069848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6222D"/>
                </a:solidFill>
                <a:latin typeface="Noto Sans CJK KR"/>
              </a:rPr>
              <a:t>해결책은 기능 목록이 아니라 전체 사용자·시스템 흐름으로 보여준다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56248"/>
            <a:ext cx="43891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>
                <a:solidFill>
                  <a:srgbClr val="657281"/>
                </a:solidFill>
                <a:latin typeface="Noto Sans CJK KR"/>
              </a:rPr>
              <a:t>CODYSSEY BASIC · MISSION EVALUATION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82528" y="6492240"/>
            <a:ext cx="502920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1">
                <a:solidFill>
                  <a:srgbClr val="19A89D"/>
                </a:solidFill>
                <a:latin typeface="Noto Sans CJK KR"/>
              </a:rPr>
              <a:t>07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" y="2395728"/>
            <a:ext cx="1874519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87552" y="2578608"/>
            <a:ext cx="822960" cy="310896"/>
          </a:xfrm>
          <a:prstGeom prst="roundRect">
            <a:avLst/>
          </a:prstGeom>
          <a:solidFill>
            <a:srgbClr val="EDF2F7"/>
          </a:solidFill>
          <a:ln w="12700">
            <a:solidFill>
              <a:srgbClr val="EDF2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" y="2628900"/>
            <a:ext cx="713232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2F80ED"/>
                </a:solidFill>
                <a:latin typeface="Noto Sans CJK KR"/>
              </a:rPr>
              <a:t>INPUT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3108960"/>
            <a:ext cx="1508759" cy="3200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6222D"/>
                </a:solidFill>
                <a:latin typeface="Noto Sans CJK KR"/>
              </a:rPr>
              <a:t>사용자/이벤트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679191" y="3090672"/>
            <a:ext cx="292608" cy="0"/>
          </a:xfrm>
          <a:prstGeom prst="line">
            <a:avLst/>
          </a:prstGeom>
          <a:ln w="22860">
            <a:solidFill>
              <a:srgbClr val="19A8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3008375" y="2395728"/>
            <a:ext cx="1874519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191255" y="2578608"/>
            <a:ext cx="822960" cy="310896"/>
          </a:xfrm>
          <a:prstGeom prst="roundRect">
            <a:avLst/>
          </a:prstGeom>
          <a:solidFill>
            <a:srgbClr val="EDF2F7"/>
          </a:solidFill>
          <a:ln w="12700">
            <a:solidFill>
              <a:srgbClr val="EDF2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46119" y="2628900"/>
            <a:ext cx="713232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9A89D"/>
                </a:solidFill>
                <a:latin typeface="Noto Sans CJK KR"/>
              </a:rPr>
              <a:t>PROCESS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91255" y="3108960"/>
            <a:ext cx="1508759" cy="3200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6222D"/>
                </a:solidFill>
                <a:latin typeface="Noto Sans CJK KR"/>
              </a:rPr>
              <a:t>핵심 로직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882894" y="3090672"/>
            <a:ext cx="292608" cy="0"/>
          </a:xfrm>
          <a:prstGeom prst="line">
            <a:avLst/>
          </a:prstGeom>
          <a:ln w="22860">
            <a:solidFill>
              <a:srgbClr val="19A8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5212078" y="2395728"/>
            <a:ext cx="1874519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394958" y="2578608"/>
            <a:ext cx="822960" cy="310896"/>
          </a:xfrm>
          <a:prstGeom prst="roundRect">
            <a:avLst/>
          </a:prstGeom>
          <a:solidFill>
            <a:srgbClr val="EDF2F7"/>
          </a:solidFill>
          <a:ln w="12700">
            <a:solidFill>
              <a:srgbClr val="EDF2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49822" y="2628900"/>
            <a:ext cx="713232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3A61D"/>
                </a:solidFill>
                <a:latin typeface="Noto Sans CJK KR"/>
              </a:rPr>
              <a:t>DATA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94958" y="3108960"/>
            <a:ext cx="1508759" cy="3200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6222D"/>
                </a:solidFill>
                <a:latin typeface="Noto Sans CJK KR"/>
              </a:rPr>
              <a:t>저장/상태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086597" y="3090672"/>
            <a:ext cx="292608" cy="0"/>
          </a:xfrm>
          <a:prstGeom prst="line">
            <a:avLst/>
          </a:prstGeom>
          <a:ln w="22860">
            <a:solidFill>
              <a:srgbClr val="19A8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415781" y="2395728"/>
            <a:ext cx="1874519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598661" y="2578608"/>
            <a:ext cx="822960" cy="310896"/>
          </a:xfrm>
          <a:prstGeom prst="roundRect">
            <a:avLst/>
          </a:prstGeom>
          <a:solidFill>
            <a:srgbClr val="EDF2F7"/>
          </a:solidFill>
          <a:ln w="12700">
            <a:solidFill>
              <a:srgbClr val="EDF2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53525" y="2628900"/>
            <a:ext cx="713232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2FA66A"/>
                </a:solidFill>
                <a:latin typeface="Noto Sans CJK KR"/>
              </a:rPr>
              <a:t>VERIFY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98661" y="3108960"/>
            <a:ext cx="1508759" cy="3200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6222D"/>
                </a:solidFill>
                <a:latin typeface="Noto Sans CJK KR"/>
              </a:rPr>
              <a:t>검증/로그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9290300" y="3090672"/>
            <a:ext cx="292608" cy="0"/>
          </a:xfrm>
          <a:prstGeom prst="line">
            <a:avLst/>
          </a:prstGeom>
          <a:ln w="22860">
            <a:solidFill>
              <a:srgbClr val="19A8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9619484" y="2395728"/>
            <a:ext cx="1874519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802364" y="2578608"/>
            <a:ext cx="822960" cy="310896"/>
          </a:xfrm>
          <a:prstGeom prst="roundRect">
            <a:avLst/>
          </a:prstGeom>
          <a:solidFill>
            <a:srgbClr val="EDF2F7"/>
          </a:solidFill>
          <a:ln w="12700">
            <a:solidFill>
              <a:srgbClr val="EDF2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857228" y="2628900"/>
            <a:ext cx="713232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12B47"/>
                </a:solidFill>
                <a:latin typeface="Noto Sans CJK KR"/>
              </a:rPr>
              <a:t>OUTPUT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02364" y="3108960"/>
            <a:ext cx="1508759" cy="3200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6222D"/>
                </a:solidFill>
                <a:latin typeface="Noto Sans CJK KR"/>
              </a:rPr>
              <a:t>결과/화면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4672" y="4315968"/>
            <a:ext cx="10424160" cy="1170432"/>
          </a:xfrm>
          <a:prstGeom prst="roundRect">
            <a:avLst/>
          </a:prstGeom>
          <a:solidFill>
            <a:srgbClr val="E9F8F6"/>
          </a:solidFill>
          <a:ln w="12700">
            <a:solidFill>
              <a:srgbClr val="E9F8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24128" y="4553712"/>
            <a:ext cx="182880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9A89D"/>
                </a:solidFill>
                <a:latin typeface="Noto Sans CJK KR"/>
              </a:rPr>
              <a:t>핵심 설계 선택(Why)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834640" y="4489704"/>
            <a:ext cx="7790688" cy="5029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6222D"/>
                </a:solidFill>
                <a:latin typeface="Noto Sans CJK KR"/>
              </a:rPr>
              <a:t>[선택한 구조]를 사용한 이유는 [평가 요구 / 유지보수 / 검증 가능성] 때문이다.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109728"/>
          </a:xfrm>
          <a:prstGeom prst="rect">
            <a:avLst/>
          </a:prstGeom>
          <a:solidFill>
            <a:srgbClr val="2F80ED"/>
          </a:solidFill>
          <a:ln w="12700">
            <a:solidFill>
              <a:srgbClr val="2F8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228600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2F80ED"/>
                </a:solidFill>
                <a:latin typeface="Noto Sans CJK KR"/>
              </a:rP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21792"/>
            <a:ext cx="1069848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6222D"/>
                </a:solidFill>
                <a:latin typeface="Noto Sans CJK KR"/>
              </a:rPr>
              <a:t>컴포넌트의 책임과 데이터 흐름을 동시에 보여준다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56248"/>
            <a:ext cx="43891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>
                <a:solidFill>
                  <a:srgbClr val="657281"/>
                </a:solidFill>
                <a:latin typeface="Noto Sans CJK KR"/>
              </a:rPr>
              <a:t>CODYSSEY BASIC · MISSION EVALUATION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82528" y="6492240"/>
            <a:ext cx="502920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1">
                <a:solidFill>
                  <a:srgbClr val="2F80ED"/>
                </a:solidFill>
                <a:latin typeface="Noto Sans CJK KR"/>
              </a:rPr>
              <a:t>08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2148840"/>
            <a:ext cx="1956816" cy="15727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2350008"/>
            <a:ext cx="1627632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12B47"/>
                </a:solidFill>
                <a:latin typeface="Noto Sans CJK KR"/>
              </a:rPr>
              <a:t>CLIENT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" y="2816352"/>
            <a:ext cx="1627632" cy="4572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6222D"/>
                </a:solidFill>
                <a:latin typeface="Noto Sans CJK KR"/>
              </a:rPr>
              <a:t>UI / CLI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670048" y="2926080"/>
            <a:ext cx="219456" cy="0"/>
          </a:xfrm>
          <a:prstGeom prst="line">
            <a:avLst/>
          </a:prstGeom>
          <a:ln w="21590">
            <a:solidFill>
              <a:srgbClr val="2F80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926080" y="2148840"/>
            <a:ext cx="1956816" cy="15727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90672" y="2350008"/>
            <a:ext cx="1627632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2F80ED"/>
                </a:solidFill>
                <a:latin typeface="Noto Sans CJK KR"/>
              </a:rPr>
              <a:t>ENTRY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90672" y="2816352"/>
            <a:ext cx="1627632" cy="4572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6222D"/>
                </a:solidFill>
                <a:latin typeface="Noto Sans CJK KR"/>
              </a:rPr>
              <a:t>Router / Command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882896" y="2926080"/>
            <a:ext cx="219456" cy="0"/>
          </a:xfrm>
          <a:prstGeom prst="line">
            <a:avLst/>
          </a:prstGeom>
          <a:ln w="21590">
            <a:solidFill>
              <a:srgbClr val="2F80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5138928" y="2148840"/>
            <a:ext cx="1956816" cy="15727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0" y="2350008"/>
            <a:ext cx="1627632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9A89D"/>
                </a:solidFill>
                <a:latin typeface="Noto Sans CJK KR"/>
              </a:rPr>
              <a:t>LOGIC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0" y="2816352"/>
            <a:ext cx="1627632" cy="4572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6222D"/>
                </a:solidFill>
                <a:latin typeface="Noto Sans CJK KR"/>
              </a:rPr>
              <a:t>Service / Core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095744" y="2926080"/>
            <a:ext cx="219456" cy="0"/>
          </a:xfrm>
          <a:prstGeom prst="line">
            <a:avLst/>
          </a:prstGeom>
          <a:ln w="21590">
            <a:solidFill>
              <a:srgbClr val="2F80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351776" y="2148840"/>
            <a:ext cx="1956816" cy="15727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516368" y="2350008"/>
            <a:ext cx="1627632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F3A61D"/>
                </a:solidFill>
                <a:latin typeface="Noto Sans CJK KR"/>
              </a:rPr>
              <a:t>DATA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16368" y="2816352"/>
            <a:ext cx="1627632" cy="4572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6222D"/>
                </a:solidFill>
                <a:latin typeface="Noto Sans CJK KR"/>
              </a:rPr>
              <a:t>Repository / DB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9308592" y="2926080"/>
            <a:ext cx="219456" cy="0"/>
          </a:xfrm>
          <a:prstGeom prst="line">
            <a:avLst/>
          </a:prstGeom>
          <a:ln w="21590">
            <a:solidFill>
              <a:srgbClr val="2F80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9564624" y="2148840"/>
            <a:ext cx="1956816" cy="15727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729216" y="2350008"/>
            <a:ext cx="1627632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2FA66A"/>
                </a:solidFill>
                <a:latin typeface="Noto Sans CJK KR"/>
              </a:rPr>
              <a:t>EXTERNAL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29216" y="2816352"/>
            <a:ext cx="1627632" cy="4572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6222D"/>
                </a:solidFill>
                <a:latin typeface="Noto Sans CJK KR"/>
              </a:rPr>
              <a:t>API / OS / Cloud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" y="4206240"/>
            <a:ext cx="10149840" cy="1234440"/>
          </a:xfrm>
          <a:prstGeom prst="rect">
            <a:avLst/>
          </a:prstGeom>
          <a:noFill/>
        </p:spPr>
        <p:txBody>
          <a:bodyPr wrap="square" lIns="54864" rIns="36576" tIns="18288" bIns="18288">
            <a:spAutoFit/>
          </a:bodyPr>
          <a:lstStyle/>
          <a:p>
            <a:pPr>
              <a:spcAft>
                <a:spcPts val="600"/>
              </a:spcAft>
              <a:defRPr sz="1150">
                <a:solidFill>
                  <a:srgbClr val="16222D"/>
                </a:solidFill>
                <a:latin typeface="Noto Sans CJK KR"/>
              </a:defRPr>
            </a:pPr>
            <a:r>
              <a:t>• 각 박스에는 ‘무엇을 하는가’보다 ‘어떤 책임을 갖는가’를 작성</a:t>
            </a:r>
          </a:p>
          <a:p>
            <a:pPr>
              <a:spcAft>
                <a:spcPts val="600"/>
              </a:spcAft>
              <a:defRPr sz="1150">
                <a:solidFill>
                  <a:srgbClr val="16222D"/>
                </a:solidFill>
                <a:latin typeface="Noto Sans CJK KR"/>
              </a:defRPr>
            </a:pPr>
            <a:r>
              <a:t>• 화살표에는 Request / Response / Event / Data 등 흐름의 의미를 표기</a:t>
            </a:r>
          </a:p>
          <a:p>
            <a:pPr>
              <a:spcAft>
                <a:spcPts val="600"/>
              </a:spcAft>
              <a:defRPr sz="1150">
                <a:solidFill>
                  <a:srgbClr val="16222D"/>
                </a:solidFill>
                <a:latin typeface="Noto Sans CJK KR"/>
              </a:defRPr>
            </a:pPr>
            <a:r>
              <a:t>• 평가 질문: ‘왜 이렇게 분리했나요?’에 바로 답할 수 있도록 구성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109728"/>
          </a:xfrm>
          <a:prstGeom prst="rect">
            <a:avLst/>
          </a:prstGeom>
          <a:solidFill>
            <a:srgbClr val="19A89D"/>
          </a:solidFill>
          <a:ln w="12700">
            <a:solidFill>
              <a:srgbClr val="19A8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228600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9A89D"/>
                </a:solidFill>
                <a:latin typeface="Noto Sans CJK KR"/>
              </a:rPr>
              <a:t>TECHNOLOGY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21792"/>
            <a:ext cx="1069848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6222D"/>
                </a:solidFill>
                <a:latin typeface="Noto Sans CJK KR"/>
              </a:rPr>
              <a:t>기술 스택은 이름보다 선택 이유와 역할을 중심으로 정리한다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56248"/>
            <a:ext cx="43891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>
                <a:solidFill>
                  <a:srgbClr val="657281"/>
                </a:solidFill>
                <a:latin typeface="Noto Sans CJK KR"/>
              </a:rPr>
              <a:t>CODYSSEY BASIC · MISSION EVALUATION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82528" y="6492240"/>
            <a:ext cx="502920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1">
                <a:solidFill>
                  <a:srgbClr val="19A89D"/>
                </a:solidFill>
                <a:latin typeface="Noto Sans CJK KR"/>
              </a:rPr>
              <a:t>09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084831"/>
            <a:ext cx="2578608" cy="23957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084831"/>
            <a:ext cx="82296" cy="2395728"/>
          </a:xfrm>
          <a:prstGeom prst="rect">
            <a:avLst/>
          </a:prstGeom>
          <a:solidFill>
            <a:srgbClr val="2F80ED"/>
          </a:solidFill>
          <a:ln w="12700">
            <a:solidFill>
              <a:srgbClr val="2F8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50976" y="2249423"/>
            <a:ext cx="438912" cy="34747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F80ED"/>
                </a:solidFill>
                <a:latin typeface="Noto Sans CJK KR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2231135"/>
            <a:ext cx="1737360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6222D"/>
                </a:solidFill>
                <a:latin typeface="Noto Sans CJK KR"/>
              </a:rPr>
              <a:t>LANGUAGE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" y="2706623"/>
            <a:ext cx="2121408" cy="16276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57281"/>
                </a:solidFill>
                <a:latin typeface="Noto Sans CJK KR"/>
              </a:rPr>
              <a:t>Python / JS / SQL
[왜 이 언어인가]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29584" y="2084831"/>
            <a:ext cx="2578608" cy="23957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29584" y="2084831"/>
            <a:ext cx="82296" cy="2395728"/>
          </a:xfrm>
          <a:prstGeom prst="rect">
            <a:avLst/>
          </a:prstGeom>
          <a:solidFill>
            <a:srgbClr val="19A89D"/>
          </a:solidFill>
          <a:ln w="12700">
            <a:solidFill>
              <a:srgbClr val="19A8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49040" y="2249423"/>
            <a:ext cx="438912" cy="34747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9A89D"/>
                </a:solidFill>
                <a:latin typeface="Noto Sans CJK KR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87952" y="2231135"/>
            <a:ext cx="1737360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6222D"/>
                </a:solidFill>
                <a:latin typeface="Noto Sans CJK KR"/>
              </a:rPr>
              <a:t>FRAMEWORK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85616" y="2706623"/>
            <a:ext cx="2121408" cy="16276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57281"/>
                </a:solidFill>
                <a:latin typeface="Noto Sans CJK KR"/>
              </a:rPr>
              <a:t>FastAPI / React
[어떤 책임인가]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27648" y="2084831"/>
            <a:ext cx="2578608" cy="23957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27648" y="2084831"/>
            <a:ext cx="82296" cy="2395728"/>
          </a:xfrm>
          <a:prstGeom prst="rect">
            <a:avLst/>
          </a:prstGeom>
          <a:solidFill>
            <a:srgbClr val="F3A61D"/>
          </a:solidFill>
          <a:ln w="12700">
            <a:solidFill>
              <a:srgbClr val="F3A6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47104" y="2249423"/>
            <a:ext cx="438912" cy="34747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3A61D"/>
                </a:solidFill>
                <a:latin typeface="Noto Sans CJK KR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86016" y="2231135"/>
            <a:ext cx="1737360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6222D"/>
                </a:solidFill>
                <a:latin typeface="Noto Sans CJK KR"/>
              </a:rPr>
              <a:t>DATA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2706623"/>
            <a:ext cx="2121408" cy="16276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57281"/>
                </a:solidFill>
                <a:latin typeface="Noto Sans CJK KR"/>
              </a:rPr>
              <a:t>SQLite / PostgreSQL
[어떤 데이터 요구인가]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25712" y="2084831"/>
            <a:ext cx="2578608" cy="23957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125712" y="2084831"/>
            <a:ext cx="82296" cy="2395728"/>
          </a:xfrm>
          <a:prstGeom prst="rect">
            <a:avLst/>
          </a:prstGeom>
          <a:solidFill>
            <a:srgbClr val="2FA66A"/>
          </a:solidFill>
          <a:ln w="12700">
            <a:solidFill>
              <a:srgbClr val="2FA6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45168" y="2249423"/>
            <a:ext cx="438912" cy="34747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FA66A"/>
                </a:solidFill>
                <a:latin typeface="Noto Sans CJK KR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84080" y="2231135"/>
            <a:ext cx="1737360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6222D"/>
                </a:solidFill>
                <a:latin typeface="Noto Sans CJK KR"/>
              </a:rPr>
              <a:t>TOOLS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81744" y="2706623"/>
            <a:ext cx="2121408" cy="16276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57281"/>
                </a:solidFill>
                <a:latin typeface="Noto Sans CJK KR"/>
              </a:rPr>
              <a:t>Git / GitHub / Test
[어떻게 검증·협업하는가]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8" y="4983480"/>
            <a:ext cx="393192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D95D58"/>
                </a:solidFill>
                <a:latin typeface="Noto Sans CJK KR"/>
              </a:rPr>
              <a:t>Avoid · 로고만 나열하는 ‘기술 스택 슬라이드’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09160" y="4983480"/>
            <a:ext cx="512064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2FA66A"/>
                </a:solidFill>
                <a:latin typeface="Noto Sans CJK KR"/>
              </a:rPr>
              <a:t>Prefer · ‘요구사항 → 기술 선택 → 책임 → 검증 방식’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109728"/>
          </a:xfrm>
          <a:prstGeom prst="rect">
            <a:avLst/>
          </a:prstGeom>
          <a:solidFill>
            <a:srgbClr val="19A89D"/>
          </a:solidFill>
          <a:ln w="12700">
            <a:solidFill>
              <a:srgbClr val="19A8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228600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9A89D"/>
                </a:solidFill>
                <a:latin typeface="Noto Sans CJK KR"/>
              </a:rPr>
              <a:t>TECHNICAL DEEP 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21792"/>
            <a:ext cx="1069848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6222D"/>
                </a:solidFill>
                <a:latin typeface="Noto Sans CJK KR"/>
              </a:rPr>
              <a:t>핵심 코드 10~18줄만 보여주고 설계 의도를 설명한다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56248"/>
            <a:ext cx="43891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>
                <a:solidFill>
                  <a:srgbClr val="657281"/>
                </a:solidFill>
                <a:latin typeface="Noto Sans CJK KR"/>
              </a:rPr>
              <a:t>CODYSSEY BASIC · MISSION EVALUATION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82528" y="6492240"/>
            <a:ext cx="502920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1">
                <a:solidFill>
                  <a:srgbClr val="19A89D"/>
                </a:solidFill>
                <a:latin typeface="Noto Sans CJK KR"/>
              </a:rPr>
              <a:t>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847088"/>
            <a:ext cx="6766560" cy="3931920"/>
          </a:xfrm>
          <a:prstGeom prst="roundRect">
            <a:avLst/>
          </a:prstGeom>
          <a:solidFill>
            <a:srgbClr val="081B2F"/>
          </a:solidFill>
          <a:ln w="12700">
            <a:solidFill>
              <a:srgbClr val="081B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176272"/>
            <a:ext cx="6172200" cy="30632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D9E7F5"/>
                </a:solidFill>
                <a:latin typeface="Aptos Mono"/>
              </a:rPr>
              <a:t>01  def [core_function](input):
02      # 핵심 전제 / invariant
03      validated = validate(input)
04      result = service.execute(validated)
05      evidence.log(result)
06      return result
# [실제 코드 10~18줄 삽입]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62672" y="1847088"/>
            <a:ext cx="3584448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62672" y="1847088"/>
            <a:ext cx="82296" cy="1115568"/>
          </a:xfrm>
          <a:prstGeom prst="rect">
            <a:avLst/>
          </a:prstGeom>
          <a:solidFill>
            <a:srgbClr val="2F80ED"/>
          </a:solidFill>
          <a:ln w="12700">
            <a:solidFill>
              <a:srgbClr val="2F8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18704" y="1993392"/>
            <a:ext cx="3145536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6222D"/>
                </a:solidFill>
                <a:latin typeface="Noto Sans CJK KR"/>
              </a:rPr>
              <a:t>WHY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18704" y="2468880"/>
            <a:ext cx="3127248" cy="34747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57281"/>
                </a:solidFill>
                <a:latin typeface="Noto Sans CJK KR"/>
              </a:rPr>
              <a:t>[이 로직이 필요한 이유]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62672" y="3145536"/>
            <a:ext cx="3584448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62672" y="3145536"/>
            <a:ext cx="82296" cy="1115568"/>
          </a:xfrm>
          <a:prstGeom prst="rect">
            <a:avLst/>
          </a:prstGeom>
          <a:solidFill>
            <a:srgbClr val="F3A61D"/>
          </a:solidFill>
          <a:ln w="12700">
            <a:solidFill>
              <a:srgbClr val="F3A6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18704" y="3291840"/>
            <a:ext cx="3145536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6222D"/>
                </a:solidFill>
                <a:latin typeface="Noto Sans CJK KR"/>
              </a:rPr>
              <a:t>CONTRACT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18704" y="3767328"/>
            <a:ext cx="3127248" cy="34747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57281"/>
                </a:solidFill>
                <a:latin typeface="Noto Sans CJK KR"/>
              </a:rPr>
              <a:t>[입력·출력·예외 계약]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62672" y="4443984"/>
            <a:ext cx="3584448" cy="13350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62672" y="4443984"/>
            <a:ext cx="82296" cy="1335024"/>
          </a:xfrm>
          <a:prstGeom prst="rect">
            <a:avLst/>
          </a:prstGeom>
          <a:solidFill>
            <a:srgbClr val="2FA66A"/>
          </a:solidFill>
          <a:ln w="12700">
            <a:solidFill>
              <a:srgbClr val="2FA6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18704" y="4590288"/>
            <a:ext cx="3145536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6222D"/>
                </a:solidFill>
                <a:latin typeface="Noto Sans CJK KR"/>
              </a:rPr>
              <a:t>VERIFY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18704" y="5065776"/>
            <a:ext cx="3127248" cy="56692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57281"/>
                </a:solidFill>
                <a:latin typeface="Noto Sans CJK KR"/>
              </a:rPr>
              <a:t>[어떤 테스트로 검증했는가]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109728"/>
          </a:xfrm>
          <a:prstGeom prst="rect">
            <a:avLst/>
          </a:prstGeom>
          <a:solidFill>
            <a:srgbClr val="19A89D"/>
          </a:solidFill>
          <a:ln w="12700">
            <a:solidFill>
              <a:srgbClr val="19A8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228600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9A89D"/>
                </a:solidFill>
                <a:latin typeface="Noto Sans CJK KR"/>
              </a:rPr>
              <a:t>CORE LOGIC / DATA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21792"/>
            <a:ext cx="1069848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6222D"/>
                </a:solidFill>
                <a:latin typeface="Noto Sans CJK KR"/>
              </a:rPr>
              <a:t>하나의 핵심 기능을 입력부터 결과까지 추적한다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56248"/>
            <a:ext cx="43891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>
                <a:solidFill>
                  <a:srgbClr val="657281"/>
                </a:solidFill>
                <a:latin typeface="Noto Sans CJK KR"/>
              </a:rPr>
              <a:t>CODYSSEY BASIC · MISSION EVALUATION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82528" y="6492240"/>
            <a:ext cx="502920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1">
                <a:solidFill>
                  <a:srgbClr val="19A89D"/>
                </a:solidFill>
                <a:latin typeface="Noto Sans CJK KR"/>
              </a:rPr>
              <a:t>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828800" y="2011680"/>
            <a:ext cx="8366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2011680"/>
            <a:ext cx="658368" cy="694944"/>
          </a:xfrm>
          <a:prstGeom prst="rect">
            <a:avLst/>
          </a:prstGeom>
          <a:solidFill>
            <a:srgbClr val="2F80ED"/>
          </a:solidFill>
          <a:ln w="12700">
            <a:solidFill>
              <a:srgbClr val="2F8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993392" y="2194560"/>
            <a:ext cx="292608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Noto Sans CJK KR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97480" y="2167128"/>
            <a:ext cx="1234440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222D"/>
                </a:solidFill>
                <a:latin typeface="Noto Sans CJK KR"/>
              </a:rPr>
              <a:t>INPUT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0" y="2167128"/>
            <a:ext cx="566928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80" b="0">
                <a:solidFill>
                  <a:srgbClr val="657281"/>
                </a:solidFill>
                <a:latin typeface="Noto Sans CJK KR"/>
              </a:rPr>
              <a:t>[사용자 입력 / 요청]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989320" y="2706624"/>
            <a:ext cx="0" cy="182880"/>
          </a:xfrm>
          <a:prstGeom prst="line">
            <a:avLst/>
          </a:prstGeom>
          <a:ln w="20320">
            <a:solidFill>
              <a:srgbClr val="19A8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1828800" y="2926080"/>
            <a:ext cx="8366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828800" y="2926080"/>
            <a:ext cx="658368" cy="694944"/>
          </a:xfrm>
          <a:prstGeom prst="rect">
            <a:avLst/>
          </a:prstGeom>
          <a:solidFill>
            <a:srgbClr val="19A89D"/>
          </a:solidFill>
          <a:ln w="12700">
            <a:solidFill>
              <a:srgbClr val="19A8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993392" y="3108960"/>
            <a:ext cx="292608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Noto Sans CJK KR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97480" y="3081528"/>
            <a:ext cx="1234440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222D"/>
                </a:solidFill>
                <a:latin typeface="Noto Sans CJK KR"/>
              </a:rPr>
              <a:t>TRANSFORM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31920" y="3081528"/>
            <a:ext cx="566928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80" b="0">
                <a:solidFill>
                  <a:srgbClr val="657281"/>
                </a:solidFill>
                <a:latin typeface="Noto Sans CJK KR"/>
              </a:rPr>
              <a:t>[검증·파싱·상태 변경]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989320" y="3621024"/>
            <a:ext cx="0" cy="182880"/>
          </a:xfrm>
          <a:prstGeom prst="line">
            <a:avLst/>
          </a:prstGeom>
          <a:ln w="20320">
            <a:solidFill>
              <a:srgbClr val="19A8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1828800" y="3840480"/>
            <a:ext cx="8366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828800" y="3840480"/>
            <a:ext cx="658368" cy="694944"/>
          </a:xfrm>
          <a:prstGeom prst="rect">
            <a:avLst/>
          </a:prstGeom>
          <a:solidFill>
            <a:srgbClr val="F3A61D"/>
          </a:solidFill>
          <a:ln w="12700">
            <a:solidFill>
              <a:srgbClr val="F3A6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993392" y="4023360"/>
            <a:ext cx="292608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Noto Sans CJK KR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97480" y="3995928"/>
            <a:ext cx="1234440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222D"/>
                </a:solidFill>
                <a:latin typeface="Noto Sans CJK KR"/>
              </a:rPr>
              <a:t>CORE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3995928"/>
            <a:ext cx="566928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80" b="0">
                <a:solidFill>
                  <a:srgbClr val="657281"/>
                </a:solidFill>
                <a:latin typeface="Noto Sans CJK KR"/>
              </a:rPr>
              <a:t>[핵심 알고리즘 / 비즈니스 로직]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989320" y="4535424"/>
            <a:ext cx="0" cy="182880"/>
          </a:xfrm>
          <a:prstGeom prst="line">
            <a:avLst/>
          </a:prstGeom>
          <a:ln w="20320">
            <a:solidFill>
              <a:srgbClr val="19A8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1828800" y="4754880"/>
            <a:ext cx="8366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828800" y="4754880"/>
            <a:ext cx="658368" cy="694944"/>
          </a:xfrm>
          <a:prstGeom prst="rect">
            <a:avLst/>
          </a:prstGeom>
          <a:solidFill>
            <a:srgbClr val="2FA66A"/>
          </a:solidFill>
          <a:ln w="12700">
            <a:solidFill>
              <a:srgbClr val="2FA6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993392" y="4937760"/>
            <a:ext cx="292608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Noto Sans CJK KR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97480" y="4910328"/>
            <a:ext cx="1234440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222D"/>
                </a:solidFill>
                <a:latin typeface="Noto Sans CJK KR"/>
              </a:rPr>
              <a:t>OUTPUT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931920" y="4910328"/>
            <a:ext cx="566928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80" b="0">
                <a:solidFill>
                  <a:srgbClr val="657281"/>
                </a:solidFill>
                <a:latin typeface="Noto Sans CJK KR"/>
              </a:rPr>
              <a:t>[저장·응답·로그]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109728"/>
          </a:xfrm>
          <a:prstGeom prst="rect">
            <a:avLst/>
          </a:prstGeom>
          <a:solidFill>
            <a:srgbClr val="2F80ED"/>
          </a:solidFill>
          <a:ln w="12700">
            <a:solidFill>
              <a:srgbClr val="2F8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228600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2F80ED"/>
                </a:solidFill>
                <a:latin typeface="Noto Sans CJK KR"/>
              </a:rPr>
              <a:t>DEMO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21792"/>
            <a:ext cx="1069848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6222D"/>
                </a:solidFill>
                <a:latin typeface="Noto Sans CJK KR"/>
              </a:rPr>
              <a:t>데모는 ‘성공 장면’이 아니라 평가 시나리오 순서로 설계한다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56248"/>
            <a:ext cx="43891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>
                <a:solidFill>
                  <a:srgbClr val="657281"/>
                </a:solidFill>
                <a:latin typeface="Noto Sans CJK KR"/>
              </a:rPr>
              <a:t>CODYSSEY BASIC · MISSION EVALUATION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82528" y="6492240"/>
            <a:ext cx="502920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1">
                <a:solidFill>
                  <a:srgbClr val="2F80ED"/>
                </a:solidFill>
                <a:latin typeface="Noto Sans CJK KR"/>
              </a:rPr>
              <a:t>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212848"/>
            <a:ext cx="1627632" cy="1965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2212848"/>
            <a:ext cx="82296" cy="1965960"/>
          </a:xfrm>
          <a:prstGeom prst="rect">
            <a:avLst/>
          </a:prstGeom>
          <a:solidFill>
            <a:srgbClr val="2F80ED"/>
          </a:solidFill>
          <a:ln w="12700">
            <a:solidFill>
              <a:srgbClr val="2F8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2377440"/>
            <a:ext cx="438912" cy="34747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F80ED"/>
                </a:solidFill>
                <a:latin typeface="Noto Sans CJK KR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16736" y="2359152"/>
            <a:ext cx="786384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6222D"/>
                </a:solidFill>
                <a:latin typeface="Noto Sans CJK KR"/>
              </a:rPr>
              <a:t>START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834640"/>
            <a:ext cx="1170432" cy="119786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57281"/>
                </a:solidFill>
                <a:latin typeface="Noto Sans CJK KR"/>
              </a:rPr>
              <a:t>실행/접속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286000" y="3172968"/>
            <a:ext cx="182880" cy="0"/>
          </a:xfrm>
          <a:prstGeom prst="line">
            <a:avLst/>
          </a:prstGeom>
          <a:ln w="15240">
            <a:solidFill>
              <a:srgbClr val="6572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514600" y="2212848"/>
            <a:ext cx="1627632" cy="1965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514600" y="2212848"/>
            <a:ext cx="82296" cy="1965960"/>
          </a:xfrm>
          <a:prstGeom prst="rect">
            <a:avLst/>
          </a:prstGeom>
          <a:solidFill>
            <a:srgbClr val="2F80ED"/>
          </a:solidFill>
          <a:ln w="12700">
            <a:solidFill>
              <a:srgbClr val="2F8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34056" y="2377440"/>
            <a:ext cx="438912" cy="34747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F80ED"/>
                </a:solidFill>
                <a:latin typeface="Noto Sans CJK KR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72968" y="2359152"/>
            <a:ext cx="786384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6222D"/>
                </a:solidFill>
                <a:latin typeface="Noto Sans CJK KR"/>
              </a:rPr>
              <a:t>INPUT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70632" y="2834640"/>
            <a:ext cx="1170432" cy="119786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57281"/>
                </a:solidFill>
                <a:latin typeface="Noto Sans CJK KR"/>
              </a:rPr>
              <a:t>핵심 입력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142232" y="3172968"/>
            <a:ext cx="182880" cy="0"/>
          </a:xfrm>
          <a:prstGeom prst="line">
            <a:avLst/>
          </a:prstGeom>
          <a:ln w="15240">
            <a:solidFill>
              <a:srgbClr val="6572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4370832" y="2212848"/>
            <a:ext cx="1627632" cy="1965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370832" y="2212848"/>
            <a:ext cx="82296" cy="1965960"/>
          </a:xfrm>
          <a:prstGeom prst="rect">
            <a:avLst/>
          </a:prstGeom>
          <a:solidFill>
            <a:srgbClr val="2F80ED"/>
          </a:solidFill>
          <a:ln w="12700">
            <a:solidFill>
              <a:srgbClr val="2F8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90288" y="2377440"/>
            <a:ext cx="438912" cy="34747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F80ED"/>
                </a:solidFill>
                <a:latin typeface="Noto Sans CJK KR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0" y="2359152"/>
            <a:ext cx="786384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6222D"/>
                </a:solidFill>
                <a:latin typeface="Noto Sans CJK KR"/>
              </a:rPr>
              <a:t>ACTION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26864" y="2834640"/>
            <a:ext cx="1170432" cy="119786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57281"/>
                </a:solidFill>
                <a:latin typeface="Noto Sans CJK KR"/>
              </a:rPr>
              <a:t>핵심 기능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998464" y="3172968"/>
            <a:ext cx="182880" cy="0"/>
          </a:xfrm>
          <a:prstGeom prst="line">
            <a:avLst/>
          </a:prstGeom>
          <a:ln w="15240">
            <a:solidFill>
              <a:srgbClr val="6572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6227064" y="2212848"/>
            <a:ext cx="1627632" cy="1965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27064" y="2212848"/>
            <a:ext cx="82296" cy="1965960"/>
          </a:xfrm>
          <a:prstGeom prst="rect">
            <a:avLst/>
          </a:prstGeom>
          <a:solidFill>
            <a:srgbClr val="D95D58"/>
          </a:solidFill>
          <a:ln w="12700">
            <a:solidFill>
              <a:srgbClr val="D95D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46520" y="2377440"/>
            <a:ext cx="438912" cy="34747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95D58"/>
                </a:solidFill>
                <a:latin typeface="Noto Sans CJK KR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85432" y="2359152"/>
            <a:ext cx="786384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6222D"/>
                </a:solidFill>
                <a:latin typeface="Noto Sans CJK KR"/>
              </a:rPr>
              <a:t>FAIL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83096" y="2834640"/>
            <a:ext cx="1170432" cy="119786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57281"/>
                </a:solidFill>
                <a:latin typeface="Noto Sans CJK KR"/>
              </a:rPr>
              <a:t>예외 1개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7854696" y="3172968"/>
            <a:ext cx="182880" cy="0"/>
          </a:xfrm>
          <a:prstGeom prst="line">
            <a:avLst/>
          </a:prstGeom>
          <a:ln w="15240">
            <a:solidFill>
              <a:srgbClr val="6572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8083296" y="2212848"/>
            <a:ext cx="1627632" cy="1965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083296" y="2212848"/>
            <a:ext cx="82296" cy="1965960"/>
          </a:xfrm>
          <a:prstGeom prst="rect">
            <a:avLst/>
          </a:prstGeom>
          <a:solidFill>
            <a:srgbClr val="2FA66A"/>
          </a:solidFill>
          <a:ln w="12700">
            <a:solidFill>
              <a:srgbClr val="2FA6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02752" y="2377440"/>
            <a:ext cx="438912" cy="34747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FA66A"/>
                </a:solidFill>
                <a:latin typeface="Noto Sans CJK KR"/>
              </a:rPr>
              <a:t>05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41664" y="2359152"/>
            <a:ext cx="786384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6222D"/>
                </a:solidFill>
                <a:latin typeface="Noto Sans CJK KR"/>
              </a:rPr>
              <a:t>RESULT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39328" y="2834640"/>
            <a:ext cx="1170432" cy="119786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57281"/>
                </a:solidFill>
                <a:latin typeface="Noto Sans CJK KR"/>
              </a:rPr>
              <a:t>정상 결과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9710928" y="3172968"/>
            <a:ext cx="182880" cy="0"/>
          </a:xfrm>
          <a:prstGeom prst="line">
            <a:avLst/>
          </a:prstGeom>
          <a:ln w="15240">
            <a:solidFill>
              <a:srgbClr val="6572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9939528" y="2212848"/>
            <a:ext cx="1627632" cy="1965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939528" y="2212848"/>
            <a:ext cx="82296" cy="1965960"/>
          </a:xfrm>
          <a:prstGeom prst="rect">
            <a:avLst/>
          </a:prstGeom>
          <a:solidFill>
            <a:srgbClr val="2FA66A"/>
          </a:solidFill>
          <a:ln w="12700">
            <a:solidFill>
              <a:srgbClr val="2FA6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158984" y="2377440"/>
            <a:ext cx="438912" cy="34747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FA66A"/>
                </a:solidFill>
                <a:latin typeface="Noto Sans CJK KR"/>
              </a:rPr>
              <a:t>06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597896" y="2359152"/>
            <a:ext cx="786384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6222D"/>
                </a:solidFill>
                <a:latin typeface="Noto Sans CJK KR"/>
              </a:rPr>
              <a:t>EVIDENCE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60" y="2834640"/>
            <a:ext cx="1170432" cy="119786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57281"/>
                </a:solidFill>
                <a:latin typeface="Noto Sans CJK KR"/>
              </a:rPr>
              <a:t>로그/DB/PR 확인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49808" y="4892040"/>
            <a:ext cx="9418320" cy="3200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3A61D"/>
                </a:solidFill>
                <a:latin typeface="Noto Sans CJK KR"/>
              </a:rPr>
              <a:t>데모 실패 대비: 동일 시나리오의 캡처·로그·테스트 결과를 부록에 준비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109728"/>
          </a:xfrm>
          <a:prstGeom prst="rect">
            <a:avLst/>
          </a:prstGeom>
          <a:solidFill>
            <a:srgbClr val="2FA66A"/>
          </a:solidFill>
          <a:ln w="12700">
            <a:solidFill>
              <a:srgbClr val="2FA6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228600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2FA66A"/>
                </a:solidFill>
                <a:latin typeface="Noto Sans CJK KR"/>
              </a:rPr>
              <a:t>DEMO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21792"/>
            <a:ext cx="1069848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6222D"/>
                </a:solidFill>
                <a:latin typeface="Noto Sans CJK KR"/>
              </a:rPr>
              <a:t>스크린샷마다 ‘무엇을 증명하는가’를 명시한다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56248"/>
            <a:ext cx="43891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>
                <a:solidFill>
                  <a:srgbClr val="657281"/>
                </a:solidFill>
                <a:latin typeface="Noto Sans CJK KR"/>
              </a:rPr>
              <a:t>CODYSSEY BASIC · MISSION EVALUATION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82528" y="6492240"/>
            <a:ext cx="502920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1">
                <a:solidFill>
                  <a:srgbClr val="2FA66A"/>
                </a:solidFill>
                <a:latin typeface="Noto Sans CJK KR"/>
              </a:rPr>
              <a:t>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874519"/>
            <a:ext cx="6629400" cy="3840480"/>
          </a:xfrm>
          <a:prstGeom prst="roundRect">
            <a:avLst/>
          </a:prstGeom>
          <a:solidFill>
            <a:srgbClr val="E8EDF3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291840"/>
            <a:ext cx="5669280" cy="4114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657281"/>
                </a:solidFill>
                <a:latin typeface="Noto Sans CJK KR"/>
              </a:rPr>
              <a:t>[실제 화면 / 터미널 / 로그 / PR 캡처]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89520" y="1874519"/>
            <a:ext cx="365760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589520" y="1874519"/>
            <a:ext cx="82296" cy="1645920"/>
          </a:xfrm>
          <a:prstGeom prst="rect">
            <a:avLst/>
          </a:prstGeom>
          <a:solidFill>
            <a:srgbClr val="2FA66A"/>
          </a:solidFill>
          <a:ln w="12700">
            <a:solidFill>
              <a:srgbClr val="2FA6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45552" y="2020823"/>
            <a:ext cx="3218688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6222D"/>
                </a:solidFill>
                <a:latin typeface="Noto Sans CJK KR"/>
              </a:rPr>
              <a:t>EVIDENCE CAPTION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45552" y="2496311"/>
            <a:ext cx="3200400" cy="87782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57281"/>
                </a:solidFill>
                <a:latin typeface="Noto Sans CJK KR"/>
              </a:rPr>
              <a:t>이 캡처는 [요구사항 R-??]가 [실제 환경]에서 [정상 결과]임을 증명한다.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89520" y="3703320"/>
            <a:ext cx="3657600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589520" y="3703320"/>
            <a:ext cx="82296" cy="1280160"/>
          </a:xfrm>
          <a:prstGeom prst="rect">
            <a:avLst/>
          </a:prstGeom>
          <a:solidFill>
            <a:srgbClr val="2F80ED"/>
          </a:solidFill>
          <a:ln w="12700">
            <a:solidFill>
              <a:srgbClr val="2F8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45552" y="3849624"/>
            <a:ext cx="3218688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6222D"/>
                </a:solidFill>
                <a:latin typeface="Noto Sans CJK KR"/>
              </a:rPr>
              <a:t>TRACEABILITY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45552" y="4325112"/>
            <a:ext cx="3200400" cy="51206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57281"/>
                </a:solidFill>
                <a:latin typeface="Noto Sans CJK KR"/>
              </a:rPr>
              <a:t>Repository / Branch / Commit / Runtime / Executed At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54112" y="5230368"/>
            <a:ext cx="329184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D95D58"/>
                </a:solidFill>
                <a:latin typeface="Noto Sans CJK KR"/>
              </a:rPr>
              <a:t>Secret·Token·개인정보는 캡처 전에 제거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109728"/>
          </a:xfrm>
          <a:prstGeom prst="rect">
            <a:avLst/>
          </a:prstGeom>
          <a:solidFill>
            <a:srgbClr val="2FA66A"/>
          </a:solidFill>
          <a:ln w="12700">
            <a:solidFill>
              <a:srgbClr val="2FA6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228600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2FA66A"/>
                </a:solidFill>
                <a:latin typeface="Noto Sans CJK KR"/>
              </a:rPr>
              <a:t>TEST STRATEGY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21792"/>
            <a:ext cx="1069848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6222D"/>
                </a:solidFill>
                <a:latin typeface="Noto Sans CJK KR"/>
              </a:rPr>
              <a:t>테스트는 ‘무엇을 실패하게 해봤는가’까지 보여준다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56248"/>
            <a:ext cx="43891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>
                <a:solidFill>
                  <a:srgbClr val="657281"/>
                </a:solidFill>
                <a:latin typeface="Noto Sans CJK KR"/>
              </a:rPr>
              <a:t>CODYSSEY BASIC · MISSION EVALUATION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82528" y="6492240"/>
            <a:ext cx="502920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1">
                <a:solidFill>
                  <a:srgbClr val="2FA66A"/>
                </a:solidFill>
                <a:latin typeface="Noto Sans CJK KR"/>
              </a:rPr>
              <a:t>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956816"/>
            <a:ext cx="2542032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49808" y="1956816"/>
            <a:ext cx="82296" cy="2057400"/>
          </a:xfrm>
          <a:prstGeom prst="rect">
            <a:avLst/>
          </a:prstGeom>
          <a:solidFill>
            <a:srgbClr val="2F80ED"/>
          </a:solidFill>
          <a:ln w="12700">
            <a:solidFill>
              <a:srgbClr val="2F8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9264" y="2121408"/>
            <a:ext cx="438912" cy="34747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F80ED"/>
                </a:solidFill>
                <a:latin typeface="Noto Sans CJK KR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2103120"/>
            <a:ext cx="1700784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6222D"/>
                </a:solidFill>
                <a:latin typeface="Noto Sans CJK KR"/>
              </a:rPr>
              <a:t>STATIC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578608"/>
            <a:ext cx="2084832" cy="1289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57281"/>
                </a:solidFill>
                <a:latin typeface="Noto Sans CJK KR"/>
              </a:rPr>
              <a:t>Syntax / Lint
[정적 오류]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29584" y="1956816"/>
            <a:ext cx="2542032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29584" y="1956816"/>
            <a:ext cx="82296" cy="2057400"/>
          </a:xfrm>
          <a:prstGeom prst="rect">
            <a:avLst/>
          </a:prstGeom>
          <a:solidFill>
            <a:srgbClr val="19A89D"/>
          </a:solidFill>
          <a:ln w="12700">
            <a:solidFill>
              <a:srgbClr val="19A8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49040" y="2121408"/>
            <a:ext cx="438912" cy="34747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9A89D"/>
                </a:solidFill>
                <a:latin typeface="Noto Sans CJK KR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87952" y="2103120"/>
            <a:ext cx="1700784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6222D"/>
                </a:solidFill>
                <a:latin typeface="Noto Sans CJK KR"/>
              </a:rPr>
              <a:t>UNIT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85616" y="2578608"/>
            <a:ext cx="2084832" cy="1289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57281"/>
                </a:solidFill>
                <a:latin typeface="Noto Sans CJK KR"/>
              </a:rPr>
              <a:t>Function / Class
[핵심 로직]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09360" y="1956816"/>
            <a:ext cx="2542032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09360" y="1956816"/>
            <a:ext cx="82296" cy="2057400"/>
          </a:xfrm>
          <a:prstGeom prst="rect">
            <a:avLst/>
          </a:prstGeom>
          <a:solidFill>
            <a:srgbClr val="F3A61D"/>
          </a:solidFill>
          <a:ln w="12700">
            <a:solidFill>
              <a:srgbClr val="F3A6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28816" y="2121408"/>
            <a:ext cx="438912" cy="34747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3A61D"/>
                </a:solidFill>
                <a:latin typeface="Noto Sans CJK KR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67728" y="2103120"/>
            <a:ext cx="1700784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6222D"/>
                </a:solidFill>
                <a:latin typeface="Noto Sans CJK KR"/>
              </a:rPr>
              <a:t>INTEGRATION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65392" y="2578608"/>
            <a:ext cx="2084832" cy="1289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57281"/>
                </a:solidFill>
                <a:latin typeface="Noto Sans CJK KR"/>
              </a:rPr>
              <a:t>CLI / HTTP / DB
[연결 흐름]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89136" y="1956816"/>
            <a:ext cx="2542032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089136" y="1956816"/>
            <a:ext cx="82296" cy="2057400"/>
          </a:xfrm>
          <a:prstGeom prst="rect">
            <a:avLst/>
          </a:prstGeom>
          <a:solidFill>
            <a:srgbClr val="2FA66A"/>
          </a:solidFill>
          <a:ln w="12700">
            <a:solidFill>
              <a:srgbClr val="2FA6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08592" y="2121408"/>
            <a:ext cx="438912" cy="34747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FA66A"/>
                </a:solidFill>
                <a:latin typeface="Noto Sans CJK KR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47504" y="2103120"/>
            <a:ext cx="1700784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6222D"/>
                </a:solidFill>
                <a:latin typeface="Noto Sans CJK KR"/>
              </a:rPr>
              <a:t>RUNTIME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45168" y="2578608"/>
            <a:ext cx="2084832" cy="1289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57281"/>
                </a:solidFill>
                <a:latin typeface="Noto Sans CJK KR"/>
              </a:rPr>
              <a:t>실환경 / 외부 접속
[자동화 불가 항목]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49808" y="4370832"/>
            <a:ext cx="10469880" cy="1097280"/>
          </a:xfrm>
          <a:prstGeom prst="roundRect">
            <a:avLst/>
          </a:prstGeom>
          <a:solidFill>
            <a:srgbClr val="E9F7EF"/>
          </a:solidFill>
          <a:ln w="12700">
            <a:solidFill>
              <a:srgbClr val="E9F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5840" y="4617720"/>
            <a:ext cx="150876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2FA66A"/>
                </a:solidFill>
                <a:latin typeface="Noto Sans CJK KR"/>
              </a:rPr>
              <a:t>최소 실패 시나리오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514600" y="4553712"/>
            <a:ext cx="8183879" cy="4114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6222D"/>
                </a:solidFill>
                <a:latin typeface="Noto Sans CJK KR"/>
              </a:rPr>
              <a:t>[잘못된 입력] · [없는 데이터] · [권한 없음] · [외부 API 실패] 중 미션에 맞는 항목을 실제로 검증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109728"/>
          </a:xfrm>
          <a:prstGeom prst="rect">
            <a:avLst/>
          </a:prstGeom>
          <a:solidFill>
            <a:srgbClr val="2FA66A"/>
          </a:solidFill>
          <a:ln w="12700">
            <a:solidFill>
              <a:srgbClr val="2FA6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228600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2FA66A"/>
                </a:solidFill>
                <a:latin typeface="Noto Sans CJK KR"/>
              </a:rPr>
              <a:t>VERIFICATION DASHBOARD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21792"/>
            <a:ext cx="1069848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6222D"/>
                </a:solidFill>
                <a:latin typeface="Noto Sans CJK KR"/>
              </a:rPr>
              <a:t>검증 상태를 한눈에 읽을 수 있는 대시보드로 요약한다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56248"/>
            <a:ext cx="43891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>
                <a:solidFill>
                  <a:srgbClr val="657281"/>
                </a:solidFill>
                <a:latin typeface="Noto Sans CJK KR"/>
              </a:rPr>
              <a:t>CODYSSEY BASIC · MISSION EVALUATION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82528" y="6492240"/>
            <a:ext cx="502920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1">
                <a:solidFill>
                  <a:srgbClr val="2FA66A"/>
                </a:solidFill>
                <a:latin typeface="Noto Sans CJK KR"/>
              </a:rPr>
              <a:t>15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993392"/>
            <a:ext cx="2578608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194560"/>
            <a:ext cx="2176272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657281"/>
                </a:solidFill>
                <a:latin typeface="Noto Sans CJK KR"/>
              </a:rPr>
              <a:t>REQUIREMENTS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651760"/>
            <a:ext cx="2176272" cy="5029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2F80ED"/>
                </a:solidFill>
                <a:latin typeface="Noto Sans CJK KR"/>
              </a:rPr>
              <a:t>[12 / 12]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346704"/>
            <a:ext cx="2176272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222D"/>
                </a:solidFill>
                <a:latin typeface="Noto Sans CJK KR"/>
              </a:rPr>
              <a:t>Mapped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0440" y="1993392"/>
            <a:ext cx="2578608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21608" y="2194560"/>
            <a:ext cx="2176272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657281"/>
                </a:solidFill>
                <a:latin typeface="Noto Sans CJK KR"/>
              </a:rPr>
              <a:t>AUTOMATED TEST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21608" y="2651760"/>
            <a:ext cx="2176272" cy="5029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2FA66A"/>
                </a:solidFill>
                <a:latin typeface="Noto Sans CJK KR"/>
              </a:rPr>
              <a:t>[28 / 28]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21608" y="3346704"/>
            <a:ext cx="2176272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222D"/>
                </a:solidFill>
                <a:latin typeface="Noto Sans CJK KR"/>
              </a:rPr>
              <a:t>PASS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27648" y="1993392"/>
            <a:ext cx="2578608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28816" y="2194560"/>
            <a:ext cx="2176272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657281"/>
                </a:solidFill>
                <a:latin typeface="Noto Sans CJK KR"/>
              </a:rPr>
              <a:t>RUNTIME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28816" y="2651760"/>
            <a:ext cx="2176272" cy="5029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9A89D"/>
                </a:solidFill>
                <a:latin typeface="Noto Sans CJK KR"/>
              </a:rPr>
              <a:t>[MAC-V / WIN-V]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28816" y="3346704"/>
            <a:ext cx="2176272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222D"/>
                </a:solidFill>
                <a:latin typeface="Noto Sans CJK KR"/>
              </a:rPr>
              <a:t>Actual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34856" y="1993392"/>
            <a:ext cx="2578608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36024" y="2194560"/>
            <a:ext cx="2176272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657281"/>
                </a:solidFill>
                <a:latin typeface="Noto Sans CJK KR"/>
              </a:rPr>
              <a:t>BLOCKER / MAJOR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36024" y="2651760"/>
            <a:ext cx="2176272" cy="5029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F3A61D"/>
                </a:solidFill>
                <a:latin typeface="Noto Sans CJK KR"/>
              </a:rPr>
              <a:t>[0 / 0]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36024" y="3346704"/>
            <a:ext cx="2176272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222D"/>
                </a:solidFill>
                <a:latin typeface="Noto Sans CJK KR"/>
              </a:rPr>
              <a:t>Open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6112" y="4343400"/>
            <a:ext cx="9875520" cy="1143000"/>
          </a:xfrm>
          <a:prstGeom prst="rect">
            <a:avLst/>
          </a:prstGeom>
          <a:noFill/>
        </p:spPr>
        <p:txBody>
          <a:bodyPr wrap="square" lIns="54864" rIns="36576" tIns="18288" bIns="18288">
            <a:spAutoFit/>
          </a:bodyPr>
          <a:lstStyle/>
          <a:p>
            <a:pPr>
              <a:spcAft>
                <a:spcPts val="600"/>
              </a:spcAft>
              <a:defRPr sz="1150">
                <a:solidFill>
                  <a:srgbClr val="16222D"/>
                </a:solidFill>
                <a:latin typeface="Noto Sans CJK KR"/>
              </a:defRPr>
            </a:pPr>
            <a:r>
              <a:t>• IMPLEMENTED ≠ TESTED ≠ PASS — 상태를 섞지 않는다</a:t>
            </a:r>
          </a:p>
          <a:p>
            <a:pPr>
              <a:spcAft>
                <a:spcPts val="600"/>
              </a:spcAft>
              <a:defRPr sz="1150">
                <a:solidFill>
                  <a:srgbClr val="16222D"/>
                </a:solidFill>
                <a:latin typeface="Noto Sans CJK KR"/>
              </a:defRPr>
            </a:pPr>
            <a:r>
              <a:t>• NEEDS-RUNTIME은 실제 환경 검증 전까지 별도 표시</a:t>
            </a:r>
          </a:p>
          <a:p>
            <a:pPr>
              <a:spcAft>
                <a:spcPts val="600"/>
              </a:spcAft>
              <a:defRPr sz="1150">
                <a:solidFill>
                  <a:srgbClr val="16222D"/>
                </a:solidFill>
                <a:latin typeface="Noto Sans CJK KR"/>
              </a:defRPr>
            </a:pPr>
            <a:r>
              <a:t>• 예상 출력과 실제 출력은 명확히 구분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109728"/>
          </a:xfrm>
          <a:prstGeom prst="rect">
            <a:avLst/>
          </a:prstGeom>
          <a:solidFill>
            <a:srgbClr val="2FA66A"/>
          </a:solidFill>
          <a:ln w="12700">
            <a:solidFill>
              <a:srgbClr val="2FA6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228600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2FA66A"/>
                </a:solidFill>
                <a:latin typeface="Noto Sans CJK KR"/>
              </a:rPr>
              <a:t>RESULTS / BEFORE &amp; AFTER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21792"/>
            <a:ext cx="1069848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6222D"/>
                </a:solidFill>
                <a:latin typeface="Noto Sans CJK KR"/>
              </a:rPr>
              <a:t>변경의 효과는 Before &amp; After 또는 정량 결과로 증명한다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56248"/>
            <a:ext cx="43891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>
                <a:solidFill>
                  <a:srgbClr val="657281"/>
                </a:solidFill>
                <a:latin typeface="Noto Sans CJK KR"/>
              </a:rPr>
              <a:t>CODYSSEY BASIC · MISSION EVALUATION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82528" y="6492240"/>
            <a:ext cx="502920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1">
                <a:solidFill>
                  <a:srgbClr val="2FA66A"/>
                </a:solidFill>
                <a:latin typeface="Noto Sans CJK KR"/>
              </a:rPr>
              <a:t>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874519"/>
            <a:ext cx="5074920" cy="3337560"/>
          </a:xfrm>
          <a:prstGeom prst="roundRect">
            <a:avLst/>
          </a:prstGeom>
          <a:solidFill>
            <a:srgbClr val="FCEDEC"/>
          </a:solidFill>
          <a:ln w="12700">
            <a:solidFill>
              <a:srgbClr val="F0C9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103120"/>
            <a:ext cx="109728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95D58"/>
                </a:solidFill>
                <a:latin typeface="Noto Sans CJK KR"/>
              </a:rPr>
              <a:t>BEFORE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743200"/>
            <a:ext cx="4251960" cy="1325880"/>
          </a:xfrm>
          <a:prstGeom prst="rect">
            <a:avLst/>
          </a:prstGeom>
          <a:noFill/>
        </p:spPr>
        <p:txBody>
          <a:bodyPr wrap="square" lIns="54864" rIns="36576" tIns="18288" bIns="18288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16222D"/>
                </a:solidFill>
                <a:latin typeface="Noto Sans CJK KR"/>
              </a:defRPr>
            </a:pPr>
            <a:r>
              <a:t>• [문제 상태 / 수치]</a:t>
            </a:r>
          </a:p>
          <a:p>
            <a:pPr>
              <a:spcAft>
                <a:spcPts val="600"/>
              </a:spcAft>
              <a:defRPr sz="1300">
                <a:solidFill>
                  <a:srgbClr val="16222D"/>
                </a:solidFill>
                <a:latin typeface="Noto Sans CJK KR"/>
              </a:defRPr>
            </a:pPr>
            <a:r>
              <a:t>• [실패 로그 / 사용자 증상]</a:t>
            </a:r>
          </a:p>
          <a:p>
            <a:pPr>
              <a:spcAft>
                <a:spcPts val="600"/>
              </a:spcAft>
              <a:defRPr sz="1300">
                <a:solidFill>
                  <a:srgbClr val="16222D"/>
                </a:solidFill>
                <a:latin typeface="Noto Sans CJK KR"/>
              </a:defRPr>
            </a:pPr>
            <a:r>
              <a:t>• [원인 가설]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0" y="1874519"/>
            <a:ext cx="5074920" cy="3337560"/>
          </a:xfrm>
          <a:prstGeom prst="roundRect">
            <a:avLst/>
          </a:prstGeom>
          <a:solidFill>
            <a:srgbClr val="E9F7EF"/>
          </a:solidFill>
          <a:ln w="12700">
            <a:solidFill>
              <a:srgbClr val="C4E7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82512" y="2103120"/>
            <a:ext cx="109728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FA66A"/>
                </a:solidFill>
                <a:latin typeface="Noto Sans CJK KR"/>
              </a:rPr>
              <a:t>AFTER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82512" y="2743200"/>
            <a:ext cx="4251960" cy="1325880"/>
          </a:xfrm>
          <a:prstGeom prst="rect">
            <a:avLst/>
          </a:prstGeom>
          <a:noFill/>
        </p:spPr>
        <p:txBody>
          <a:bodyPr wrap="square" lIns="54864" rIns="36576" tIns="18288" bIns="18288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16222D"/>
                </a:solidFill>
                <a:latin typeface="Noto Sans CJK KR"/>
              </a:defRPr>
            </a:pPr>
            <a:r>
              <a:t>• [조치 후 상태 / 수치]</a:t>
            </a:r>
          </a:p>
          <a:p>
            <a:pPr>
              <a:spcAft>
                <a:spcPts val="600"/>
              </a:spcAft>
              <a:defRPr sz="1300">
                <a:solidFill>
                  <a:srgbClr val="16222D"/>
                </a:solidFill>
                <a:latin typeface="Noto Sans CJK KR"/>
              </a:defRPr>
            </a:pPr>
            <a:r>
              <a:t>• [성공 로그 / 정상 결과]</a:t>
            </a:r>
          </a:p>
          <a:p>
            <a:pPr>
              <a:spcAft>
                <a:spcPts val="600"/>
              </a:spcAft>
              <a:defRPr sz="1300">
                <a:solidFill>
                  <a:srgbClr val="16222D"/>
                </a:solidFill>
                <a:latin typeface="Noto Sans CJK KR"/>
              </a:defRPr>
            </a:pPr>
            <a:r>
              <a:t>• [남은 한계]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623560" y="3520440"/>
            <a:ext cx="502920" cy="0"/>
          </a:xfrm>
          <a:prstGeom prst="line">
            <a:avLst/>
          </a:prstGeom>
          <a:ln w="30480">
            <a:solidFill>
              <a:srgbClr val="19A8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109728"/>
          </a:xfrm>
          <a:prstGeom prst="rect">
            <a:avLst/>
          </a:prstGeom>
          <a:solidFill>
            <a:srgbClr val="F3A61D"/>
          </a:solidFill>
          <a:ln w="12700">
            <a:solidFill>
              <a:srgbClr val="F3A6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228600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F3A61D"/>
                </a:solidFill>
                <a:latin typeface="Noto Sans CJK KR"/>
              </a:rPr>
              <a:t>TROUBLESHOOTING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21792"/>
            <a:ext cx="1069848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6222D"/>
                </a:solidFill>
                <a:latin typeface="Noto Sans CJK KR"/>
              </a:rPr>
              <a:t>문제 해결은 증상 → 가설 → 검증 → 조치 → 재발방지로 기록한다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56248"/>
            <a:ext cx="43891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>
                <a:solidFill>
                  <a:srgbClr val="657281"/>
                </a:solidFill>
                <a:latin typeface="Noto Sans CJK KR"/>
              </a:rPr>
              <a:t>CODYSSEY BASIC · MISSION EVALUATION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82528" y="6492240"/>
            <a:ext cx="502920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1">
                <a:solidFill>
                  <a:srgbClr val="F3A61D"/>
                </a:solidFill>
                <a:latin typeface="Noto Sans CJK KR"/>
              </a:rPr>
              <a:t>17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2139696"/>
            <a:ext cx="1920240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94944" y="2139696"/>
            <a:ext cx="82296" cy="2057400"/>
          </a:xfrm>
          <a:prstGeom prst="rect">
            <a:avLst/>
          </a:prstGeom>
          <a:solidFill>
            <a:srgbClr val="D95D58"/>
          </a:solidFill>
          <a:ln w="12700">
            <a:solidFill>
              <a:srgbClr val="D95D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304288"/>
            <a:ext cx="438912" cy="34747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95D58"/>
                </a:solidFill>
                <a:latin typeface="Noto Sans CJK KR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53312" y="2286000"/>
            <a:ext cx="1078992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6222D"/>
                </a:solidFill>
                <a:latin typeface="Noto Sans CJK KR"/>
              </a:rPr>
              <a:t>SYMPTOM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2761488"/>
            <a:ext cx="1463040" cy="1289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57281"/>
                </a:solidFill>
                <a:latin typeface="Noto Sans CJK KR"/>
              </a:rPr>
              <a:t>[관측된 현상]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89504" y="2139696"/>
            <a:ext cx="1920240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889504" y="2139696"/>
            <a:ext cx="82296" cy="2057400"/>
          </a:xfrm>
          <a:prstGeom prst="rect">
            <a:avLst/>
          </a:prstGeom>
          <a:solidFill>
            <a:srgbClr val="F3A61D"/>
          </a:solidFill>
          <a:ln w="12700">
            <a:solidFill>
              <a:srgbClr val="F3A6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108960" y="2304288"/>
            <a:ext cx="438912" cy="34747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3A61D"/>
                </a:solidFill>
                <a:latin typeface="Noto Sans CJK KR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47872" y="2286000"/>
            <a:ext cx="1078992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6222D"/>
                </a:solidFill>
                <a:latin typeface="Noto Sans CJK KR"/>
              </a:rPr>
              <a:t>HYPOTHESIS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45536" y="2761488"/>
            <a:ext cx="1463040" cy="1289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57281"/>
                </a:solidFill>
                <a:latin typeface="Noto Sans CJK KR"/>
              </a:rPr>
              <a:t>[원인 가설]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84064" y="2139696"/>
            <a:ext cx="1920240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84064" y="2139696"/>
            <a:ext cx="82296" cy="2057400"/>
          </a:xfrm>
          <a:prstGeom prst="rect">
            <a:avLst/>
          </a:prstGeom>
          <a:solidFill>
            <a:srgbClr val="2F80ED"/>
          </a:solidFill>
          <a:ln w="12700">
            <a:solidFill>
              <a:srgbClr val="2F8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03520" y="2304288"/>
            <a:ext cx="438912" cy="34747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F80ED"/>
                </a:solidFill>
                <a:latin typeface="Noto Sans CJK KR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42432" y="2286000"/>
            <a:ext cx="1078992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6222D"/>
                </a:solidFill>
                <a:latin typeface="Noto Sans CJK KR"/>
              </a:rPr>
              <a:t>VERIFY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40096" y="2761488"/>
            <a:ext cx="1463040" cy="1289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57281"/>
                </a:solidFill>
                <a:latin typeface="Noto Sans CJK KR"/>
              </a:rPr>
              <a:t>[로그/명령 검증]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278624" y="2139696"/>
            <a:ext cx="1920240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278624" y="2139696"/>
            <a:ext cx="82296" cy="2057400"/>
          </a:xfrm>
          <a:prstGeom prst="rect">
            <a:avLst/>
          </a:prstGeom>
          <a:solidFill>
            <a:srgbClr val="19A89D"/>
          </a:solidFill>
          <a:ln w="12700">
            <a:solidFill>
              <a:srgbClr val="19A8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0" y="2304288"/>
            <a:ext cx="438912" cy="34747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9A89D"/>
                </a:solidFill>
                <a:latin typeface="Noto Sans CJK KR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36992" y="2286000"/>
            <a:ext cx="1078992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6222D"/>
                </a:solidFill>
                <a:latin typeface="Noto Sans CJK KR"/>
              </a:rPr>
              <a:t>ACTION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34656" y="2761488"/>
            <a:ext cx="1463040" cy="1289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57281"/>
                </a:solidFill>
                <a:latin typeface="Noto Sans CJK KR"/>
              </a:rPr>
              <a:t>[최소 조치]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473184" y="2139696"/>
            <a:ext cx="1920240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473184" y="2139696"/>
            <a:ext cx="82296" cy="2057400"/>
          </a:xfrm>
          <a:prstGeom prst="rect">
            <a:avLst/>
          </a:prstGeom>
          <a:solidFill>
            <a:srgbClr val="2FA66A"/>
          </a:solidFill>
          <a:ln w="12700">
            <a:solidFill>
              <a:srgbClr val="2FA6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92640" y="2304288"/>
            <a:ext cx="438912" cy="34747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FA66A"/>
                </a:solidFill>
                <a:latin typeface="Noto Sans CJK KR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31552" y="2286000"/>
            <a:ext cx="1078992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6222D"/>
                </a:solidFill>
                <a:latin typeface="Noto Sans CJK KR"/>
              </a:rPr>
              <a:t>PREVENT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29216" y="2761488"/>
            <a:ext cx="1463040" cy="1289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57281"/>
                </a:solidFill>
                <a:latin typeface="Noto Sans CJK KR"/>
              </a:rPr>
              <a:t>[재발 방지]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6384" y="4800600"/>
            <a:ext cx="10058400" cy="34747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6222D"/>
                </a:solidFill>
                <a:latin typeface="Noto Sans CJK KR"/>
              </a:rPr>
              <a:t>평가 질문 대비: “처음부터 답을 알고 있었나요?” → 증거를 통해 가설을 좁힌 과정을 설명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109728"/>
          </a:xfrm>
          <a:prstGeom prst="rect">
            <a:avLst/>
          </a:prstGeom>
          <a:solidFill>
            <a:srgbClr val="D95D58"/>
          </a:solidFill>
          <a:ln w="12700">
            <a:solidFill>
              <a:srgbClr val="D95D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228600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D95D58"/>
                </a:solidFill>
                <a:latin typeface="Noto Sans CJK KR"/>
              </a:rPr>
              <a:t>SECURITY / RELIABILITY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21792"/>
            <a:ext cx="1069848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6222D"/>
                </a:solidFill>
                <a:latin typeface="Noto Sans CJK KR"/>
              </a:rPr>
              <a:t>보안과 신뢰성은 ‘막았다’가 아니라 경계와 실패 처리를 보여준다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56248"/>
            <a:ext cx="43891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>
                <a:solidFill>
                  <a:srgbClr val="657281"/>
                </a:solidFill>
                <a:latin typeface="Noto Sans CJK KR"/>
              </a:rPr>
              <a:t>CODYSSEY BASIC · MISSION EVALUATION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82528" y="6492240"/>
            <a:ext cx="502920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1">
                <a:solidFill>
                  <a:srgbClr val="D95D58"/>
                </a:solidFill>
                <a:latin typeface="Noto Sans CJK KR"/>
              </a:rPr>
              <a:t>18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965960"/>
            <a:ext cx="2514600" cy="1965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965960"/>
            <a:ext cx="82296" cy="1965960"/>
          </a:xfrm>
          <a:prstGeom prst="rect">
            <a:avLst/>
          </a:prstGeom>
          <a:solidFill>
            <a:srgbClr val="2F80ED"/>
          </a:solidFill>
          <a:ln w="12700">
            <a:solidFill>
              <a:srgbClr val="2F8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2112264"/>
            <a:ext cx="2075688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6222D"/>
                </a:solidFill>
                <a:latin typeface="Noto Sans CJK KR"/>
              </a:rPr>
              <a:t>IDENTITY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2587752"/>
            <a:ext cx="2057400" cy="119786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57281"/>
                </a:solidFill>
                <a:latin typeface="Noto Sans CJK KR"/>
              </a:rPr>
              <a:t>Authentication
[누구인가]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74720" y="1965960"/>
            <a:ext cx="2514600" cy="1965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74720" y="1965960"/>
            <a:ext cx="82296" cy="1965960"/>
          </a:xfrm>
          <a:prstGeom prst="rect">
            <a:avLst/>
          </a:prstGeom>
          <a:solidFill>
            <a:srgbClr val="F3A61D"/>
          </a:solidFill>
          <a:ln w="12700">
            <a:solidFill>
              <a:srgbClr val="F3A6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30752" y="2112264"/>
            <a:ext cx="2075688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6222D"/>
                </a:solidFill>
                <a:latin typeface="Noto Sans CJK KR"/>
              </a:rPr>
              <a:t>ACCESS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30752" y="2587752"/>
            <a:ext cx="2057400" cy="119786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57281"/>
                </a:solidFill>
                <a:latin typeface="Noto Sans CJK KR"/>
              </a:rPr>
              <a:t>Authorization / ACL
[무엇을 할 수 있나]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1965960"/>
            <a:ext cx="2514600" cy="1965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0" y="1965960"/>
            <a:ext cx="82296" cy="1965960"/>
          </a:xfrm>
          <a:prstGeom prst="rect">
            <a:avLst/>
          </a:prstGeom>
          <a:solidFill>
            <a:srgbClr val="D95D58"/>
          </a:solidFill>
          <a:ln w="12700">
            <a:solidFill>
              <a:srgbClr val="D95D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73952" y="2112264"/>
            <a:ext cx="2075688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6222D"/>
                </a:solidFill>
                <a:latin typeface="Noto Sans CJK KR"/>
              </a:rPr>
              <a:t>SECRET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73952" y="2587752"/>
            <a:ext cx="2057400" cy="119786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57281"/>
                </a:solidFill>
                <a:latin typeface="Noto Sans CJK KR"/>
              </a:rPr>
              <a:t>API Key / Token
[노출 방지]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61120" y="1965960"/>
            <a:ext cx="2514600" cy="1965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961120" y="1965960"/>
            <a:ext cx="82296" cy="1965960"/>
          </a:xfrm>
          <a:prstGeom prst="rect">
            <a:avLst/>
          </a:prstGeom>
          <a:solidFill>
            <a:srgbClr val="2FA66A"/>
          </a:solidFill>
          <a:ln w="12700">
            <a:solidFill>
              <a:srgbClr val="2FA6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17152" y="2112264"/>
            <a:ext cx="2075688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6222D"/>
                </a:solidFill>
                <a:latin typeface="Noto Sans CJK KR"/>
              </a:rPr>
              <a:t>FAILURE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17152" y="2587752"/>
            <a:ext cx="2057400" cy="119786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57281"/>
                </a:solidFill>
                <a:latin typeface="Noto Sans CJK KR"/>
              </a:rPr>
              <a:t>Timeout / Error
[비정상 종료 방지]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" y="4681728"/>
            <a:ext cx="9601200" cy="3200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95D58"/>
                </a:solidFill>
                <a:latin typeface="Noto Sans CJK KR"/>
              </a:rPr>
              <a:t>검증 예: 비로그인 접근 · 잘못된 권한 · Key 미설정 · API timeout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109728"/>
          </a:xfrm>
          <a:prstGeom prst="rect">
            <a:avLst/>
          </a:prstGeom>
          <a:solidFill>
            <a:srgbClr val="2F80ED"/>
          </a:solidFill>
          <a:ln w="12700">
            <a:solidFill>
              <a:srgbClr val="2F8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228600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2F80ED"/>
                </a:solidFill>
                <a:latin typeface="Noto Sans CJK KR"/>
              </a:rPr>
              <a:t>COLLABORATION / GIT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21792"/>
            <a:ext cx="1069848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6222D"/>
                </a:solidFill>
                <a:latin typeface="Noto Sans CJK KR"/>
              </a:rPr>
              <a:t>협업은 결과 파일보다 Issue·PR·Review의 추적 가능한 흐름으로 증명한다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56248"/>
            <a:ext cx="43891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>
                <a:solidFill>
                  <a:srgbClr val="657281"/>
                </a:solidFill>
                <a:latin typeface="Noto Sans CJK KR"/>
              </a:rPr>
              <a:t>CODYSSEY BASIC · MISSION EVALUATION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82528" y="6492240"/>
            <a:ext cx="502920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1">
                <a:solidFill>
                  <a:srgbClr val="2F80ED"/>
                </a:solidFill>
                <a:latin typeface="Noto Sans CJK KR"/>
              </a:rPr>
              <a:t>19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331720"/>
            <a:ext cx="1609344" cy="16276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2331720"/>
            <a:ext cx="82296" cy="1627632"/>
          </a:xfrm>
          <a:prstGeom prst="rect">
            <a:avLst/>
          </a:prstGeom>
          <a:solidFill>
            <a:srgbClr val="2F80ED"/>
          </a:solidFill>
          <a:ln w="12700">
            <a:solidFill>
              <a:srgbClr val="2F8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2496312"/>
            <a:ext cx="438912" cy="34747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F80ED"/>
                </a:solidFill>
                <a:latin typeface="Noto Sans CJK KR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16736" y="2478024"/>
            <a:ext cx="768096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6222D"/>
                </a:solidFill>
                <a:latin typeface="Noto Sans CJK KR"/>
              </a:rPr>
              <a:t>ISSUE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953512"/>
            <a:ext cx="1152144" cy="8595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57281"/>
                </a:solidFill>
                <a:latin typeface="Noto Sans CJK KR"/>
              </a:rPr>
              <a:t>작업 정의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496312" y="2331720"/>
            <a:ext cx="1609344" cy="16276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496312" y="2331720"/>
            <a:ext cx="82296" cy="1627632"/>
          </a:xfrm>
          <a:prstGeom prst="rect">
            <a:avLst/>
          </a:prstGeom>
          <a:solidFill>
            <a:srgbClr val="2F80ED"/>
          </a:solidFill>
          <a:ln w="12700">
            <a:solidFill>
              <a:srgbClr val="2F8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15768" y="2496312"/>
            <a:ext cx="438912" cy="34747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F80ED"/>
                </a:solidFill>
                <a:latin typeface="Noto Sans CJK KR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54680" y="2478024"/>
            <a:ext cx="768096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6222D"/>
                </a:solidFill>
                <a:latin typeface="Noto Sans CJK KR"/>
              </a:rPr>
              <a:t>BRANCH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52344" y="2953512"/>
            <a:ext cx="1152144" cy="8595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57281"/>
                </a:solidFill>
                <a:latin typeface="Noto Sans CJK KR"/>
              </a:rPr>
              <a:t>격리 작업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34256" y="2331720"/>
            <a:ext cx="1609344" cy="16276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34256" y="2331720"/>
            <a:ext cx="82296" cy="1627632"/>
          </a:xfrm>
          <a:prstGeom prst="rect">
            <a:avLst/>
          </a:prstGeom>
          <a:solidFill>
            <a:srgbClr val="2F80ED"/>
          </a:solidFill>
          <a:ln w="12700">
            <a:solidFill>
              <a:srgbClr val="2F8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53712" y="2496312"/>
            <a:ext cx="438912" cy="34747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F80ED"/>
                </a:solidFill>
                <a:latin typeface="Noto Sans CJK KR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92624" y="2478024"/>
            <a:ext cx="768096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6222D"/>
                </a:solidFill>
                <a:latin typeface="Noto Sans CJK KR"/>
              </a:rPr>
              <a:t>COMMIT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90288" y="2953512"/>
            <a:ext cx="1152144" cy="8595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57281"/>
                </a:solidFill>
                <a:latin typeface="Noto Sans CJK KR"/>
              </a:rPr>
              <a:t>의미 있는 변경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2331720"/>
            <a:ext cx="1609344" cy="16276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72200" y="2331720"/>
            <a:ext cx="82296" cy="1627632"/>
          </a:xfrm>
          <a:prstGeom prst="rect">
            <a:avLst/>
          </a:prstGeom>
          <a:solidFill>
            <a:srgbClr val="2F80ED"/>
          </a:solidFill>
          <a:ln w="12700">
            <a:solidFill>
              <a:srgbClr val="2F8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91656" y="2496312"/>
            <a:ext cx="438912" cy="34747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F80ED"/>
                </a:solidFill>
                <a:latin typeface="Noto Sans CJK KR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30568" y="2478024"/>
            <a:ext cx="768096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6222D"/>
                </a:solidFill>
                <a:latin typeface="Noto Sans CJK KR"/>
              </a:rPr>
              <a:t>PR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28232" y="2953512"/>
            <a:ext cx="1152144" cy="8595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57281"/>
                </a:solidFill>
                <a:latin typeface="Noto Sans CJK KR"/>
              </a:rPr>
              <a:t>What / Why / How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10144" y="2331720"/>
            <a:ext cx="1609344" cy="16276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010144" y="2331720"/>
            <a:ext cx="82296" cy="1627632"/>
          </a:xfrm>
          <a:prstGeom prst="rect">
            <a:avLst/>
          </a:prstGeom>
          <a:solidFill>
            <a:srgbClr val="2FA66A"/>
          </a:solidFill>
          <a:ln w="12700">
            <a:solidFill>
              <a:srgbClr val="2FA6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0" y="2496312"/>
            <a:ext cx="438912" cy="34747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FA66A"/>
                </a:solidFill>
                <a:latin typeface="Noto Sans CJK KR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68512" y="2478024"/>
            <a:ext cx="768096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6222D"/>
                </a:solidFill>
                <a:latin typeface="Noto Sans CJK KR"/>
              </a:rPr>
              <a:t>REVIEW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66176" y="2953512"/>
            <a:ext cx="1152144" cy="8595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57281"/>
                </a:solidFill>
                <a:latin typeface="Noto Sans CJK KR"/>
              </a:rPr>
              <a:t>피드백 반영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848088" y="2331720"/>
            <a:ext cx="1609344" cy="16276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848088" y="2331720"/>
            <a:ext cx="82296" cy="1627632"/>
          </a:xfrm>
          <a:prstGeom prst="rect">
            <a:avLst/>
          </a:prstGeom>
          <a:solidFill>
            <a:srgbClr val="2FA66A"/>
          </a:solidFill>
          <a:ln w="12700">
            <a:solidFill>
              <a:srgbClr val="2FA6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67544" y="2496312"/>
            <a:ext cx="438912" cy="34747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FA66A"/>
                </a:solidFill>
                <a:latin typeface="Noto Sans CJK KR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06456" y="2478024"/>
            <a:ext cx="768096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6222D"/>
                </a:solidFill>
                <a:latin typeface="Noto Sans CJK KR"/>
              </a:rPr>
              <a:t>MERGE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04120" y="2953512"/>
            <a:ext cx="1152144" cy="8595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57281"/>
                </a:solidFill>
                <a:latin typeface="Noto Sans CJK KR"/>
              </a:rPr>
              <a:t>main 통합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86384" y="4663440"/>
            <a:ext cx="9509760" cy="3200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6222D"/>
                </a:solidFill>
                <a:latin typeface="Noto Sans CJK KR"/>
              </a:rPr>
              <a:t>필수 증빙 예: PR 링크 · 리뷰 코멘트 · 충돌 해결 기록 · git log --graph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109728"/>
          </a:xfrm>
          <a:prstGeom prst="rect">
            <a:avLst/>
          </a:prstGeom>
          <a:solidFill>
            <a:srgbClr val="19A89D"/>
          </a:solidFill>
          <a:ln w="12700">
            <a:solidFill>
              <a:srgbClr val="19A8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228600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9A89D"/>
                </a:solidFill>
                <a:latin typeface="Noto Sans CJK KR"/>
              </a:rPr>
              <a:t>LEARNING OUTCOMES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21792"/>
            <a:ext cx="1069848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6222D"/>
                </a:solidFill>
                <a:latin typeface="Noto Sans CJK KR"/>
              </a:rPr>
              <a:t>학습성과는 ‘사용했다’가 아니라 코드 근거로 설명할 수 있는가로 평가한다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56248"/>
            <a:ext cx="43891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>
                <a:solidFill>
                  <a:srgbClr val="657281"/>
                </a:solidFill>
                <a:latin typeface="Noto Sans CJK KR"/>
              </a:rPr>
              <a:t>CODYSSEY BASIC · MISSION EVALUATION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82528" y="6492240"/>
            <a:ext cx="502920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1">
                <a:solidFill>
                  <a:srgbClr val="19A89D"/>
                </a:solidFill>
                <a:latin typeface="Noto Sans CJK KR"/>
              </a:rPr>
              <a:t>20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68096" y="1965960"/>
            <a:ext cx="5074920" cy="13533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8096" y="1965960"/>
            <a:ext cx="82296" cy="1353312"/>
          </a:xfrm>
          <a:prstGeom prst="rect">
            <a:avLst/>
          </a:prstGeom>
          <a:solidFill>
            <a:srgbClr val="2F80ED"/>
          </a:solidFill>
          <a:ln w="12700">
            <a:solidFill>
              <a:srgbClr val="2F8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2130552"/>
            <a:ext cx="438912" cy="34747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F80ED"/>
                </a:solidFill>
                <a:latin typeface="Noto Sans CJK KR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26464" y="2112264"/>
            <a:ext cx="4233672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6222D"/>
                </a:solidFill>
                <a:latin typeface="Noto Sans CJK KR"/>
              </a:rPr>
              <a:t>CONCEPT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" y="2587752"/>
            <a:ext cx="4617720" cy="58521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57281"/>
                </a:solidFill>
                <a:latin typeface="Noto Sans CJK KR"/>
              </a:rPr>
              <a:t>[핵심 개념]을 내 코드로 설명할 수 있다.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63056" y="1965960"/>
            <a:ext cx="5074920" cy="13533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63056" y="1965960"/>
            <a:ext cx="82296" cy="1353312"/>
          </a:xfrm>
          <a:prstGeom prst="rect">
            <a:avLst/>
          </a:prstGeom>
          <a:solidFill>
            <a:srgbClr val="19A89D"/>
          </a:solidFill>
          <a:ln w="12700">
            <a:solidFill>
              <a:srgbClr val="19A8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82512" y="2130552"/>
            <a:ext cx="438912" cy="34747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9A89D"/>
                </a:solidFill>
                <a:latin typeface="Noto Sans CJK KR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21424" y="2112264"/>
            <a:ext cx="4233672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6222D"/>
                </a:solidFill>
                <a:latin typeface="Noto Sans CJK KR"/>
              </a:rPr>
              <a:t>WHY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9088" y="2587752"/>
            <a:ext cx="4617720" cy="58521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57281"/>
                </a:solidFill>
                <a:latin typeface="Noto Sans CJK KR"/>
              </a:rPr>
              <a:t>왜 이 구조/자료구조/패턴을 선택했는지 말할 수 있다.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8096" y="3575304"/>
            <a:ext cx="5074920" cy="13533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8096" y="3575304"/>
            <a:ext cx="82296" cy="1353312"/>
          </a:xfrm>
          <a:prstGeom prst="rect">
            <a:avLst/>
          </a:prstGeom>
          <a:solidFill>
            <a:srgbClr val="F3A61D"/>
          </a:solidFill>
          <a:ln w="12700">
            <a:solidFill>
              <a:srgbClr val="F3A6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87552" y="3739896"/>
            <a:ext cx="438912" cy="34747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3A61D"/>
                </a:solidFill>
                <a:latin typeface="Noto Sans CJK KR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26464" y="3721608"/>
            <a:ext cx="4233672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6222D"/>
                </a:solidFill>
                <a:latin typeface="Noto Sans CJK KR"/>
              </a:rPr>
              <a:t>FLOW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4128" y="4197096"/>
            <a:ext cx="4617720" cy="58521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57281"/>
                </a:solidFill>
                <a:latin typeface="Noto Sans CJK KR"/>
              </a:rPr>
              <a:t>입력 → 내부 처리 → 결과 흐름을 추적할 수 있다.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6" y="3575304"/>
            <a:ext cx="5074920" cy="13533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63056" y="3575304"/>
            <a:ext cx="82296" cy="1353312"/>
          </a:xfrm>
          <a:prstGeom prst="rect">
            <a:avLst/>
          </a:prstGeom>
          <a:solidFill>
            <a:srgbClr val="2FA66A"/>
          </a:solidFill>
          <a:ln w="12700">
            <a:solidFill>
              <a:srgbClr val="2FA6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82512" y="3739896"/>
            <a:ext cx="438912" cy="34747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FA66A"/>
                </a:solidFill>
                <a:latin typeface="Noto Sans CJK KR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21424" y="3721608"/>
            <a:ext cx="4233672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6222D"/>
                </a:solidFill>
                <a:latin typeface="Noto Sans CJK KR"/>
              </a:rPr>
              <a:t>FAILURE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19088" y="4197096"/>
            <a:ext cx="4617720" cy="58521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57281"/>
                </a:solidFill>
                <a:latin typeface="Noto Sans CJK KR"/>
              </a:rPr>
              <a:t>실패 상황과 복구/예외 처리를 설명할 수 있다.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" y="5138928"/>
            <a:ext cx="10058400" cy="3200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9A89D"/>
                </a:solidFill>
                <a:latin typeface="Noto Sans CJK KR"/>
              </a:rPr>
              <a:t>발표자는 ‘정의’보다 ‘내 구현에서 어디에 있고 어떻게 동작하는가’를 우선 설명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109728"/>
          </a:xfrm>
          <a:prstGeom prst="rect">
            <a:avLst/>
          </a:prstGeom>
          <a:solidFill>
            <a:srgbClr val="F3A61D"/>
          </a:solidFill>
          <a:ln w="12700">
            <a:solidFill>
              <a:srgbClr val="F3A6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228600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F3A61D"/>
                </a:solidFill>
                <a:latin typeface="Noto Sans CJK KR"/>
              </a:rPr>
              <a:t>EVALUATION Q&amp;A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21792"/>
            <a:ext cx="1069848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6222D"/>
                </a:solidFill>
                <a:latin typeface="Noto Sans CJK KR"/>
              </a:rPr>
              <a:t>평가 질문은 Why·How·Evidence의 세 축으로 준비한다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56248"/>
            <a:ext cx="43891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>
                <a:solidFill>
                  <a:srgbClr val="657281"/>
                </a:solidFill>
                <a:latin typeface="Noto Sans CJK KR"/>
              </a:rPr>
              <a:t>CODYSSEY BASIC · MISSION EVALUATION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82528" y="6492240"/>
            <a:ext cx="502920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1">
                <a:solidFill>
                  <a:srgbClr val="F3A61D"/>
                </a:solidFill>
                <a:latin typeface="Noto Sans CJK KR"/>
              </a:rPr>
              <a:t>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68096" y="1901952"/>
            <a:ext cx="5074920" cy="14813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50976" y="2066544"/>
            <a:ext cx="713232" cy="310896"/>
          </a:xfrm>
          <a:prstGeom prst="roundRect">
            <a:avLst/>
          </a:prstGeom>
          <a:solidFill>
            <a:srgbClr val="FFF5DF"/>
          </a:solidFill>
          <a:ln w="12700">
            <a:solidFill>
              <a:srgbClr val="FFF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116836"/>
            <a:ext cx="603504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3A61D"/>
                </a:solidFill>
                <a:latin typeface="Noto Sans CJK KR"/>
              </a:rPr>
              <a:t>WHY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92224" y="2084832"/>
            <a:ext cx="3831336" cy="3200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222D"/>
                </a:solidFill>
                <a:latin typeface="Noto Sans CJK KR"/>
              </a:rPr>
              <a:t>왜 이 방법을 선택했나요?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92224" y="2615184"/>
            <a:ext cx="3831336" cy="3657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57281"/>
                </a:solidFill>
                <a:latin typeface="Noto Sans CJK KR"/>
              </a:rPr>
              <a:t>[대안 비교 + 요구사항 연결]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44768" y="1901952"/>
            <a:ext cx="5074920" cy="14813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27648" y="2066544"/>
            <a:ext cx="713232" cy="310896"/>
          </a:xfrm>
          <a:prstGeom prst="roundRect">
            <a:avLst/>
          </a:prstGeom>
          <a:solidFill>
            <a:srgbClr val="FFF5DF"/>
          </a:solidFill>
          <a:ln w="12700">
            <a:solidFill>
              <a:srgbClr val="FFF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82512" y="2116836"/>
            <a:ext cx="603504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3A61D"/>
                </a:solidFill>
                <a:latin typeface="Noto Sans CJK KR"/>
              </a:rPr>
              <a:t>HOW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68896" y="2084832"/>
            <a:ext cx="3831336" cy="3200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222D"/>
                </a:solidFill>
                <a:latin typeface="Noto Sans CJK KR"/>
              </a:rPr>
              <a:t>실제로 어떻게 동작하나요?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8896" y="2615184"/>
            <a:ext cx="3831336" cy="3657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57281"/>
                </a:solidFill>
                <a:latin typeface="Noto Sans CJK KR"/>
              </a:rPr>
              <a:t>[코드/흐름 근거]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8096" y="3685032"/>
            <a:ext cx="5074920" cy="14813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50976" y="3849624"/>
            <a:ext cx="713232" cy="310896"/>
          </a:xfrm>
          <a:prstGeom prst="roundRect">
            <a:avLst/>
          </a:prstGeom>
          <a:solidFill>
            <a:srgbClr val="FFF5DF"/>
          </a:solidFill>
          <a:ln w="12700">
            <a:solidFill>
              <a:srgbClr val="FFF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3899916"/>
            <a:ext cx="603504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3A61D"/>
                </a:solidFill>
                <a:latin typeface="Noto Sans CJK KR"/>
              </a:rPr>
              <a:t>EVIDENCE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92224" y="3867912"/>
            <a:ext cx="3831336" cy="3200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222D"/>
                </a:solidFill>
                <a:latin typeface="Noto Sans CJK KR"/>
              </a:rPr>
              <a:t>동작했다는 근거는 무엇인가요?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92224" y="4398264"/>
            <a:ext cx="3831336" cy="3657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57281"/>
                </a:solidFill>
                <a:latin typeface="Noto Sans CJK KR"/>
              </a:rPr>
              <a:t>[테스트/로그/URL/PR]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44768" y="3685032"/>
            <a:ext cx="5074920" cy="14813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327648" y="3849624"/>
            <a:ext cx="713232" cy="310896"/>
          </a:xfrm>
          <a:prstGeom prst="roundRect">
            <a:avLst/>
          </a:prstGeom>
          <a:solidFill>
            <a:srgbClr val="FFF5DF"/>
          </a:solidFill>
          <a:ln w="12700">
            <a:solidFill>
              <a:srgbClr val="FFF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82512" y="3899916"/>
            <a:ext cx="603504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3A61D"/>
                </a:solidFill>
                <a:latin typeface="Noto Sans CJK KR"/>
              </a:rPr>
              <a:t>LIMIT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68896" y="3867912"/>
            <a:ext cx="3831336" cy="3200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222D"/>
                </a:solidFill>
                <a:latin typeface="Noto Sans CJK KR"/>
              </a:rPr>
              <a:t>어떤 한계가 있나요?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8896" y="4398264"/>
            <a:ext cx="3831336" cy="3657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57281"/>
                </a:solidFill>
                <a:latin typeface="Noto Sans CJK KR"/>
              </a:rPr>
              <a:t>[현재 범위와 고도화 분리]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109728"/>
          </a:xfrm>
          <a:prstGeom prst="rect">
            <a:avLst/>
          </a:prstGeom>
          <a:solidFill>
            <a:srgbClr val="F3A61D"/>
          </a:solidFill>
          <a:ln w="12700">
            <a:solidFill>
              <a:srgbClr val="F3A6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228600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F3A61D"/>
                </a:solidFill>
                <a:latin typeface="Noto Sans CJK KR"/>
              </a:rPr>
              <a:t>LIMITATIONS /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21792"/>
            <a:ext cx="1069848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6222D"/>
                </a:solidFill>
                <a:latin typeface="Noto Sans CJK KR"/>
              </a:rPr>
              <a:t>현재 미션 통과 범위와 후속 고도화를 명확히 분리한다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56248"/>
            <a:ext cx="43891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>
                <a:solidFill>
                  <a:srgbClr val="657281"/>
                </a:solidFill>
                <a:latin typeface="Noto Sans CJK KR"/>
              </a:rPr>
              <a:t>CODYSSEY BASIC · MISSION EVALUATION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82528" y="6492240"/>
            <a:ext cx="502920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1">
                <a:solidFill>
                  <a:srgbClr val="F3A61D"/>
                </a:solidFill>
                <a:latin typeface="Noto Sans CJK KR"/>
              </a:rPr>
              <a:t>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956816"/>
            <a:ext cx="4937760" cy="3154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2212848"/>
            <a:ext cx="214884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D95D58"/>
                </a:solidFill>
                <a:latin typeface="Noto Sans CJK KR"/>
              </a:rPr>
              <a:t>CURRENT LIMITATIONS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2788920"/>
            <a:ext cx="4206240" cy="1234440"/>
          </a:xfrm>
          <a:prstGeom prst="rect">
            <a:avLst/>
          </a:prstGeom>
          <a:noFill/>
        </p:spPr>
        <p:txBody>
          <a:bodyPr wrap="square" lIns="54864" rIns="36576" tIns="18288" bIns="18288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16222D"/>
                </a:solidFill>
                <a:latin typeface="Noto Sans CJK KR"/>
              </a:defRPr>
            </a:pPr>
            <a:r>
              <a:t>• [공식 범위 밖이라 구현하지 않은 항목]</a:t>
            </a:r>
          </a:p>
          <a:p>
            <a:pPr>
              <a:spcAft>
                <a:spcPts val="600"/>
              </a:spcAft>
              <a:defRPr sz="1200">
                <a:solidFill>
                  <a:srgbClr val="16222D"/>
                </a:solidFill>
                <a:latin typeface="Noto Sans CJK KR"/>
              </a:defRPr>
            </a:pPr>
            <a:r>
              <a:t>• [현재 데이터/환경의 제약]</a:t>
            </a:r>
          </a:p>
          <a:p>
            <a:pPr>
              <a:spcAft>
                <a:spcPts val="600"/>
              </a:spcAft>
              <a:defRPr sz="1200">
                <a:solidFill>
                  <a:srgbClr val="16222D"/>
                </a:solidFill>
                <a:latin typeface="Noto Sans CJK KR"/>
              </a:defRPr>
            </a:pPr>
            <a:r>
              <a:t>• [검증에서 남은 실제 리스크]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89320" y="1956816"/>
            <a:ext cx="4937760" cy="3154680"/>
          </a:xfrm>
          <a:prstGeom prst="roundRect">
            <a:avLst/>
          </a:prstGeom>
          <a:solidFill>
            <a:srgbClr val="E9F8F6"/>
          </a:solidFill>
          <a:ln w="12700">
            <a:solidFill>
              <a:srgbClr val="C7EA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72784" y="2212848"/>
            <a:ext cx="214884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9A89D"/>
                </a:solidFill>
                <a:latin typeface="Noto Sans CJK KR"/>
              </a:rPr>
              <a:t>NEXT — ADVANCED / PRO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72784" y="2788920"/>
            <a:ext cx="4206240" cy="1234440"/>
          </a:xfrm>
          <a:prstGeom prst="rect">
            <a:avLst/>
          </a:prstGeom>
          <a:noFill/>
        </p:spPr>
        <p:txBody>
          <a:bodyPr wrap="square" lIns="54864" rIns="36576" tIns="18288" bIns="18288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16222D"/>
                </a:solidFill>
                <a:latin typeface="Noto Sans CJK KR"/>
              </a:defRPr>
            </a:pPr>
            <a:r>
              <a:t>• [성능 / 보안 / 확장성 고도화]</a:t>
            </a:r>
          </a:p>
          <a:p>
            <a:pPr>
              <a:spcAft>
                <a:spcPts val="600"/>
              </a:spcAft>
              <a:defRPr sz="1200">
                <a:solidFill>
                  <a:srgbClr val="16222D"/>
                </a:solidFill>
                <a:latin typeface="Noto Sans CJK KR"/>
              </a:defRPr>
            </a:pPr>
            <a:r>
              <a:t>• [추가 테스트 / CI / 관측성]</a:t>
            </a:r>
          </a:p>
          <a:p>
            <a:pPr>
              <a:spcAft>
                <a:spcPts val="600"/>
              </a:spcAft>
              <a:defRPr sz="1200">
                <a:solidFill>
                  <a:srgbClr val="16222D"/>
                </a:solidFill>
                <a:latin typeface="Noto Sans CJK KR"/>
              </a:defRPr>
            </a:pPr>
            <a:r>
              <a:t>• [연구·포트폴리오 확장]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68680" y="777240"/>
            <a:ext cx="1325880" cy="310896"/>
          </a:xfrm>
          <a:prstGeom prst="roundRect">
            <a:avLst/>
          </a:prstGeom>
          <a:solidFill>
            <a:srgbClr val="163758"/>
          </a:solidFill>
          <a:ln w="12700">
            <a:solidFill>
              <a:srgbClr val="1637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23544" y="827532"/>
            <a:ext cx="1216152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8BC9FF"/>
                </a:solidFill>
                <a:latin typeface="Noto Sans CJK KR"/>
              </a:rP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17320"/>
            <a:ext cx="10241280" cy="10515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Noto Sans CJK KR"/>
              </a:rPr>
              <a:t>요구사항을 구현했고, 실제 검증과 증빙으로 설명할 수 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6112" y="2788920"/>
            <a:ext cx="9144000" cy="5029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9A89D"/>
                </a:solidFill>
                <a:latin typeface="Noto Sans CJK KR"/>
              </a:rPr>
              <a:t>[미션 핵심 결론 1문장]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703320"/>
            <a:ext cx="5669280" cy="1325880"/>
          </a:xfrm>
          <a:prstGeom prst="rect">
            <a:avLst/>
          </a:prstGeom>
          <a:noFill/>
        </p:spPr>
        <p:txBody>
          <a:bodyPr wrap="square" lIns="54864" rIns="36576" tIns="18288" bIns="18288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D2DFEC"/>
                </a:solidFill>
                <a:latin typeface="Noto Sans CJK KR"/>
              </a:defRPr>
            </a:pPr>
            <a:r>
              <a:t>• Requirement — [핵심 요구]</a:t>
            </a:r>
          </a:p>
          <a:p>
            <a:pPr>
              <a:spcAft>
                <a:spcPts val="600"/>
              </a:spcAft>
              <a:defRPr sz="1300">
                <a:solidFill>
                  <a:srgbClr val="D2DFEC"/>
                </a:solidFill>
                <a:latin typeface="Noto Sans CJK KR"/>
              </a:defRPr>
            </a:pPr>
            <a:r>
              <a:t>• Implementation — [핵심 구현]</a:t>
            </a:r>
          </a:p>
          <a:p>
            <a:pPr>
              <a:spcAft>
                <a:spcPts val="600"/>
              </a:spcAft>
              <a:defRPr sz="1300">
                <a:solidFill>
                  <a:srgbClr val="D2DFEC"/>
                </a:solidFill>
                <a:latin typeface="Noto Sans CJK KR"/>
              </a:defRPr>
            </a:pPr>
            <a:r>
              <a:t>• Verification — [핵심 검증]</a:t>
            </a:r>
          </a:p>
          <a:p>
            <a:pPr>
              <a:spcAft>
                <a:spcPts val="600"/>
              </a:spcAft>
              <a:defRPr sz="1300">
                <a:solidFill>
                  <a:srgbClr val="D2DFEC"/>
                </a:solidFill>
                <a:latin typeface="Noto Sans CJK KR"/>
              </a:defRPr>
            </a:pPr>
            <a:r>
              <a:t>• Evidence — [핵심 증빙]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32520" y="3886200"/>
            <a:ext cx="1828800" cy="5943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500" b="1">
                <a:solidFill>
                  <a:srgbClr val="FFFFFF"/>
                </a:solidFill>
                <a:latin typeface="Noto Sans CJK KR"/>
              </a:rPr>
              <a:t>Q&amp;A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27080" y="6263640"/>
            <a:ext cx="502920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1">
                <a:solidFill>
                  <a:srgbClr val="7894AE"/>
                </a:solidFill>
                <a:latin typeface="Noto Sans CJK KR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109728"/>
          </a:xfrm>
          <a:prstGeom prst="rect">
            <a:avLst/>
          </a:prstGeom>
          <a:solidFill>
            <a:srgbClr val="2F80ED"/>
          </a:solidFill>
          <a:ln w="12700">
            <a:solidFill>
              <a:srgbClr val="2F8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228600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2F80ED"/>
                </a:solidFill>
                <a:latin typeface="Noto Sans CJK KR"/>
              </a:rPr>
              <a:t>DOMAIN-SPECIFIC LAYOUT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21792"/>
            <a:ext cx="1069848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6222D"/>
                </a:solidFill>
                <a:latin typeface="Noto Sans CJK KR"/>
              </a:rPr>
              <a:t>Linux/OS · 관제·권한·장애 분석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56248"/>
            <a:ext cx="43891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>
                <a:solidFill>
                  <a:srgbClr val="657281"/>
                </a:solidFill>
                <a:latin typeface="Noto Sans CJK KR"/>
              </a:rPr>
              <a:t>CODYSSEY BASIC · MISSION EVALUATION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82528" y="6492240"/>
            <a:ext cx="502920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1">
                <a:solidFill>
                  <a:srgbClr val="2F80ED"/>
                </a:solidFill>
                <a:latin typeface="Noto Sans CJK KR"/>
              </a:rPr>
              <a:t>24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847088"/>
            <a:ext cx="5074920" cy="3474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9264" y="2103120"/>
            <a:ext cx="2286000" cy="3200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F80ED"/>
                </a:solidFill>
                <a:latin typeface="Noto Sans CJK KR"/>
              </a:rPr>
              <a:t>필수 시각화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697480"/>
            <a:ext cx="4297680" cy="1920240"/>
          </a:xfrm>
          <a:prstGeom prst="rect">
            <a:avLst/>
          </a:prstGeom>
          <a:noFill/>
        </p:spPr>
        <p:txBody>
          <a:bodyPr wrap="square" lIns="54864" rIns="36576" tIns="18288" bIns="18288">
            <a:spAutoFit/>
          </a:bodyPr>
          <a:lstStyle/>
          <a:p>
            <a:pPr>
              <a:spcAft>
                <a:spcPts val="600"/>
              </a:spcAft>
              <a:defRPr sz="1150">
                <a:solidFill>
                  <a:srgbClr val="16222D"/>
                </a:solidFill>
                <a:latin typeface="Noto Sans CJK KR"/>
              </a:defRPr>
            </a:pPr>
            <a:r>
              <a:t>• 시스템 구성도 / 권한표</a:t>
            </a:r>
          </a:p>
          <a:p>
            <a:pPr>
              <a:spcAft>
                <a:spcPts val="600"/>
              </a:spcAft>
              <a:defRPr sz="1150">
                <a:solidFill>
                  <a:srgbClr val="16222D"/>
                </a:solidFill>
                <a:latin typeface="Noto Sans CJK KR"/>
              </a:defRPr>
            </a:pPr>
            <a:r>
              <a:t>• monitor.sh / cron 흐름</a:t>
            </a:r>
          </a:p>
          <a:p>
            <a:pPr>
              <a:spcAft>
                <a:spcPts val="600"/>
              </a:spcAft>
              <a:defRPr sz="1150">
                <a:solidFill>
                  <a:srgbClr val="16222D"/>
                </a:solidFill>
                <a:latin typeface="Noto Sans CJK KR"/>
              </a:defRPr>
            </a:pPr>
            <a:r>
              <a:t>• 로그 타임라인 / Before &amp; After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53328" y="1847088"/>
            <a:ext cx="5074920" cy="347472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60" y="2103120"/>
            <a:ext cx="2377440" cy="3200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F80ED"/>
                </a:solidFill>
                <a:latin typeface="Noto Sans CJK KR"/>
              </a:rPr>
              <a:t>핵심 평가 질문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2697480"/>
            <a:ext cx="4297680" cy="1920240"/>
          </a:xfrm>
          <a:prstGeom prst="rect">
            <a:avLst/>
          </a:prstGeom>
          <a:noFill/>
        </p:spPr>
        <p:txBody>
          <a:bodyPr wrap="square" lIns="54864" rIns="36576" tIns="18288" bIns="18288">
            <a:spAutoFit/>
          </a:bodyPr>
          <a:lstStyle/>
          <a:p>
            <a:pPr>
              <a:spcAft>
                <a:spcPts val="600"/>
              </a:spcAft>
              <a:defRPr sz="1150">
                <a:solidFill>
                  <a:srgbClr val="16222D"/>
                </a:solidFill>
                <a:latin typeface="Noto Sans CJK KR"/>
              </a:defRPr>
            </a:pPr>
            <a:r>
              <a:t>• 왜 최소 권한이 필요한가?</a:t>
            </a:r>
          </a:p>
          <a:p>
            <a:pPr>
              <a:spcAft>
                <a:spcPts val="600"/>
              </a:spcAft>
              <a:defRPr sz="1150">
                <a:solidFill>
                  <a:srgbClr val="16222D"/>
                </a:solidFill>
                <a:latin typeface="Noto Sans CJK KR"/>
              </a:defRPr>
            </a:pPr>
            <a:r>
              <a:t>• 장애 원인을 어떤 증거로 좁혔나?</a:t>
            </a:r>
          </a:p>
          <a:p>
            <a:pPr>
              <a:spcAft>
                <a:spcPts val="600"/>
              </a:spcAft>
              <a:defRPr sz="1150">
                <a:solidFill>
                  <a:srgbClr val="16222D"/>
                </a:solidFill>
                <a:latin typeface="Noto Sans CJK KR"/>
              </a:defRPr>
            </a:pPr>
            <a:r>
              <a:t>• 실행 환경과 Evidence는 추적 가능한가?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6112" y="4773168"/>
            <a:ext cx="1929384" cy="310896"/>
          </a:xfrm>
          <a:prstGeom prst="roundRect">
            <a:avLst/>
          </a:prstGeom>
          <a:solidFill>
            <a:srgbClr val="E9EEF5"/>
          </a:solidFill>
          <a:ln w="12700">
            <a:solidFill>
              <a:srgbClr val="E9EE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0976" y="4823460"/>
            <a:ext cx="1819656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2F80ED"/>
                </a:solidFill>
                <a:latin typeface="Noto Sans CJK KR"/>
              </a:rPr>
              <a:t>USER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898648" y="4773168"/>
            <a:ext cx="1929384" cy="310896"/>
          </a:xfrm>
          <a:prstGeom prst="roundRect">
            <a:avLst/>
          </a:prstGeom>
          <a:solidFill>
            <a:srgbClr val="E9EEF5"/>
          </a:solidFill>
          <a:ln w="12700">
            <a:solidFill>
              <a:srgbClr val="E9EE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53512" y="4823460"/>
            <a:ext cx="1819656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2F80ED"/>
                </a:solidFill>
                <a:latin typeface="Noto Sans CJK KR"/>
              </a:rPr>
              <a:t>SSH/UFW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01184" y="4773168"/>
            <a:ext cx="1929384" cy="310896"/>
          </a:xfrm>
          <a:prstGeom prst="roundRect">
            <a:avLst/>
          </a:prstGeom>
          <a:solidFill>
            <a:srgbClr val="E9EEF5"/>
          </a:solidFill>
          <a:ln w="12700">
            <a:solidFill>
              <a:srgbClr val="E9EE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56048" y="4823460"/>
            <a:ext cx="1819656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2F80ED"/>
                </a:solidFill>
                <a:latin typeface="Noto Sans CJK KR"/>
              </a:rPr>
              <a:t>APP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903720" y="4773168"/>
            <a:ext cx="1929384" cy="310896"/>
          </a:xfrm>
          <a:prstGeom prst="roundRect">
            <a:avLst/>
          </a:prstGeom>
          <a:solidFill>
            <a:srgbClr val="E9EEF5"/>
          </a:solidFill>
          <a:ln w="12700">
            <a:solidFill>
              <a:srgbClr val="E9EE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58584" y="4823460"/>
            <a:ext cx="1819656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2F80ED"/>
                </a:solidFill>
                <a:latin typeface="Noto Sans CJK KR"/>
              </a:rPr>
              <a:t>MONITOR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06256" y="4773168"/>
            <a:ext cx="1929384" cy="310896"/>
          </a:xfrm>
          <a:prstGeom prst="roundRect">
            <a:avLst/>
          </a:prstGeom>
          <a:solidFill>
            <a:srgbClr val="E9EEF5"/>
          </a:solidFill>
          <a:ln w="12700">
            <a:solidFill>
              <a:srgbClr val="E9EE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61120" y="4823460"/>
            <a:ext cx="1819656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2F80ED"/>
                </a:solidFill>
                <a:latin typeface="Noto Sans CJK KR"/>
              </a:rPr>
              <a:t>LOG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109728"/>
          </a:xfrm>
          <a:prstGeom prst="rect">
            <a:avLst/>
          </a:prstGeom>
          <a:solidFill>
            <a:srgbClr val="19A89D"/>
          </a:solidFill>
          <a:ln w="12700">
            <a:solidFill>
              <a:srgbClr val="19A8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228600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9A89D"/>
                </a:solidFill>
                <a:latin typeface="Noto Sans CJK KR"/>
              </a:rPr>
              <a:t>DOMAIN-SPECIFIC LAYOUT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21792"/>
            <a:ext cx="1069848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6222D"/>
                </a:solidFill>
                <a:latin typeface="Noto Sans CJK KR"/>
              </a:rPr>
              <a:t>Python/CLI · 유지보수 가능한 작은 서비스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56248"/>
            <a:ext cx="43891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>
                <a:solidFill>
                  <a:srgbClr val="657281"/>
                </a:solidFill>
                <a:latin typeface="Noto Sans CJK KR"/>
              </a:rPr>
              <a:t>CODYSSEY BASIC · MISSION EVALUATION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82528" y="6492240"/>
            <a:ext cx="502920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1">
                <a:solidFill>
                  <a:srgbClr val="19A89D"/>
                </a:solidFill>
                <a:latin typeface="Noto Sans CJK KR"/>
              </a:rPr>
              <a:t>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847088"/>
            <a:ext cx="5074920" cy="3474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9264" y="2103120"/>
            <a:ext cx="2286000" cy="3200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9A89D"/>
                </a:solidFill>
                <a:latin typeface="Noto Sans CJK KR"/>
              </a:rPr>
              <a:t>필수 시각화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697480"/>
            <a:ext cx="4297680" cy="1920240"/>
          </a:xfrm>
          <a:prstGeom prst="rect">
            <a:avLst/>
          </a:prstGeom>
          <a:noFill/>
        </p:spPr>
        <p:txBody>
          <a:bodyPr wrap="square" lIns="54864" rIns="36576" tIns="18288" bIns="18288">
            <a:spAutoFit/>
          </a:bodyPr>
          <a:lstStyle/>
          <a:p>
            <a:pPr>
              <a:spcAft>
                <a:spcPts val="600"/>
              </a:spcAft>
              <a:defRPr sz="1150">
                <a:solidFill>
                  <a:srgbClr val="16222D"/>
                </a:solidFill>
                <a:latin typeface="Noto Sans CJK KR"/>
              </a:defRPr>
            </a:pPr>
            <a:r>
              <a:t>• CLI 명령 흐름</a:t>
            </a:r>
          </a:p>
          <a:p>
            <a:pPr>
              <a:spcAft>
                <a:spcPts val="600"/>
              </a:spcAft>
              <a:defRPr sz="1150">
                <a:solidFill>
                  <a:srgbClr val="16222D"/>
                </a:solidFill>
                <a:latin typeface="Noto Sans CJK KR"/>
              </a:defRPr>
            </a:pPr>
            <a:r>
              <a:t>• Model–Repository–Service–CLI</a:t>
            </a:r>
          </a:p>
          <a:p>
            <a:pPr>
              <a:spcAft>
                <a:spcPts val="600"/>
              </a:spcAft>
              <a:defRPr sz="1150">
                <a:solidFill>
                  <a:srgbClr val="16222D"/>
                </a:solidFill>
                <a:latin typeface="Noto Sans CJK KR"/>
              </a:defRPr>
            </a:pPr>
            <a:r>
              <a:t>• Generator / Decorator / Type Hint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53328" y="1847088"/>
            <a:ext cx="5074920" cy="347472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60" y="2103120"/>
            <a:ext cx="2377440" cy="3200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9A89D"/>
                </a:solidFill>
                <a:latin typeface="Noto Sans CJK KR"/>
              </a:rPr>
              <a:t>핵심 평가 질문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2697480"/>
            <a:ext cx="4297680" cy="1920240"/>
          </a:xfrm>
          <a:prstGeom prst="rect">
            <a:avLst/>
          </a:prstGeom>
          <a:noFill/>
        </p:spPr>
        <p:txBody>
          <a:bodyPr wrap="square" lIns="54864" rIns="36576" tIns="18288" bIns="18288">
            <a:spAutoFit/>
          </a:bodyPr>
          <a:lstStyle/>
          <a:p>
            <a:pPr>
              <a:spcAft>
                <a:spcPts val="600"/>
              </a:spcAft>
              <a:defRPr sz="1150">
                <a:solidFill>
                  <a:srgbClr val="16222D"/>
                </a:solidFill>
                <a:latin typeface="Noto Sans CJK KR"/>
              </a:defRPr>
            </a:pPr>
            <a:r>
              <a:t>• 왜 스트리밍이 필요한가?</a:t>
            </a:r>
          </a:p>
          <a:p>
            <a:pPr>
              <a:spcAft>
                <a:spcPts val="600"/>
              </a:spcAft>
              <a:defRPr sz="1150">
                <a:solidFill>
                  <a:srgbClr val="16222D"/>
                </a:solidFill>
                <a:latin typeface="Noto Sans CJK KR"/>
              </a:defRPr>
            </a:pPr>
            <a:r>
              <a:t>• 공통 관심사를 왜 분리했나?</a:t>
            </a:r>
          </a:p>
          <a:p>
            <a:pPr>
              <a:spcAft>
                <a:spcPts val="600"/>
              </a:spcAft>
              <a:defRPr sz="1150">
                <a:solidFill>
                  <a:srgbClr val="16222D"/>
                </a:solidFill>
                <a:latin typeface="Noto Sans CJK KR"/>
              </a:defRPr>
            </a:pPr>
            <a:r>
              <a:t>• 타입 계약이 어떤 오류를 줄이는가?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6112" y="4773168"/>
            <a:ext cx="1929384" cy="310896"/>
          </a:xfrm>
          <a:prstGeom prst="roundRect">
            <a:avLst/>
          </a:prstGeom>
          <a:solidFill>
            <a:srgbClr val="E9EEF5"/>
          </a:solidFill>
          <a:ln w="12700">
            <a:solidFill>
              <a:srgbClr val="E9EE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0976" y="4823460"/>
            <a:ext cx="1819656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9A89D"/>
                </a:solidFill>
                <a:latin typeface="Noto Sans CJK KR"/>
              </a:rPr>
              <a:t>CLI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898648" y="4773168"/>
            <a:ext cx="1929384" cy="310896"/>
          </a:xfrm>
          <a:prstGeom prst="roundRect">
            <a:avLst/>
          </a:prstGeom>
          <a:solidFill>
            <a:srgbClr val="E9EEF5"/>
          </a:solidFill>
          <a:ln w="12700">
            <a:solidFill>
              <a:srgbClr val="E9EE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53512" y="4823460"/>
            <a:ext cx="1819656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9A89D"/>
                </a:solidFill>
                <a:latin typeface="Noto Sans CJK KR"/>
              </a:rPr>
              <a:t>VALIDATE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01184" y="4773168"/>
            <a:ext cx="1929384" cy="310896"/>
          </a:xfrm>
          <a:prstGeom prst="roundRect">
            <a:avLst/>
          </a:prstGeom>
          <a:solidFill>
            <a:srgbClr val="E9EEF5"/>
          </a:solidFill>
          <a:ln w="12700">
            <a:solidFill>
              <a:srgbClr val="E9EE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56048" y="4823460"/>
            <a:ext cx="1819656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9A89D"/>
                </a:solidFill>
                <a:latin typeface="Noto Sans CJK KR"/>
              </a:rPr>
              <a:t>SERVICE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903720" y="4773168"/>
            <a:ext cx="1929384" cy="310896"/>
          </a:xfrm>
          <a:prstGeom prst="roundRect">
            <a:avLst/>
          </a:prstGeom>
          <a:solidFill>
            <a:srgbClr val="E9EEF5"/>
          </a:solidFill>
          <a:ln w="12700">
            <a:solidFill>
              <a:srgbClr val="E9EE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58584" y="4823460"/>
            <a:ext cx="1819656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9A89D"/>
                </a:solidFill>
                <a:latin typeface="Noto Sans CJK KR"/>
              </a:rPr>
              <a:t>STORE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06256" y="4773168"/>
            <a:ext cx="1929384" cy="310896"/>
          </a:xfrm>
          <a:prstGeom prst="roundRect">
            <a:avLst/>
          </a:prstGeom>
          <a:solidFill>
            <a:srgbClr val="E9EEF5"/>
          </a:solidFill>
          <a:ln w="12700">
            <a:solidFill>
              <a:srgbClr val="E9EE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61120" y="4823460"/>
            <a:ext cx="1819656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9A89D"/>
                </a:solidFill>
                <a:latin typeface="Noto Sans CJK KR"/>
              </a:rPr>
              <a:t>REPORT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109728"/>
          </a:xfrm>
          <a:prstGeom prst="rect">
            <a:avLst/>
          </a:prstGeom>
          <a:solidFill>
            <a:srgbClr val="2F80ED"/>
          </a:solidFill>
          <a:ln w="12700">
            <a:solidFill>
              <a:srgbClr val="2F8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228600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2F80ED"/>
                </a:solidFill>
                <a:latin typeface="Noto Sans CJK KR"/>
              </a:rPr>
              <a:t>DOMAIN-SPECIFIC LAYOUT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21792"/>
            <a:ext cx="1069848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6222D"/>
                </a:solidFill>
                <a:latin typeface="Noto Sans CJK KR"/>
              </a:rPr>
              <a:t>Git 협업 · Issue에서 Merge까지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56248"/>
            <a:ext cx="43891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>
                <a:solidFill>
                  <a:srgbClr val="657281"/>
                </a:solidFill>
                <a:latin typeface="Noto Sans CJK KR"/>
              </a:rPr>
              <a:t>CODYSSEY BASIC · MISSION EVALUATION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82528" y="6492240"/>
            <a:ext cx="502920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1">
                <a:solidFill>
                  <a:srgbClr val="2F80ED"/>
                </a:solidFill>
                <a:latin typeface="Noto Sans CJK KR"/>
              </a:rPr>
              <a:t>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847088"/>
            <a:ext cx="5074920" cy="3474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9264" y="2103120"/>
            <a:ext cx="2286000" cy="3200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F80ED"/>
                </a:solidFill>
                <a:latin typeface="Noto Sans CJK KR"/>
              </a:rPr>
              <a:t>필수 시각화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697480"/>
            <a:ext cx="4297680" cy="1920240"/>
          </a:xfrm>
          <a:prstGeom prst="rect">
            <a:avLst/>
          </a:prstGeom>
          <a:noFill/>
        </p:spPr>
        <p:txBody>
          <a:bodyPr wrap="square" lIns="54864" rIns="36576" tIns="18288" bIns="18288">
            <a:spAutoFit/>
          </a:bodyPr>
          <a:lstStyle/>
          <a:p>
            <a:pPr>
              <a:spcAft>
                <a:spcPts val="600"/>
              </a:spcAft>
              <a:defRPr sz="1150">
                <a:solidFill>
                  <a:srgbClr val="16222D"/>
                </a:solidFill>
                <a:latin typeface="Noto Sans CJK KR"/>
              </a:defRPr>
            </a:pPr>
            <a:r>
              <a:t>• Issue→Branch→PR→Review→Merge</a:t>
            </a:r>
          </a:p>
          <a:p>
            <a:pPr>
              <a:spcAft>
                <a:spcPts val="600"/>
              </a:spcAft>
              <a:defRPr sz="1150">
                <a:solidFill>
                  <a:srgbClr val="16222D"/>
                </a:solidFill>
                <a:latin typeface="Noto Sans CJK KR"/>
              </a:defRPr>
            </a:pPr>
            <a:r>
              <a:t>• 충돌 마커 / 해결 과정</a:t>
            </a:r>
          </a:p>
          <a:p>
            <a:pPr>
              <a:spcAft>
                <a:spcPts val="600"/>
              </a:spcAft>
              <a:defRPr sz="1150">
                <a:solidFill>
                  <a:srgbClr val="16222D"/>
                </a:solidFill>
                <a:latin typeface="Noto Sans CJK KR"/>
              </a:defRPr>
            </a:pPr>
            <a:r>
              <a:t>• 팀원별 PR·Review 증빙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53328" y="1847088"/>
            <a:ext cx="5074920" cy="347472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60" y="2103120"/>
            <a:ext cx="2377440" cy="3200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F80ED"/>
                </a:solidFill>
                <a:latin typeface="Noto Sans CJK KR"/>
              </a:rPr>
              <a:t>핵심 평가 질문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2697480"/>
            <a:ext cx="4297680" cy="1920240"/>
          </a:xfrm>
          <a:prstGeom prst="rect">
            <a:avLst/>
          </a:prstGeom>
          <a:noFill/>
        </p:spPr>
        <p:txBody>
          <a:bodyPr wrap="square" lIns="54864" rIns="36576" tIns="18288" bIns="18288">
            <a:spAutoFit/>
          </a:bodyPr>
          <a:lstStyle/>
          <a:p>
            <a:pPr>
              <a:spcAft>
                <a:spcPts val="600"/>
              </a:spcAft>
              <a:defRPr sz="1150">
                <a:solidFill>
                  <a:srgbClr val="16222D"/>
                </a:solidFill>
                <a:latin typeface="Noto Sans CJK KR"/>
              </a:defRPr>
            </a:pPr>
            <a:r>
              <a:t>• 왜 GitHub Flow인가?</a:t>
            </a:r>
          </a:p>
          <a:p>
            <a:pPr>
              <a:spcAft>
                <a:spcPts val="600"/>
              </a:spcAft>
              <a:defRPr sz="1150">
                <a:solidFill>
                  <a:srgbClr val="16222D"/>
                </a:solidFill>
                <a:latin typeface="Noto Sans CJK KR"/>
              </a:defRPr>
            </a:pPr>
            <a:r>
              <a:t>• 충돌은 왜 발생했나?</a:t>
            </a:r>
          </a:p>
          <a:p>
            <a:pPr>
              <a:spcAft>
                <a:spcPts val="600"/>
              </a:spcAft>
              <a:defRPr sz="1150">
                <a:solidFill>
                  <a:srgbClr val="16222D"/>
                </a:solidFill>
                <a:latin typeface="Noto Sans CJK KR"/>
              </a:defRPr>
            </a:pPr>
            <a:r>
              <a:t>• 리뷰 반영 흔적은 어디에 있나?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6112" y="4773168"/>
            <a:ext cx="1929384" cy="310896"/>
          </a:xfrm>
          <a:prstGeom prst="roundRect">
            <a:avLst/>
          </a:prstGeom>
          <a:solidFill>
            <a:srgbClr val="E9EEF5"/>
          </a:solidFill>
          <a:ln w="12700">
            <a:solidFill>
              <a:srgbClr val="E9EE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0976" y="4823460"/>
            <a:ext cx="1819656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2F80ED"/>
                </a:solidFill>
                <a:latin typeface="Noto Sans CJK KR"/>
              </a:rPr>
              <a:t>ISSUE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898648" y="4773168"/>
            <a:ext cx="1929384" cy="310896"/>
          </a:xfrm>
          <a:prstGeom prst="roundRect">
            <a:avLst/>
          </a:prstGeom>
          <a:solidFill>
            <a:srgbClr val="E9EEF5"/>
          </a:solidFill>
          <a:ln w="12700">
            <a:solidFill>
              <a:srgbClr val="E9EE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53512" y="4823460"/>
            <a:ext cx="1819656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2F80ED"/>
                </a:solidFill>
                <a:latin typeface="Noto Sans CJK KR"/>
              </a:rPr>
              <a:t>BRANCH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01184" y="4773168"/>
            <a:ext cx="1929384" cy="310896"/>
          </a:xfrm>
          <a:prstGeom prst="roundRect">
            <a:avLst/>
          </a:prstGeom>
          <a:solidFill>
            <a:srgbClr val="E9EEF5"/>
          </a:solidFill>
          <a:ln w="12700">
            <a:solidFill>
              <a:srgbClr val="E9EE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56048" y="4823460"/>
            <a:ext cx="1819656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2F80ED"/>
                </a:solidFill>
                <a:latin typeface="Noto Sans CJK KR"/>
              </a:rPr>
              <a:t>PR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903720" y="4773168"/>
            <a:ext cx="1929384" cy="310896"/>
          </a:xfrm>
          <a:prstGeom prst="roundRect">
            <a:avLst/>
          </a:prstGeom>
          <a:solidFill>
            <a:srgbClr val="E9EEF5"/>
          </a:solidFill>
          <a:ln w="12700">
            <a:solidFill>
              <a:srgbClr val="E9EE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58584" y="4823460"/>
            <a:ext cx="1819656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2F80ED"/>
                </a:solidFill>
                <a:latin typeface="Noto Sans CJK KR"/>
              </a:rPr>
              <a:t>REVIEW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06256" y="4773168"/>
            <a:ext cx="1929384" cy="310896"/>
          </a:xfrm>
          <a:prstGeom prst="roundRect">
            <a:avLst/>
          </a:prstGeom>
          <a:solidFill>
            <a:srgbClr val="E9EEF5"/>
          </a:solidFill>
          <a:ln w="12700">
            <a:solidFill>
              <a:srgbClr val="E9EE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61120" y="4823460"/>
            <a:ext cx="1819656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2F80ED"/>
                </a:solidFill>
                <a:latin typeface="Noto Sans CJK KR"/>
              </a:rPr>
              <a:t>MERGE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109728"/>
          </a:xfrm>
          <a:prstGeom prst="rect">
            <a:avLst/>
          </a:prstGeom>
          <a:solidFill>
            <a:srgbClr val="F3A61D"/>
          </a:solidFill>
          <a:ln w="12700">
            <a:solidFill>
              <a:srgbClr val="F3A6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228600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F3A61D"/>
                </a:solidFill>
                <a:latin typeface="Noto Sans CJK KR"/>
              </a:rPr>
              <a:t>DOMAIN-SPECIFIC LAYOUT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21792"/>
            <a:ext cx="1069848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6222D"/>
                </a:solidFill>
                <a:latin typeface="Noto Sans CJK KR"/>
              </a:rPr>
              <a:t>자료구조·알고리즘 · 내부 동작을 시각화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56248"/>
            <a:ext cx="43891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>
                <a:solidFill>
                  <a:srgbClr val="657281"/>
                </a:solidFill>
                <a:latin typeface="Noto Sans CJK KR"/>
              </a:rPr>
              <a:t>CODYSSEY BASIC · MISSION EVALUATION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82528" y="6492240"/>
            <a:ext cx="502920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1">
                <a:solidFill>
                  <a:srgbClr val="F3A61D"/>
                </a:solidFill>
                <a:latin typeface="Noto Sans CJK KR"/>
              </a:rPr>
              <a:t>27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847088"/>
            <a:ext cx="5074920" cy="3474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9264" y="2103120"/>
            <a:ext cx="2286000" cy="3200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3A61D"/>
                </a:solidFill>
                <a:latin typeface="Noto Sans CJK KR"/>
              </a:rPr>
              <a:t>필수 시각화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697480"/>
            <a:ext cx="4297680" cy="1920240"/>
          </a:xfrm>
          <a:prstGeom prst="rect">
            <a:avLst/>
          </a:prstGeom>
          <a:noFill/>
        </p:spPr>
        <p:txBody>
          <a:bodyPr wrap="square" lIns="54864" rIns="36576" tIns="18288" bIns="18288">
            <a:spAutoFit/>
          </a:bodyPr>
          <a:lstStyle/>
          <a:p>
            <a:pPr>
              <a:spcAft>
                <a:spcPts val="600"/>
              </a:spcAft>
              <a:defRPr sz="1150">
                <a:solidFill>
                  <a:srgbClr val="16222D"/>
                </a:solidFill>
                <a:latin typeface="Noto Sans CJK KR"/>
              </a:defRPr>
            </a:pPr>
            <a:r>
              <a:t>• 노드·포인터·버킷 구조</a:t>
            </a:r>
          </a:p>
          <a:p>
            <a:pPr>
              <a:spcAft>
                <a:spcPts val="600"/>
              </a:spcAft>
              <a:defRPr sz="1150">
                <a:solidFill>
                  <a:srgbClr val="16222D"/>
                </a:solidFill>
                <a:latin typeface="Noto Sans CJK KR"/>
              </a:defRPr>
            </a:pPr>
            <a:r>
              <a:t>• 연산 전/후 상태</a:t>
            </a:r>
          </a:p>
          <a:p>
            <a:pPr>
              <a:spcAft>
                <a:spcPts val="600"/>
              </a:spcAft>
              <a:defRPr sz="1150">
                <a:solidFill>
                  <a:srgbClr val="16222D"/>
                </a:solidFill>
                <a:latin typeface="Noto Sans CJK KR"/>
              </a:defRPr>
            </a:pPr>
            <a:r>
              <a:t>• 시간복잡도와 불변조건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53328" y="1847088"/>
            <a:ext cx="5074920" cy="347472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60" y="2103120"/>
            <a:ext cx="2377440" cy="3200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3A61D"/>
                </a:solidFill>
                <a:latin typeface="Noto Sans CJK KR"/>
              </a:rPr>
              <a:t>핵심 평가 질문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2697480"/>
            <a:ext cx="4297680" cy="1920240"/>
          </a:xfrm>
          <a:prstGeom prst="rect">
            <a:avLst/>
          </a:prstGeom>
          <a:noFill/>
        </p:spPr>
        <p:txBody>
          <a:bodyPr wrap="square" lIns="54864" rIns="36576" tIns="18288" bIns="18288">
            <a:spAutoFit/>
          </a:bodyPr>
          <a:lstStyle/>
          <a:p>
            <a:pPr>
              <a:spcAft>
                <a:spcPts val="600"/>
              </a:spcAft>
              <a:defRPr sz="1150">
                <a:solidFill>
                  <a:srgbClr val="16222D"/>
                </a:solidFill>
                <a:latin typeface="Noto Sans CJK KR"/>
              </a:defRPr>
            </a:pPr>
            <a:r>
              <a:t>• 왜 O(1)인가?</a:t>
            </a:r>
          </a:p>
          <a:p>
            <a:pPr>
              <a:spcAft>
                <a:spcPts val="600"/>
              </a:spcAft>
              <a:defRPr sz="1150">
                <a:solidFill>
                  <a:srgbClr val="16222D"/>
                </a:solidFill>
                <a:latin typeface="Noto Sans CJK KR"/>
              </a:defRPr>
            </a:pPr>
            <a:r>
              <a:t>• 어떤 자료구조가 병목을 해결하나?</a:t>
            </a:r>
          </a:p>
          <a:p>
            <a:pPr>
              <a:spcAft>
                <a:spcPts val="600"/>
              </a:spcAft>
              <a:defRPr sz="1150">
                <a:solidFill>
                  <a:srgbClr val="16222D"/>
                </a:solidFill>
                <a:latin typeface="Noto Sans CJK KR"/>
              </a:defRPr>
            </a:pPr>
            <a:r>
              <a:t>• 최악/평균 복잡도는?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6112" y="4773168"/>
            <a:ext cx="2430018" cy="310896"/>
          </a:xfrm>
          <a:prstGeom prst="roundRect">
            <a:avLst/>
          </a:prstGeom>
          <a:solidFill>
            <a:srgbClr val="E9EEF5"/>
          </a:solidFill>
          <a:ln w="12700">
            <a:solidFill>
              <a:srgbClr val="E9EE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0976" y="4823460"/>
            <a:ext cx="2320290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3A61D"/>
                </a:solidFill>
                <a:latin typeface="Noto Sans CJK KR"/>
              </a:rPr>
              <a:t>INPUT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99282" y="4773168"/>
            <a:ext cx="2430018" cy="310896"/>
          </a:xfrm>
          <a:prstGeom prst="roundRect">
            <a:avLst/>
          </a:prstGeom>
          <a:solidFill>
            <a:srgbClr val="E9EEF5"/>
          </a:solidFill>
          <a:ln w="12700">
            <a:solidFill>
              <a:srgbClr val="E9EE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54146" y="4823460"/>
            <a:ext cx="2320290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3A61D"/>
                </a:solidFill>
                <a:latin typeface="Noto Sans CJK KR"/>
              </a:rPr>
              <a:t>STRUCTURE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02452" y="4773168"/>
            <a:ext cx="2430018" cy="310896"/>
          </a:xfrm>
          <a:prstGeom prst="roundRect">
            <a:avLst/>
          </a:prstGeom>
          <a:solidFill>
            <a:srgbClr val="E9EEF5"/>
          </a:solidFill>
          <a:ln w="12700">
            <a:solidFill>
              <a:srgbClr val="E9EE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57316" y="4823460"/>
            <a:ext cx="2320290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3A61D"/>
                </a:solidFill>
                <a:latin typeface="Noto Sans CJK KR"/>
              </a:rPr>
              <a:t>OPERATION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05622" y="4773168"/>
            <a:ext cx="2430018" cy="310896"/>
          </a:xfrm>
          <a:prstGeom prst="roundRect">
            <a:avLst/>
          </a:prstGeom>
          <a:solidFill>
            <a:srgbClr val="E9EEF5"/>
          </a:solidFill>
          <a:ln w="12700">
            <a:solidFill>
              <a:srgbClr val="E9EE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60486" y="4823460"/>
            <a:ext cx="2320290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3A61D"/>
                </a:solidFill>
                <a:latin typeface="Noto Sans CJK KR"/>
              </a:rPr>
              <a:t>COMPLEXITY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109728"/>
          </a:xfrm>
          <a:prstGeom prst="rect">
            <a:avLst/>
          </a:prstGeom>
          <a:solidFill>
            <a:srgbClr val="19A89D"/>
          </a:solidFill>
          <a:ln w="12700">
            <a:solidFill>
              <a:srgbClr val="19A8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228600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9A89D"/>
                </a:solidFill>
                <a:latin typeface="Noto Sans CJK KR"/>
              </a:rPr>
              <a:t>DOMAIN-SPECIFIC LAYOUT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21792"/>
            <a:ext cx="1069848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6222D"/>
                </a:solidFill>
                <a:latin typeface="Noto Sans CJK KR"/>
              </a:rPr>
              <a:t>Web/Frontend · Event → State → Render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56248"/>
            <a:ext cx="43891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>
                <a:solidFill>
                  <a:srgbClr val="657281"/>
                </a:solidFill>
                <a:latin typeface="Noto Sans CJK KR"/>
              </a:rPr>
              <a:t>CODYSSEY BASIC · MISSION EVALUATION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82528" y="6492240"/>
            <a:ext cx="502920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1">
                <a:solidFill>
                  <a:srgbClr val="19A89D"/>
                </a:solidFill>
                <a:latin typeface="Noto Sans CJK KR"/>
              </a:rPr>
              <a:t>28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847088"/>
            <a:ext cx="5074920" cy="3474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9264" y="2103120"/>
            <a:ext cx="2286000" cy="3200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9A89D"/>
                </a:solidFill>
                <a:latin typeface="Noto Sans CJK KR"/>
              </a:rPr>
              <a:t>필수 시각화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697480"/>
            <a:ext cx="4297680" cy="1920240"/>
          </a:xfrm>
          <a:prstGeom prst="rect">
            <a:avLst/>
          </a:prstGeom>
          <a:noFill/>
        </p:spPr>
        <p:txBody>
          <a:bodyPr wrap="square" lIns="54864" rIns="36576" tIns="18288" bIns="18288">
            <a:spAutoFit/>
          </a:bodyPr>
          <a:lstStyle/>
          <a:p>
            <a:pPr>
              <a:spcAft>
                <a:spcPts val="600"/>
              </a:spcAft>
              <a:defRPr sz="1150">
                <a:solidFill>
                  <a:srgbClr val="16222D"/>
                </a:solidFill>
                <a:latin typeface="Noto Sans CJK KR"/>
              </a:defRPr>
            </a:pPr>
            <a:r>
              <a:t>• 반응형 화면 비교</a:t>
            </a:r>
          </a:p>
          <a:p>
            <a:pPr>
              <a:spcAft>
                <a:spcPts val="600"/>
              </a:spcAft>
              <a:defRPr sz="1150">
                <a:solidFill>
                  <a:srgbClr val="16222D"/>
                </a:solidFill>
                <a:latin typeface="Noto Sans CJK KR"/>
              </a:defRPr>
            </a:pPr>
            <a:r>
              <a:t>• Component tree / DOM</a:t>
            </a:r>
          </a:p>
          <a:p>
            <a:pPr>
              <a:spcAft>
                <a:spcPts val="600"/>
              </a:spcAft>
              <a:defRPr sz="1150">
                <a:solidFill>
                  <a:srgbClr val="16222D"/>
                </a:solidFill>
                <a:latin typeface="Noto Sans CJK KR"/>
              </a:defRPr>
            </a:pPr>
            <a:r>
              <a:t>• Loading·Error·Empty 상태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53328" y="1847088"/>
            <a:ext cx="5074920" cy="347472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60" y="2103120"/>
            <a:ext cx="2377440" cy="3200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9A89D"/>
                </a:solidFill>
                <a:latin typeface="Noto Sans CJK KR"/>
              </a:rPr>
              <a:t>핵심 평가 질문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2697480"/>
            <a:ext cx="4297680" cy="1920240"/>
          </a:xfrm>
          <a:prstGeom prst="rect">
            <a:avLst/>
          </a:prstGeom>
          <a:noFill/>
        </p:spPr>
        <p:txBody>
          <a:bodyPr wrap="square" lIns="54864" rIns="36576" tIns="18288" bIns="18288">
            <a:spAutoFit/>
          </a:bodyPr>
          <a:lstStyle/>
          <a:p>
            <a:pPr>
              <a:spcAft>
                <a:spcPts val="600"/>
              </a:spcAft>
              <a:defRPr sz="1150">
                <a:solidFill>
                  <a:srgbClr val="16222D"/>
                </a:solidFill>
                <a:latin typeface="Noto Sans CJK KR"/>
              </a:defRPr>
            </a:pPr>
            <a:r>
              <a:t>• 상태는 어디에 두었나?</a:t>
            </a:r>
          </a:p>
          <a:p>
            <a:pPr>
              <a:spcAft>
                <a:spcPts val="600"/>
              </a:spcAft>
              <a:defRPr sz="1150">
                <a:solidFill>
                  <a:srgbClr val="16222D"/>
                </a:solidFill>
                <a:latin typeface="Noto Sans CJK KR"/>
              </a:defRPr>
            </a:pPr>
            <a:r>
              <a:t>• 리렌더링은 언제 일어나나?</a:t>
            </a:r>
          </a:p>
          <a:p>
            <a:pPr>
              <a:spcAft>
                <a:spcPts val="600"/>
              </a:spcAft>
              <a:defRPr sz="1150">
                <a:solidFill>
                  <a:srgbClr val="16222D"/>
                </a:solidFill>
                <a:latin typeface="Noto Sans CJK KR"/>
              </a:defRPr>
            </a:pPr>
            <a:r>
              <a:t>• 실패 UI는 일관적인가?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6112" y="4773168"/>
            <a:ext cx="2430018" cy="310896"/>
          </a:xfrm>
          <a:prstGeom prst="roundRect">
            <a:avLst/>
          </a:prstGeom>
          <a:solidFill>
            <a:srgbClr val="E9EEF5"/>
          </a:solidFill>
          <a:ln w="12700">
            <a:solidFill>
              <a:srgbClr val="E9EE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0976" y="4823460"/>
            <a:ext cx="2320290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9A89D"/>
                </a:solidFill>
                <a:latin typeface="Noto Sans CJK KR"/>
              </a:rPr>
              <a:t>EVENT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99282" y="4773168"/>
            <a:ext cx="2430018" cy="310896"/>
          </a:xfrm>
          <a:prstGeom prst="roundRect">
            <a:avLst/>
          </a:prstGeom>
          <a:solidFill>
            <a:srgbClr val="E9EEF5"/>
          </a:solidFill>
          <a:ln w="12700">
            <a:solidFill>
              <a:srgbClr val="E9EE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54146" y="4823460"/>
            <a:ext cx="2320290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9A89D"/>
                </a:solidFill>
                <a:latin typeface="Noto Sans CJK KR"/>
              </a:rPr>
              <a:t>STATE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02452" y="4773168"/>
            <a:ext cx="2430018" cy="310896"/>
          </a:xfrm>
          <a:prstGeom prst="roundRect">
            <a:avLst/>
          </a:prstGeom>
          <a:solidFill>
            <a:srgbClr val="E9EEF5"/>
          </a:solidFill>
          <a:ln w="12700">
            <a:solidFill>
              <a:srgbClr val="E9EE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57316" y="4823460"/>
            <a:ext cx="2320290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9A89D"/>
                </a:solidFill>
                <a:latin typeface="Noto Sans CJK KR"/>
              </a:rPr>
              <a:t>FETCH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05622" y="4773168"/>
            <a:ext cx="2430018" cy="310896"/>
          </a:xfrm>
          <a:prstGeom prst="roundRect">
            <a:avLst/>
          </a:prstGeom>
          <a:solidFill>
            <a:srgbClr val="E9EEF5"/>
          </a:solidFill>
          <a:ln w="12700">
            <a:solidFill>
              <a:srgbClr val="E9EE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60486" y="4823460"/>
            <a:ext cx="2320290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9A89D"/>
                </a:solidFill>
                <a:latin typeface="Noto Sans CJK KR"/>
              </a:rPr>
              <a:t>RENDER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109728"/>
          </a:xfrm>
          <a:prstGeom prst="rect">
            <a:avLst/>
          </a:prstGeom>
          <a:solidFill>
            <a:srgbClr val="2F80ED"/>
          </a:solidFill>
          <a:ln w="12700">
            <a:solidFill>
              <a:srgbClr val="2F8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228600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2F80ED"/>
                </a:solidFill>
                <a:latin typeface="Noto Sans CJK KR"/>
              </a:rPr>
              <a:t>DOMAIN-SPECIFIC LAYOUT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21792"/>
            <a:ext cx="1069848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6222D"/>
                </a:solidFill>
                <a:latin typeface="Noto Sans CJK KR"/>
              </a:rPr>
              <a:t>DB/Backend · 관계와 요청 흐름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56248"/>
            <a:ext cx="43891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>
                <a:solidFill>
                  <a:srgbClr val="657281"/>
                </a:solidFill>
                <a:latin typeface="Noto Sans CJK KR"/>
              </a:rPr>
              <a:t>CODYSSEY BASIC · MISSION EVALUATION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82528" y="6492240"/>
            <a:ext cx="502920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1">
                <a:solidFill>
                  <a:srgbClr val="2F80ED"/>
                </a:solidFill>
                <a:latin typeface="Noto Sans CJK KR"/>
              </a:rPr>
              <a:t>29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847088"/>
            <a:ext cx="5074920" cy="3474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9264" y="2103120"/>
            <a:ext cx="2286000" cy="3200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F80ED"/>
                </a:solidFill>
                <a:latin typeface="Noto Sans CJK KR"/>
              </a:rPr>
              <a:t>필수 시각화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697480"/>
            <a:ext cx="4297680" cy="1920240"/>
          </a:xfrm>
          <a:prstGeom prst="rect">
            <a:avLst/>
          </a:prstGeom>
          <a:noFill/>
        </p:spPr>
        <p:txBody>
          <a:bodyPr wrap="square" lIns="54864" rIns="36576" tIns="18288" bIns="18288">
            <a:spAutoFit/>
          </a:bodyPr>
          <a:lstStyle/>
          <a:p>
            <a:pPr>
              <a:spcAft>
                <a:spcPts val="600"/>
              </a:spcAft>
              <a:defRPr sz="1150">
                <a:solidFill>
                  <a:srgbClr val="16222D"/>
                </a:solidFill>
                <a:latin typeface="Noto Sans CJK KR"/>
              </a:defRPr>
            </a:pPr>
            <a:r>
              <a:t>• ERD / PK·FK</a:t>
            </a:r>
          </a:p>
          <a:p>
            <a:pPr>
              <a:spcAft>
                <a:spcPts val="600"/>
              </a:spcAft>
              <a:defRPr sz="1150">
                <a:solidFill>
                  <a:srgbClr val="16222D"/>
                </a:solidFill>
                <a:latin typeface="Noto Sans CJK KR"/>
              </a:defRPr>
            </a:pPr>
            <a:r>
              <a:t>• Request→Router→Service→Repository→DB</a:t>
            </a:r>
          </a:p>
          <a:p>
            <a:pPr>
              <a:spcAft>
                <a:spcPts val="600"/>
              </a:spcAft>
              <a:defRPr sz="1150">
                <a:solidFill>
                  <a:srgbClr val="16222D"/>
                </a:solidFill>
                <a:latin typeface="Noto Sans CJK KR"/>
              </a:defRPr>
            </a:pPr>
            <a:r>
              <a:t>• 인증·인가 / 상태 변경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53328" y="1847088"/>
            <a:ext cx="5074920" cy="347472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60" y="2103120"/>
            <a:ext cx="2377440" cy="3200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F80ED"/>
                </a:solidFill>
                <a:latin typeface="Noto Sans CJK KR"/>
              </a:rPr>
              <a:t>핵심 평가 질문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2697480"/>
            <a:ext cx="4297680" cy="1920240"/>
          </a:xfrm>
          <a:prstGeom prst="rect">
            <a:avLst/>
          </a:prstGeom>
          <a:noFill/>
        </p:spPr>
        <p:txBody>
          <a:bodyPr wrap="square" lIns="54864" rIns="36576" tIns="18288" bIns="18288">
            <a:spAutoFit/>
          </a:bodyPr>
          <a:lstStyle/>
          <a:p>
            <a:pPr>
              <a:spcAft>
                <a:spcPts val="600"/>
              </a:spcAft>
              <a:defRPr sz="1150">
                <a:solidFill>
                  <a:srgbClr val="16222D"/>
                </a:solidFill>
                <a:latin typeface="Noto Sans CJK KR"/>
              </a:defRPr>
            </a:pPr>
            <a:r>
              <a:t>• 왜 이 관계인가?</a:t>
            </a:r>
          </a:p>
          <a:p>
            <a:pPr>
              <a:spcAft>
                <a:spcPts val="600"/>
              </a:spcAft>
              <a:defRPr sz="1150">
                <a:solidFill>
                  <a:srgbClr val="16222D"/>
                </a:solidFill>
                <a:latin typeface="Noto Sans CJK KR"/>
              </a:defRPr>
            </a:pPr>
            <a:r>
              <a:t>• 무결성은 어떻게 보장하나?</a:t>
            </a:r>
          </a:p>
          <a:p>
            <a:pPr>
              <a:spcAft>
                <a:spcPts val="600"/>
              </a:spcAft>
              <a:defRPr sz="1150">
                <a:solidFill>
                  <a:srgbClr val="16222D"/>
                </a:solidFill>
                <a:latin typeface="Noto Sans CJK KR"/>
              </a:defRPr>
            </a:pPr>
            <a:r>
              <a:t>• 비즈니스 로직은 어느 계층인가?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6112" y="4773168"/>
            <a:ext cx="1929384" cy="310896"/>
          </a:xfrm>
          <a:prstGeom prst="roundRect">
            <a:avLst/>
          </a:prstGeom>
          <a:solidFill>
            <a:srgbClr val="E9EEF5"/>
          </a:solidFill>
          <a:ln w="12700">
            <a:solidFill>
              <a:srgbClr val="E9EE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0976" y="4823460"/>
            <a:ext cx="1819656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2F80ED"/>
                </a:solidFill>
                <a:latin typeface="Noto Sans CJK KR"/>
              </a:rPr>
              <a:t>REQUEST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898648" y="4773168"/>
            <a:ext cx="1929384" cy="310896"/>
          </a:xfrm>
          <a:prstGeom prst="roundRect">
            <a:avLst/>
          </a:prstGeom>
          <a:solidFill>
            <a:srgbClr val="E9EEF5"/>
          </a:solidFill>
          <a:ln w="12700">
            <a:solidFill>
              <a:srgbClr val="E9EE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53512" y="4823460"/>
            <a:ext cx="1819656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2F80ED"/>
                </a:solidFill>
                <a:latin typeface="Noto Sans CJK KR"/>
              </a:rPr>
              <a:t>ROUTER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01184" y="4773168"/>
            <a:ext cx="1929384" cy="310896"/>
          </a:xfrm>
          <a:prstGeom prst="roundRect">
            <a:avLst/>
          </a:prstGeom>
          <a:solidFill>
            <a:srgbClr val="E9EEF5"/>
          </a:solidFill>
          <a:ln w="12700">
            <a:solidFill>
              <a:srgbClr val="E9EE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56048" y="4823460"/>
            <a:ext cx="1819656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2F80ED"/>
                </a:solidFill>
                <a:latin typeface="Noto Sans CJK KR"/>
              </a:rPr>
              <a:t>SERVICE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903720" y="4773168"/>
            <a:ext cx="1929384" cy="310896"/>
          </a:xfrm>
          <a:prstGeom prst="roundRect">
            <a:avLst/>
          </a:prstGeom>
          <a:solidFill>
            <a:srgbClr val="E9EEF5"/>
          </a:solidFill>
          <a:ln w="12700">
            <a:solidFill>
              <a:srgbClr val="E9EE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58584" y="4823460"/>
            <a:ext cx="1819656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2F80ED"/>
                </a:solidFill>
                <a:latin typeface="Noto Sans CJK KR"/>
              </a:rPr>
              <a:t>REPOSITORY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06256" y="4773168"/>
            <a:ext cx="1929384" cy="310896"/>
          </a:xfrm>
          <a:prstGeom prst="roundRect">
            <a:avLst/>
          </a:prstGeom>
          <a:solidFill>
            <a:srgbClr val="E9EEF5"/>
          </a:solidFill>
          <a:ln w="12700">
            <a:solidFill>
              <a:srgbClr val="E9EE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61120" y="4823460"/>
            <a:ext cx="1819656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2F80ED"/>
                </a:solidFill>
                <a:latin typeface="Noto Sans CJK KR"/>
              </a:rPr>
              <a:t>DB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109728"/>
          </a:xfrm>
          <a:prstGeom prst="rect">
            <a:avLst/>
          </a:prstGeom>
          <a:solidFill>
            <a:srgbClr val="F3A61D"/>
          </a:solidFill>
          <a:ln w="12700">
            <a:solidFill>
              <a:srgbClr val="F3A6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228600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F3A61D"/>
                </a:solidFill>
                <a:latin typeface="Noto Sans CJK KR"/>
              </a:rPr>
              <a:t>DOMAIN-SPECIFIC LAYOUT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21792"/>
            <a:ext cx="1069848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6222D"/>
                </a:solidFill>
                <a:latin typeface="Noto Sans CJK KR"/>
              </a:rPr>
              <a:t>Cloud · 네트워크 경계와 최소 권한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56248"/>
            <a:ext cx="43891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>
                <a:solidFill>
                  <a:srgbClr val="657281"/>
                </a:solidFill>
                <a:latin typeface="Noto Sans CJK KR"/>
              </a:rPr>
              <a:t>CODYSSEY BASIC · MISSION EVALUATION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82528" y="6492240"/>
            <a:ext cx="502920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1">
                <a:solidFill>
                  <a:srgbClr val="F3A61D"/>
                </a:solidFill>
                <a:latin typeface="Noto Sans CJK KR"/>
              </a:rPr>
              <a:t>30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847088"/>
            <a:ext cx="5074920" cy="3474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9264" y="2103120"/>
            <a:ext cx="2286000" cy="3200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3A61D"/>
                </a:solidFill>
                <a:latin typeface="Noto Sans CJK KR"/>
              </a:rPr>
              <a:t>필수 시각화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697480"/>
            <a:ext cx="4297680" cy="1920240"/>
          </a:xfrm>
          <a:prstGeom prst="rect">
            <a:avLst/>
          </a:prstGeom>
          <a:noFill/>
        </p:spPr>
        <p:txBody>
          <a:bodyPr wrap="square" lIns="54864" rIns="36576" tIns="18288" bIns="18288">
            <a:spAutoFit/>
          </a:bodyPr>
          <a:lstStyle/>
          <a:p>
            <a:pPr>
              <a:spcAft>
                <a:spcPts val="600"/>
              </a:spcAft>
              <a:defRPr sz="1150">
                <a:solidFill>
                  <a:srgbClr val="16222D"/>
                </a:solidFill>
                <a:latin typeface="Noto Sans CJK KR"/>
              </a:defRPr>
            </a:pPr>
            <a:r>
              <a:t>• VPC/Subnet/Route/IGW/EC2</a:t>
            </a:r>
          </a:p>
          <a:p>
            <a:pPr>
              <a:spcAft>
                <a:spcPts val="600"/>
              </a:spcAft>
              <a:defRPr sz="1150">
                <a:solidFill>
                  <a:srgbClr val="16222D"/>
                </a:solidFill>
                <a:latin typeface="Noto Sans CJK KR"/>
              </a:defRPr>
            </a:pPr>
            <a:r>
              <a:t>• 외부→서비스 트래픽 흐름</a:t>
            </a:r>
          </a:p>
          <a:p>
            <a:pPr>
              <a:spcAft>
                <a:spcPts val="600"/>
              </a:spcAft>
              <a:defRPr sz="1150">
                <a:solidFill>
                  <a:srgbClr val="16222D"/>
                </a:solidFill>
                <a:latin typeface="Noto Sans CJK KR"/>
              </a:defRPr>
            </a:pPr>
            <a:r>
              <a:t>• Security Group / IAM 경계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53328" y="1847088"/>
            <a:ext cx="5074920" cy="347472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60" y="2103120"/>
            <a:ext cx="2377440" cy="3200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3A61D"/>
                </a:solidFill>
                <a:latin typeface="Noto Sans CJK KR"/>
              </a:rPr>
              <a:t>핵심 평가 질문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2697480"/>
            <a:ext cx="4297680" cy="1920240"/>
          </a:xfrm>
          <a:prstGeom prst="rect">
            <a:avLst/>
          </a:prstGeom>
          <a:noFill/>
        </p:spPr>
        <p:txBody>
          <a:bodyPr wrap="square" lIns="54864" rIns="36576" tIns="18288" bIns="18288">
            <a:spAutoFit/>
          </a:bodyPr>
          <a:lstStyle/>
          <a:p>
            <a:pPr>
              <a:spcAft>
                <a:spcPts val="600"/>
              </a:spcAft>
              <a:defRPr sz="1150">
                <a:solidFill>
                  <a:srgbClr val="16222D"/>
                </a:solidFill>
                <a:latin typeface="Noto Sans CJK KR"/>
              </a:defRPr>
            </a:pPr>
            <a:r>
              <a:t>• 외부 요청이 어떻게 도달하나?</a:t>
            </a:r>
          </a:p>
          <a:p>
            <a:pPr>
              <a:spcAft>
                <a:spcPts val="600"/>
              </a:spcAft>
              <a:defRPr sz="1150">
                <a:solidFill>
                  <a:srgbClr val="16222D"/>
                </a:solidFill>
                <a:latin typeface="Noto Sans CJK KR"/>
              </a:defRPr>
            </a:pPr>
            <a:r>
              <a:t>• SG와 IAM 차이는?</a:t>
            </a:r>
          </a:p>
          <a:p>
            <a:pPr>
              <a:spcAft>
                <a:spcPts val="600"/>
              </a:spcAft>
              <a:defRPr sz="1150">
                <a:solidFill>
                  <a:srgbClr val="16222D"/>
                </a:solidFill>
                <a:latin typeface="Noto Sans CJK KR"/>
              </a:defRPr>
            </a:pPr>
            <a:r>
              <a:t>• 과금 리소스는 정리했나?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6112" y="4773168"/>
            <a:ext cx="1929384" cy="310896"/>
          </a:xfrm>
          <a:prstGeom prst="roundRect">
            <a:avLst/>
          </a:prstGeom>
          <a:solidFill>
            <a:srgbClr val="E9EEF5"/>
          </a:solidFill>
          <a:ln w="12700">
            <a:solidFill>
              <a:srgbClr val="E9EE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0976" y="4823460"/>
            <a:ext cx="1819656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3A61D"/>
                </a:solidFill>
                <a:latin typeface="Noto Sans CJK KR"/>
              </a:rPr>
              <a:t>INTERNET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898648" y="4773168"/>
            <a:ext cx="1929384" cy="310896"/>
          </a:xfrm>
          <a:prstGeom prst="roundRect">
            <a:avLst/>
          </a:prstGeom>
          <a:solidFill>
            <a:srgbClr val="E9EEF5"/>
          </a:solidFill>
          <a:ln w="12700">
            <a:solidFill>
              <a:srgbClr val="E9EE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53512" y="4823460"/>
            <a:ext cx="1819656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3A61D"/>
                </a:solidFill>
                <a:latin typeface="Noto Sans CJK KR"/>
              </a:rPr>
              <a:t>IGW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01184" y="4773168"/>
            <a:ext cx="1929384" cy="310896"/>
          </a:xfrm>
          <a:prstGeom prst="roundRect">
            <a:avLst/>
          </a:prstGeom>
          <a:solidFill>
            <a:srgbClr val="E9EEF5"/>
          </a:solidFill>
          <a:ln w="12700">
            <a:solidFill>
              <a:srgbClr val="E9EE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56048" y="4823460"/>
            <a:ext cx="1819656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3A61D"/>
                </a:solidFill>
                <a:latin typeface="Noto Sans CJK KR"/>
              </a:rPr>
              <a:t>SUBNET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903720" y="4773168"/>
            <a:ext cx="1929384" cy="310896"/>
          </a:xfrm>
          <a:prstGeom prst="roundRect">
            <a:avLst/>
          </a:prstGeom>
          <a:solidFill>
            <a:srgbClr val="E9EEF5"/>
          </a:solidFill>
          <a:ln w="12700">
            <a:solidFill>
              <a:srgbClr val="E9EE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58584" y="4823460"/>
            <a:ext cx="1819656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3A61D"/>
                </a:solidFill>
                <a:latin typeface="Noto Sans CJK KR"/>
              </a:rPr>
              <a:t>EC2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06256" y="4773168"/>
            <a:ext cx="1929384" cy="310896"/>
          </a:xfrm>
          <a:prstGeom prst="roundRect">
            <a:avLst/>
          </a:prstGeom>
          <a:solidFill>
            <a:srgbClr val="E9EEF5"/>
          </a:solidFill>
          <a:ln w="12700">
            <a:solidFill>
              <a:srgbClr val="E9EE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61120" y="4823460"/>
            <a:ext cx="1819656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3A61D"/>
                </a:solidFill>
                <a:latin typeface="Noto Sans CJK KR"/>
              </a:rPr>
              <a:t>APP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109728"/>
          </a:xfrm>
          <a:prstGeom prst="rect">
            <a:avLst/>
          </a:prstGeom>
          <a:solidFill>
            <a:srgbClr val="19A89D"/>
          </a:solidFill>
          <a:ln w="12700">
            <a:solidFill>
              <a:srgbClr val="19A8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228600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9A89D"/>
                </a:solidFill>
                <a:latin typeface="Noto Sans CJK KR"/>
              </a:rPr>
              <a:t>DOMAIN-SPECIFIC LAYOUT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21792"/>
            <a:ext cx="1069848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6222D"/>
                </a:solidFill>
                <a:latin typeface="Noto Sans CJK KR"/>
              </a:rPr>
              <a:t>AI API · Prompt → API → Validation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56248"/>
            <a:ext cx="43891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>
                <a:solidFill>
                  <a:srgbClr val="657281"/>
                </a:solidFill>
                <a:latin typeface="Noto Sans CJK KR"/>
              </a:rPr>
              <a:t>CODYSSEY BASIC · MISSION EVALUATION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82528" y="6492240"/>
            <a:ext cx="502920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1">
                <a:solidFill>
                  <a:srgbClr val="19A89D"/>
                </a:solidFill>
                <a:latin typeface="Noto Sans CJK KR"/>
              </a:rPr>
              <a:t>31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847088"/>
            <a:ext cx="5074920" cy="3474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9264" y="2103120"/>
            <a:ext cx="2286000" cy="3200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9A89D"/>
                </a:solidFill>
                <a:latin typeface="Noto Sans CJK KR"/>
              </a:rPr>
              <a:t>필수 시각화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697480"/>
            <a:ext cx="4297680" cy="1920240"/>
          </a:xfrm>
          <a:prstGeom prst="rect">
            <a:avLst/>
          </a:prstGeom>
          <a:noFill/>
        </p:spPr>
        <p:txBody>
          <a:bodyPr wrap="square" lIns="54864" rIns="36576" tIns="18288" bIns="18288">
            <a:spAutoFit/>
          </a:bodyPr>
          <a:lstStyle/>
          <a:p>
            <a:pPr>
              <a:spcAft>
                <a:spcPts val="600"/>
              </a:spcAft>
              <a:defRPr sz="1150">
                <a:solidFill>
                  <a:srgbClr val="16222D"/>
                </a:solidFill>
                <a:latin typeface="Noto Sans CJK KR"/>
              </a:defRPr>
            </a:pPr>
            <a:r>
              <a:t>• git diff 입력</a:t>
            </a:r>
          </a:p>
          <a:p>
            <a:pPr>
              <a:spcAft>
                <a:spcPts val="600"/>
              </a:spcAft>
              <a:defRPr sz="1150">
                <a:solidFill>
                  <a:srgbClr val="16222D"/>
                </a:solidFill>
                <a:latin typeface="Noto Sans CJK KR"/>
              </a:defRPr>
            </a:pPr>
            <a:r>
              <a:t>• Prompt 구조</a:t>
            </a:r>
          </a:p>
          <a:p>
            <a:pPr>
              <a:spcAft>
                <a:spcPts val="600"/>
              </a:spcAft>
              <a:defRPr sz="1150">
                <a:solidFill>
                  <a:srgbClr val="16222D"/>
                </a:solidFill>
                <a:latin typeface="Noto Sans CJK KR"/>
              </a:defRPr>
            </a:pPr>
            <a:r>
              <a:t>• API 파라미터 / 오류 처리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53328" y="1847088"/>
            <a:ext cx="5074920" cy="347472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60" y="2103120"/>
            <a:ext cx="2377440" cy="3200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9A89D"/>
                </a:solidFill>
                <a:latin typeface="Noto Sans CJK KR"/>
              </a:rPr>
              <a:t>핵심 평가 질문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2697480"/>
            <a:ext cx="4297680" cy="1920240"/>
          </a:xfrm>
          <a:prstGeom prst="rect">
            <a:avLst/>
          </a:prstGeom>
          <a:noFill/>
        </p:spPr>
        <p:txBody>
          <a:bodyPr wrap="square" lIns="54864" rIns="36576" tIns="18288" bIns="18288">
            <a:spAutoFit/>
          </a:bodyPr>
          <a:lstStyle/>
          <a:p>
            <a:pPr>
              <a:spcAft>
                <a:spcPts val="600"/>
              </a:spcAft>
              <a:defRPr sz="1150">
                <a:solidFill>
                  <a:srgbClr val="16222D"/>
                </a:solidFill>
                <a:latin typeface="Noto Sans CJK KR"/>
              </a:defRPr>
            </a:pPr>
            <a:r>
              <a:t>• 결과 품질을 어떻게 제어했나?</a:t>
            </a:r>
          </a:p>
          <a:p>
            <a:pPr>
              <a:spcAft>
                <a:spcPts val="600"/>
              </a:spcAft>
              <a:defRPr sz="1150">
                <a:solidFill>
                  <a:srgbClr val="16222D"/>
                </a:solidFill>
                <a:latin typeface="Noto Sans CJK KR"/>
              </a:defRPr>
            </a:pPr>
            <a:r>
              <a:t>• Key는 어떻게 보호했나?</a:t>
            </a:r>
          </a:p>
          <a:p>
            <a:pPr>
              <a:spcAft>
                <a:spcPts val="600"/>
              </a:spcAft>
              <a:defRPr sz="1150">
                <a:solidFill>
                  <a:srgbClr val="16222D"/>
                </a:solidFill>
                <a:latin typeface="Noto Sans CJK KR"/>
              </a:defRPr>
            </a:pPr>
            <a:r>
              <a:t>• 실패 시 어떻게 복구하나?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6112" y="4773168"/>
            <a:ext cx="1929384" cy="310896"/>
          </a:xfrm>
          <a:prstGeom prst="roundRect">
            <a:avLst/>
          </a:prstGeom>
          <a:solidFill>
            <a:srgbClr val="E9EEF5"/>
          </a:solidFill>
          <a:ln w="12700">
            <a:solidFill>
              <a:srgbClr val="E9EE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0976" y="4823460"/>
            <a:ext cx="1819656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9A89D"/>
                </a:solidFill>
                <a:latin typeface="Noto Sans CJK KR"/>
              </a:rPr>
              <a:t>DIFF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898648" y="4773168"/>
            <a:ext cx="1929384" cy="310896"/>
          </a:xfrm>
          <a:prstGeom prst="roundRect">
            <a:avLst/>
          </a:prstGeom>
          <a:solidFill>
            <a:srgbClr val="E9EEF5"/>
          </a:solidFill>
          <a:ln w="12700">
            <a:solidFill>
              <a:srgbClr val="E9EE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53512" y="4823460"/>
            <a:ext cx="1819656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9A89D"/>
                </a:solidFill>
                <a:latin typeface="Noto Sans CJK KR"/>
              </a:rPr>
              <a:t>PROMPT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01184" y="4773168"/>
            <a:ext cx="1929384" cy="310896"/>
          </a:xfrm>
          <a:prstGeom prst="roundRect">
            <a:avLst/>
          </a:prstGeom>
          <a:solidFill>
            <a:srgbClr val="E9EEF5"/>
          </a:solidFill>
          <a:ln w="12700">
            <a:solidFill>
              <a:srgbClr val="E9EE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56048" y="4823460"/>
            <a:ext cx="1819656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9A89D"/>
                </a:solidFill>
                <a:latin typeface="Noto Sans CJK KR"/>
              </a:rPr>
              <a:t>API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903720" y="4773168"/>
            <a:ext cx="1929384" cy="310896"/>
          </a:xfrm>
          <a:prstGeom prst="roundRect">
            <a:avLst/>
          </a:prstGeom>
          <a:solidFill>
            <a:srgbClr val="E9EEF5"/>
          </a:solidFill>
          <a:ln w="12700">
            <a:solidFill>
              <a:srgbClr val="E9EE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58584" y="4823460"/>
            <a:ext cx="1819656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9A89D"/>
                </a:solidFill>
                <a:latin typeface="Noto Sans CJK KR"/>
              </a:rPr>
              <a:t>VALIDATE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06256" y="4773168"/>
            <a:ext cx="1929384" cy="310896"/>
          </a:xfrm>
          <a:prstGeom prst="roundRect">
            <a:avLst/>
          </a:prstGeom>
          <a:solidFill>
            <a:srgbClr val="E9EEF5"/>
          </a:solidFill>
          <a:ln w="12700">
            <a:solidFill>
              <a:srgbClr val="E9EE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61120" y="4823460"/>
            <a:ext cx="1819656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9A89D"/>
                </a:solidFill>
                <a:latin typeface="Noto Sans CJK KR"/>
              </a:rPr>
              <a:t>OUTPUT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109728"/>
          </a:xfrm>
          <a:prstGeom prst="rect">
            <a:avLst/>
          </a:prstGeom>
          <a:solidFill>
            <a:srgbClr val="2FA66A"/>
          </a:solidFill>
          <a:ln w="12700">
            <a:solidFill>
              <a:srgbClr val="2FA6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228600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2FA66A"/>
                </a:solidFill>
                <a:latin typeface="Noto Sans CJK KR"/>
              </a:rPr>
              <a:t>DOMAIN-SPECIFIC LAYOUT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21792"/>
            <a:ext cx="1069848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6222D"/>
                </a:solidFill>
                <a:latin typeface="Noto Sans CJK KR"/>
              </a:rPr>
              <a:t>Term Project · End-to-End 서비스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56248"/>
            <a:ext cx="43891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>
                <a:solidFill>
                  <a:srgbClr val="657281"/>
                </a:solidFill>
                <a:latin typeface="Noto Sans CJK KR"/>
              </a:rPr>
              <a:t>CODYSSEY BASIC · MISSION EVALUATION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82528" y="6492240"/>
            <a:ext cx="502920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1">
                <a:solidFill>
                  <a:srgbClr val="2FA66A"/>
                </a:solidFill>
                <a:latin typeface="Noto Sans CJK KR"/>
              </a:rPr>
              <a:t>32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847088"/>
            <a:ext cx="5074920" cy="3474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9264" y="2103120"/>
            <a:ext cx="2286000" cy="3200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FA66A"/>
                </a:solidFill>
                <a:latin typeface="Noto Sans CJK KR"/>
              </a:rPr>
              <a:t>필수 시각화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697480"/>
            <a:ext cx="4297680" cy="1920240"/>
          </a:xfrm>
          <a:prstGeom prst="rect">
            <a:avLst/>
          </a:prstGeom>
          <a:noFill/>
        </p:spPr>
        <p:txBody>
          <a:bodyPr wrap="square" lIns="54864" rIns="36576" tIns="18288" bIns="18288">
            <a:spAutoFit/>
          </a:bodyPr>
          <a:lstStyle/>
          <a:p>
            <a:pPr>
              <a:spcAft>
                <a:spcPts val="600"/>
              </a:spcAft>
              <a:defRPr sz="1150">
                <a:solidFill>
                  <a:srgbClr val="16222D"/>
                </a:solidFill>
                <a:latin typeface="Noto Sans CJK KR"/>
              </a:defRPr>
            </a:pPr>
            <a:r>
              <a:t>• 사용자→Web→API→AI→DB→Cloud</a:t>
            </a:r>
          </a:p>
          <a:p>
            <a:pPr>
              <a:spcAft>
                <a:spcPts val="600"/>
              </a:spcAft>
              <a:defRPr sz="1150">
                <a:solidFill>
                  <a:srgbClr val="16222D"/>
                </a:solidFill>
                <a:latin typeface="Noto Sans CJK KR"/>
              </a:defRPr>
            </a:pPr>
            <a:r>
              <a:t>• ERD / API 명세</a:t>
            </a:r>
          </a:p>
          <a:p>
            <a:pPr>
              <a:spcAft>
                <a:spcPts val="600"/>
              </a:spcAft>
              <a:defRPr sz="1150">
                <a:solidFill>
                  <a:srgbClr val="16222D"/>
                </a:solidFill>
                <a:latin typeface="Noto Sans CJK KR"/>
              </a:defRPr>
            </a:pPr>
            <a:r>
              <a:t>• 팀 역할 / PR / 배포 URL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53328" y="1847088"/>
            <a:ext cx="5074920" cy="347472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60" y="2103120"/>
            <a:ext cx="2377440" cy="3200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FA66A"/>
                </a:solidFill>
                <a:latin typeface="Noto Sans CJK KR"/>
              </a:rPr>
              <a:t>핵심 평가 질문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2697480"/>
            <a:ext cx="4297680" cy="1920240"/>
          </a:xfrm>
          <a:prstGeom prst="rect">
            <a:avLst/>
          </a:prstGeom>
          <a:noFill/>
        </p:spPr>
        <p:txBody>
          <a:bodyPr wrap="square" lIns="54864" rIns="36576" tIns="18288" bIns="18288">
            <a:spAutoFit/>
          </a:bodyPr>
          <a:lstStyle/>
          <a:p>
            <a:pPr>
              <a:spcAft>
                <a:spcPts val="600"/>
              </a:spcAft>
              <a:defRPr sz="1150">
                <a:solidFill>
                  <a:srgbClr val="16222D"/>
                </a:solidFill>
                <a:latin typeface="Noto Sans CJK KR"/>
              </a:defRPr>
            </a:pPr>
            <a:r>
              <a:t>• 사용자별 데이터는 어떻게 분리되나?</a:t>
            </a:r>
          </a:p>
          <a:p>
            <a:pPr>
              <a:spcAft>
                <a:spcPts val="600"/>
              </a:spcAft>
              <a:defRPr sz="1150">
                <a:solidFill>
                  <a:srgbClr val="16222D"/>
                </a:solidFill>
                <a:latin typeface="Noto Sans CJK KR"/>
              </a:defRPr>
            </a:pPr>
            <a:r>
              <a:t>• AI 실패 시 서비스는?</a:t>
            </a:r>
          </a:p>
          <a:p>
            <a:pPr>
              <a:spcAft>
                <a:spcPts val="600"/>
              </a:spcAft>
              <a:defRPr sz="1150">
                <a:solidFill>
                  <a:srgbClr val="16222D"/>
                </a:solidFill>
                <a:latin typeface="Noto Sans CJK KR"/>
              </a:defRPr>
            </a:pPr>
            <a:r>
              <a:t>• 배포된 전체 흐름이 동작하나?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6112" y="4773168"/>
            <a:ext cx="1595628" cy="310896"/>
          </a:xfrm>
          <a:prstGeom prst="roundRect">
            <a:avLst/>
          </a:prstGeom>
          <a:solidFill>
            <a:srgbClr val="E9EEF5"/>
          </a:solidFill>
          <a:ln w="12700">
            <a:solidFill>
              <a:srgbClr val="E9EE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0976" y="4823460"/>
            <a:ext cx="1485900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2FA66A"/>
                </a:solidFill>
                <a:latin typeface="Noto Sans CJK KR"/>
              </a:rPr>
              <a:t>USER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564892" y="4773168"/>
            <a:ext cx="1595628" cy="310896"/>
          </a:xfrm>
          <a:prstGeom prst="roundRect">
            <a:avLst/>
          </a:prstGeom>
          <a:solidFill>
            <a:srgbClr val="E9EEF5"/>
          </a:solidFill>
          <a:ln w="12700">
            <a:solidFill>
              <a:srgbClr val="E9EE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619756" y="4823460"/>
            <a:ext cx="1485900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2FA66A"/>
                </a:solidFill>
                <a:latin typeface="Noto Sans CJK KR"/>
              </a:rPr>
              <a:t>WEB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33672" y="4773168"/>
            <a:ext cx="1595628" cy="310896"/>
          </a:xfrm>
          <a:prstGeom prst="roundRect">
            <a:avLst/>
          </a:prstGeom>
          <a:solidFill>
            <a:srgbClr val="E9EEF5"/>
          </a:solidFill>
          <a:ln w="12700">
            <a:solidFill>
              <a:srgbClr val="E9EE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88536" y="4823460"/>
            <a:ext cx="1485900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2FA66A"/>
                </a:solidFill>
                <a:latin typeface="Noto Sans CJK KR"/>
              </a:rPr>
              <a:t>API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02452" y="4773168"/>
            <a:ext cx="1595628" cy="310896"/>
          </a:xfrm>
          <a:prstGeom prst="roundRect">
            <a:avLst/>
          </a:prstGeom>
          <a:solidFill>
            <a:srgbClr val="E9EEF5"/>
          </a:solidFill>
          <a:ln w="12700">
            <a:solidFill>
              <a:srgbClr val="E9EE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57316" y="4823460"/>
            <a:ext cx="1485900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2FA66A"/>
                </a:solidFill>
                <a:latin typeface="Noto Sans CJK KR"/>
              </a:rPr>
              <a:t>AI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571232" y="4773168"/>
            <a:ext cx="1595628" cy="310896"/>
          </a:xfrm>
          <a:prstGeom prst="roundRect">
            <a:avLst/>
          </a:prstGeom>
          <a:solidFill>
            <a:srgbClr val="E9EEF5"/>
          </a:solidFill>
          <a:ln w="12700">
            <a:solidFill>
              <a:srgbClr val="E9EE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26096" y="4823460"/>
            <a:ext cx="1485900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2FA66A"/>
                </a:solidFill>
                <a:latin typeface="Noto Sans CJK KR"/>
              </a:rPr>
              <a:t>DB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240012" y="4773168"/>
            <a:ext cx="1595628" cy="310896"/>
          </a:xfrm>
          <a:prstGeom prst="roundRect">
            <a:avLst/>
          </a:prstGeom>
          <a:solidFill>
            <a:srgbClr val="E9EEF5"/>
          </a:solidFill>
          <a:ln w="12700">
            <a:solidFill>
              <a:srgbClr val="E9EE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94876" y="4823460"/>
            <a:ext cx="1485900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2FA66A"/>
                </a:solidFill>
                <a:latin typeface="Noto Sans CJK KR"/>
              </a:rPr>
              <a:t>CLOUD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109728"/>
          </a:xfrm>
          <a:prstGeom prst="rect">
            <a:avLst/>
          </a:prstGeom>
          <a:solidFill>
            <a:srgbClr val="2F80ED"/>
          </a:solidFill>
          <a:ln w="12700">
            <a:solidFill>
              <a:srgbClr val="2F8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228600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2F80ED"/>
                </a:solidFill>
                <a:latin typeface="Noto Sans CJK KR"/>
              </a:rPr>
              <a:t>ACADEMIC / RESEARCH FRAMING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21792"/>
            <a:ext cx="1069848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6222D"/>
                </a:solidFill>
                <a:latin typeface="Noto Sans CJK KR"/>
              </a:rPr>
              <a:t>연구·학회 발표에서는 문제의 Gap과 검증 설계를 더 깊게 보여준다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56248"/>
            <a:ext cx="43891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>
                <a:solidFill>
                  <a:srgbClr val="657281"/>
                </a:solidFill>
                <a:latin typeface="Noto Sans CJK KR"/>
              </a:rPr>
              <a:t>CODYSSEY BASIC · MISSION EVALUATION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82528" y="6492240"/>
            <a:ext cx="502920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1">
                <a:solidFill>
                  <a:srgbClr val="2F80ED"/>
                </a:solidFill>
                <a:latin typeface="Noto Sans CJK KR"/>
              </a:rPr>
              <a:t>33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139696"/>
            <a:ext cx="1993392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2139696"/>
            <a:ext cx="82296" cy="2240280"/>
          </a:xfrm>
          <a:prstGeom prst="rect">
            <a:avLst/>
          </a:prstGeom>
          <a:solidFill>
            <a:srgbClr val="D95D58"/>
          </a:solidFill>
          <a:ln w="12700">
            <a:solidFill>
              <a:srgbClr val="D95D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2304288"/>
            <a:ext cx="438912" cy="34747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95D58"/>
                </a:solidFill>
                <a:latin typeface="Noto Sans CJK KR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16736" y="2286000"/>
            <a:ext cx="1152144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6222D"/>
                </a:solidFill>
                <a:latin typeface="Noto Sans CJK KR"/>
              </a:rPr>
              <a:t>PROBLEM / GAP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761488"/>
            <a:ext cx="1536192" cy="1472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57281"/>
                </a:solidFill>
                <a:latin typeface="Noto Sans CJK KR"/>
              </a:rPr>
              <a:t>기존 접근의 한계
[왜 필요한가]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80360" y="2139696"/>
            <a:ext cx="1993392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880360" y="2139696"/>
            <a:ext cx="82296" cy="2240280"/>
          </a:xfrm>
          <a:prstGeom prst="rect">
            <a:avLst/>
          </a:prstGeom>
          <a:solidFill>
            <a:srgbClr val="2F80ED"/>
          </a:solidFill>
          <a:ln w="12700">
            <a:solidFill>
              <a:srgbClr val="2F8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99816" y="2304288"/>
            <a:ext cx="438912" cy="34747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F80ED"/>
                </a:solidFill>
                <a:latin typeface="Noto Sans CJK KR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38728" y="2286000"/>
            <a:ext cx="1152144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6222D"/>
                </a:solidFill>
                <a:latin typeface="Noto Sans CJK KR"/>
              </a:rPr>
              <a:t>METHOD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36392" y="2761488"/>
            <a:ext cx="1536192" cy="1472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57281"/>
                </a:solidFill>
                <a:latin typeface="Noto Sans CJK KR"/>
              </a:rPr>
              <a:t>제안 방법 / 구현
[무엇을 했나]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102352" y="2139696"/>
            <a:ext cx="1993392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102352" y="2139696"/>
            <a:ext cx="82296" cy="2240280"/>
          </a:xfrm>
          <a:prstGeom prst="rect">
            <a:avLst/>
          </a:prstGeom>
          <a:solidFill>
            <a:srgbClr val="19A89D"/>
          </a:solidFill>
          <a:ln w="12700">
            <a:solidFill>
              <a:srgbClr val="19A8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21808" y="2304288"/>
            <a:ext cx="438912" cy="34747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9A89D"/>
                </a:solidFill>
                <a:latin typeface="Noto Sans CJK KR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60720" y="2286000"/>
            <a:ext cx="1152144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6222D"/>
                </a:solidFill>
                <a:latin typeface="Noto Sans CJK KR"/>
              </a:rPr>
              <a:t>EVALUATION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58384" y="2761488"/>
            <a:ext cx="1536192" cy="1472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57281"/>
                </a:solidFill>
                <a:latin typeface="Noto Sans CJK KR"/>
              </a:rPr>
              <a:t>실험·검증 설계
[어떻게 확인했나]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24344" y="2139696"/>
            <a:ext cx="1993392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324344" y="2139696"/>
            <a:ext cx="82296" cy="2240280"/>
          </a:xfrm>
          <a:prstGeom prst="rect">
            <a:avLst/>
          </a:prstGeom>
          <a:solidFill>
            <a:srgbClr val="2FA66A"/>
          </a:solidFill>
          <a:ln w="12700">
            <a:solidFill>
              <a:srgbClr val="2FA6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43800" y="2304288"/>
            <a:ext cx="438912" cy="34747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FA66A"/>
                </a:solidFill>
                <a:latin typeface="Noto Sans CJK KR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82712" y="2286000"/>
            <a:ext cx="1152144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6222D"/>
                </a:solidFill>
                <a:latin typeface="Noto Sans CJK KR"/>
              </a:rPr>
              <a:t>RESULT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0376" y="2761488"/>
            <a:ext cx="1536192" cy="1472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57281"/>
                </a:solidFill>
                <a:latin typeface="Noto Sans CJK KR"/>
              </a:rPr>
              <a:t>정량·정성 결과
[무엇이 달라졌나]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546336" y="2139696"/>
            <a:ext cx="1993392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546336" y="2139696"/>
            <a:ext cx="82296" cy="2240280"/>
          </a:xfrm>
          <a:prstGeom prst="rect">
            <a:avLst/>
          </a:prstGeom>
          <a:solidFill>
            <a:srgbClr val="F3A61D"/>
          </a:solidFill>
          <a:ln w="12700">
            <a:solidFill>
              <a:srgbClr val="F3A6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765792" y="2304288"/>
            <a:ext cx="438912" cy="34747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3A61D"/>
                </a:solidFill>
                <a:latin typeface="Noto Sans CJK KR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204704" y="2286000"/>
            <a:ext cx="1152144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6222D"/>
                </a:solidFill>
                <a:latin typeface="Noto Sans CJK KR"/>
              </a:rPr>
              <a:t>LIMITATION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02368" y="2761488"/>
            <a:ext cx="1536192" cy="1472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57281"/>
                </a:solidFill>
                <a:latin typeface="Noto Sans CJK KR"/>
              </a:rPr>
              <a:t>일반화·제약
[어디까지 말할 수 있나]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8096" y="4937760"/>
            <a:ext cx="9875520" cy="3200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2F80ED"/>
                </a:solidFill>
                <a:latin typeface="Noto Sans CJK KR"/>
              </a:rPr>
              <a:t>학부/미션 평가의 근거를 유지하되, 대안 비교·재현성·일반화 가능성을 추가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109728"/>
          </a:xfrm>
          <a:prstGeom prst="rect">
            <a:avLst/>
          </a:prstGeom>
          <a:solidFill>
            <a:srgbClr val="19A89D"/>
          </a:solidFill>
          <a:ln w="12700">
            <a:solidFill>
              <a:srgbClr val="19A8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228600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9A89D"/>
                </a:solidFill>
                <a:latin typeface="Noto Sans CJK KR"/>
              </a:rPr>
              <a:t>STYLE GUIDE / MASTER PROMPT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21792"/>
            <a:ext cx="1069848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6222D"/>
                </a:solidFill>
                <a:latin typeface="Noto Sans CJK KR"/>
              </a:rPr>
              <a:t>모든 미션 발표에 동일한 시각 언어와 작성 규칙을 사용한다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56248"/>
            <a:ext cx="43891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>
                <a:solidFill>
                  <a:srgbClr val="657281"/>
                </a:solidFill>
                <a:latin typeface="Noto Sans CJK KR"/>
              </a:rPr>
              <a:t>CODYSSEY BASIC · MISSION EVALUATION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82528" y="6492240"/>
            <a:ext cx="502920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1">
                <a:solidFill>
                  <a:srgbClr val="19A89D"/>
                </a:solidFill>
                <a:latin typeface="Noto Sans CJK KR"/>
              </a:rPr>
              <a:t>34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874519"/>
            <a:ext cx="1517904" cy="658368"/>
          </a:xfrm>
          <a:prstGeom prst="roundRect">
            <a:avLst/>
          </a:prstGeom>
          <a:solidFill>
            <a:srgbClr val="081B2F"/>
          </a:solidFill>
          <a:ln w="12700">
            <a:solidFill>
              <a:srgbClr val="081B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020823"/>
            <a:ext cx="1517904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Noto Sans CJK KR"/>
              </a:rPr>
              <a:t>NAVY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660903"/>
            <a:ext cx="1517904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657281"/>
                </a:solidFill>
                <a:latin typeface="Noto Sans CJK KR"/>
              </a:rPr>
              <a:t>#081B2F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496312" y="1874519"/>
            <a:ext cx="1517904" cy="658368"/>
          </a:xfrm>
          <a:prstGeom prst="roundRect">
            <a:avLst/>
          </a:prstGeom>
          <a:solidFill>
            <a:srgbClr val="2F80ED"/>
          </a:solidFill>
          <a:ln w="12700">
            <a:solidFill>
              <a:srgbClr val="2F8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96312" y="2020823"/>
            <a:ext cx="1517904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Noto Sans CJK KR"/>
              </a:rPr>
              <a:t>BLUE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96312" y="2660903"/>
            <a:ext cx="1517904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657281"/>
                </a:solidFill>
                <a:latin typeface="Noto Sans CJK KR"/>
              </a:rPr>
              <a:t>#2F80ED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61104" y="1874519"/>
            <a:ext cx="1517904" cy="658368"/>
          </a:xfrm>
          <a:prstGeom prst="roundRect">
            <a:avLst/>
          </a:prstGeom>
          <a:solidFill>
            <a:srgbClr val="19A89D"/>
          </a:solidFill>
          <a:ln w="12700">
            <a:solidFill>
              <a:srgbClr val="19A8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61104" y="2020823"/>
            <a:ext cx="1517904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Noto Sans CJK KR"/>
              </a:rPr>
              <a:t>TEAL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61104" y="2660903"/>
            <a:ext cx="1517904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657281"/>
                </a:solidFill>
                <a:latin typeface="Noto Sans CJK KR"/>
              </a:rPr>
              <a:t>#19A89D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25896" y="1874519"/>
            <a:ext cx="1517904" cy="658368"/>
          </a:xfrm>
          <a:prstGeom prst="roundRect">
            <a:avLst/>
          </a:prstGeom>
          <a:solidFill>
            <a:srgbClr val="F3A61D"/>
          </a:solidFill>
          <a:ln w="12700">
            <a:solidFill>
              <a:srgbClr val="F3A6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25896" y="2020823"/>
            <a:ext cx="1517904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Noto Sans CJK KR"/>
              </a:rPr>
              <a:t>AMBER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25896" y="2660903"/>
            <a:ext cx="1517904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657281"/>
                </a:solidFill>
                <a:latin typeface="Noto Sans CJK KR"/>
              </a:rPr>
              <a:t>#F3A61D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90688" y="1874519"/>
            <a:ext cx="1517904" cy="658368"/>
          </a:xfrm>
          <a:prstGeom prst="roundRect">
            <a:avLst/>
          </a:prstGeom>
          <a:solidFill>
            <a:srgbClr val="D95D58"/>
          </a:solidFill>
          <a:ln w="12700">
            <a:solidFill>
              <a:srgbClr val="D95D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90688" y="2020823"/>
            <a:ext cx="1517904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Noto Sans CJK KR"/>
              </a:rPr>
              <a:t>RED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90688" y="2660903"/>
            <a:ext cx="1517904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657281"/>
                </a:solidFill>
                <a:latin typeface="Noto Sans CJK KR"/>
              </a:rPr>
              <a:t>#D95D58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555480" y="1874519"/>
            <a:ext cx="1517904" cy="658368"/>
          </a:xfrm>
          <a:prstGeom prst="roundRect">
            <a:avLst/>
          </a:prstGeom>
          <a:solidFill>
            <a:srgbClr val="2FA66A"/>
          </a:solidFill>
          <a:ln w="12700">
            <a:solidFill>
              <a:srgbClr val="2FA6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55480" y="2020823"/>
            <a:ext cx="1517904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Noto Sans CJK KR"/>
              </a:rPr>
              <a:t>GREEN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55480" y="2660903"/>
            <a:ext cx="1517904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657281"/>
                </a:solidFill>
                <a:latin typeface="Noto Sans CJK KR"/>
              </a:rPr>
              <a:t>#2FA66A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49808" y="3154680"/>
            <a:ext cx="4983480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49808" y="3154680"/>
            <a:ext cx="82296" cy="1115568"/>
          </a:xfrm>
          <a:prstGeom prst="rect">
            <a:avLst/>
          </a:prstGeom>
          <a:solidFill>
            <a:srgbClr val="2F80ED"/>
          </a:solidFill>
          <a:ln w="12700">
            <a:solidFill>
              <a:srgbClr val="2F8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5840" y="3300984"/>
            <a:ext cx="4544568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6222D"/>
                </a:solidFill>
                <a:latin typeface="Noto Sans CJK KR"/>
              </a:rPr>
              <a:t>TITLE RULE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" y="3776472"/>
            <a:ext cx="4526280" cy="34747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57281"/>
                </a:solidFill>
                <a:latin typeface="Noto Sans CJK KR"/>
              </a:rPr>
              <a:t>제목만 읽어도 발표 논리가 이어지는 ‘주장형 제목’을 사용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016752" y="3154680"/>
            <a:ext cx="4983480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016752" y="3154680"/>
            <a:ext cx="82296" cy="1115568"/>
          </a:xfrm>
          <a:prstGeom prst="rect">
            <a:avLst/>
          </a:prstGeom>
          <a:solidFill>
            <a:srgbClr val="2FA66A"/>
          </a:solidFill>
          <a:ln w="12700">
            <a:solidFill>
              <a:srgbClr val="2FA6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72784" y="3300984"/>
            <a:ext cx="4544568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6222D"/>
                </a:solidFill>
                <a:latin typeface="Noto Sans CJK KR"/>
              </a:rPr>
              <a:t>EVIDENCE RULE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72784" y="3776472"/>
            <a:ext cx="4526280" cy="34747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57281"/>
                </a:solidFill>
                <a:latin typeface="Noto Sans CJK KR"/>
              </a:rPr>
              <a:t>PASS에는 실제 실행·테스트·로그·URL·PR 등 추적 가능한 근거를 연결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49808" y="4480560"/>
            <a:ext cx="4983480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49808" y="4480560"/>
            <a:ext cx="82296" cy="1115568"/>
          </a:xfrm>
          <a:prstGeom prst="rect">
            <a:avLst/>
          </a:prstGeom>
          <a:solidFill>
            <a:srgbClr val="19A89D"/>
          </a:solidFill>
          <a:ln w="12700">
            <a:solidFill>
              <a:srgbClr val="19A8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05840" y="4626864"/>
            <a:ext cx="4544568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6222D"/>
                </a:solidFill>
                <a:latin typeface="Noto Sans CJK KR"/>
              </a:rPr>
              <a:t>LANGUAGE RULE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5840" y="5102352"/>
            <a:ext cx="4526280" cy="34747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57281"/>
                </a:solidFill>
                <a:latin typeface="Noto Sans CJK KR"/>
              </a:rPr>
              <a:t>핵심 영문 용어는 한글(English, 약어)로 첫 등장에 병기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016752" y="4480560"/>
            <a:ext cx="4983480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016752" y="4480560"/>
            <a:ext cx="82296" cy="1115568"/>
          </a:xfrm>
          <a:prstGeom prst="rect">
            <a:avLst/>
          </a:prstGeom>
          <a:solidFill>
            <a:srgbClr val="F3A61D"/>
          </a:solidFill>
          <a:ln w="12700">
            <a:solidFill>
              <a:srgbClr val="F3A6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272784" y="4626864"/>
            <a:ext cx="4544568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6222D"/>
                </a:solidFill>
                <a:latin typeface="Noto Sans CJK KR"/>
              </a:rPr>
              <a:t>PROMPT RULE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72784" y="5102352"/>
            <a:ext cx="4526280" cy="34747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57281"/>
                </a:solidFill>
                <a:latin typeface="Noto Sans CJK KR"/>
              </a:rPr>
              <a:t>Mission → Repository → Test → Evidence를 입력으로 사용하고 일반 지식이 공식 요구를 바꾸지 않게 함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